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  <p:sldMasterId id="2147483660" r:id="rId2"/>
  </p:sldMasterIdLst>
  <p:notesMasterIdLst>
    <p:notesMasterId r:id="rId82"/>
  </p:notesMasterIdLst>
  <p:sldIdLst>
    <p:sldId id="256" r:id="rId3"/>
    <p:sldId id="290" r:id="rId4"/>
    <p:sldId id="291" r:id="rId5"/>
    <p:sldId id="308" r:id="rId6"/>
    <p:sldId id="309" r:id="rId7"/>
    <p:sldId id="296" r:id="rId8"/>
    <p:sldId id="311" r:id="rId9"/>
    <p:sldId id="302" r:id="rId10"/>
    <p:sldId id="297" r:id="rId11"/>
    <p:sldId id="379" r:id="rId12"/>
    <p:sldId id="382" r:id="rId13"/>
    <p:sldId id="380" r:id="rId14"/>
    <p:sldId id="314" r:id="rId15"/>
    <p:sldId id="315" r:id="rId16"/>
    <p:sldId id="316" r:id="rId17"/>
    <p:sldId id="265" r:id="rId18"/>
    <p:sldId id="331" r:id="rId19"/>
    <p:sldId id="387" r:id="rId20"/>
    <p:sldId id="388" r:id="rId21"/>
    <p:sldId id="383" r:id="rId22"/>
    <p:sldId id="390" r:id="rId23"/>
    <p:sldId id="384" r:id="rId24"/>
    <p:sldId id="391" r:id="rId25"/>
    <p:sldId id="385" r:id="rId26"/>
    <p:sldId id="389" r:id="rId27"/>
    <p:sldId id="386" r:id="rId28"/>
    <p:sldId id="392" r:id="rId29"/>
    <p:sldId id="393" r:id="rId30"/>
    <p:sldId id="398" r:id="rId31"/>
    <p:sldId id="394" r:id="rId32"/>
    <p:sldId id="399" r:id="rId33"/>
    <p:sldId id="395" r:id="rId34"/>
    <p:sldId id="401" r:id="rId35"/>
    <p:sldId id="400" r:id="rId36"/>
    <p:sldId id="396" r:id="rId37"/>
    <p:sldId id="402" r:id="rId38"/>
    <p:sldId id="397" r:id="rId39"/>
    <p:sldId id="403" r:id="rId40"/>
    <p:sldId id="405" r:id="rId41"/>
    <p:sldId id="406" r:id="rId42"/>
    <p:sldId id="407" r:id="rId43"/>
    <p:sldId id="408" r:id="rId44"/>
    <p:sldId id="413" r:id="rId45"/>
    <p:sldId id="409" r:id="rId46"/>
    <p:sldId id="414" r:id="rId47"/>
    <p:sldId id="410" r:id="rId48"/>
    <p:sldId id="415" r:id="rId49"/>
    <p:sldId id="416" r:id="rId50"/>
    <p:sldId id="412" r:id="rId51"/>
    <p:sldId id="420" r:id="rId52"/>
    <p:sldId id="411" r:id="rId53"/>
    <p:sldId id="417" r:id="rId54"/>
    <p:sldId id="419" r:id="rId55"/>
    <p:sldId id="374" r:id="rId56"/>
    <p:sldId id="369" r:id="rId57"/>
    <p:sldId id="370" r:id="rId58"/>
    <p:sldId id="421" r:id="rId59"/>
    <p:sldId id="422" r:id="rId60"/>
    <p:sldId id="423" r:id="rId61"/>
    <p:sldId id="424" r:id="rId62"/>
    <p:sldId id="425" r:id="rId63"/>
    <p:sldId id="426" r:id="rId64"/>
    <p:sldId id="427" r:id="rId65"/>
    <p:sldId id="428" r:id="rId66"/>
    <p:sldId id="429" r:id="rId67"/>
    <p:sldId id="430" r:id="rId68"/>
    <p:sldId id="371" r:id="rId69"/>
    <p:sldId id="431" r:id="rId70"/>
    <p:sldId id="434" r:id="rId71"/>
    <p:sldId id="433" r:id="rId72"/>
    <p:sldId id="432" r:id="rId73"/>
    <p:sldId id="373" r:id="rId74"/>
    <p:sldId id="375" r:id="rId75"/>
    <p:sldId id="376" r:id="rId76"/>
    <p:sldId id="257" r:id="rId77"/>
    <p:sldId id="378" r:id="rId78"/>
    <p:sldId id="377" r:id="rId79"/>
    <p:sldId id="259" r:id="rId80"/>
    <p:sldId id="277" r:id="rId81"/>
  </p:sldIdLst>
  <p:sldSz cx="12192000" cy="6858000"/>
  <p:notesSz cx="6858000" cy="9144000"/>
  <p:embeddedFontLst>
    <p:embeddedFont>
      <p:font typeface="Calibri" panose="020F0502020204030204" pitchFamily="34" charset="0"/>
      <p:regular r:id="rId83"/>
      <p:bold r:id="rId84"/>
      <p:italic r:id="rId85"/>
      <p:boldItalic r:id="rId86"/>
    </p:embeddedFont>
    <p:embeddedFont>
      <p:font typeface="Gilroy" panose="020B0604020202020204" charset="0"/>
      <p:regular r:id="rId87"/>
    </p:embeddedFont>
    <p:embeddedFont>
      <p:font typeface="Gilroy Bold" panose="00000800000000000000" charset="0"/>
      <p:bold r:id="rId88"/>
    </p:embeddedFont>
    <p:embeddedFont>
      <p:font typeface="Gilroy SemiBold" panose="00000700000000000000" charset="0"/>
      <p:regular r:id="rId89"/>
      <p:bold r:id="rId90"/>
    </p:embeddedFont>
    <p:embeddedFont>
      <p:font typeface="Gilroy SemiBold Italic" panose="00000700000000000000" charset="0"/>
      <p:bold r:id="rId91"/>
      <p:italic r:id="rId92"/>
      <p:boldItalic r:id="rId93"/>
    </p:embeddedFont>
    <p:embeddedFont>
      <p:font typeface="Gilroy-Bold" panose="00000800000000000000" charset="0"/>
      <p:regular r:id="rId94"/>
      <p:bold r:id="rId95"/>
      <p:italic r:id="rId96"/>
      <p:boldItalic r:id="rId97"/>
    </p:embeddedFont>
    <p:embeddedFont>
      <p:font typeface="Gilroy-Medium" panose="00000600000000000000" pitchFamily="2" charset="0"/>
      <p:regular r:id="rId98"/>
      <p:italic r:id="rId99"/>
    </p:embeddedFont>
    <p:embeddedFont>
      <p:font typeface="Montserrat" panose="00000500000000000000" pitchFamily="2" charset="0"/>
      <p:regular r:id="rId100"/>
      <p:bold r:id="rId101"/>
      <p:italic r:id="rId102"/>
      <p:boldItalic r:id="rId103"/>
    </p:embeddedFont>
    <p:embeddedFont>
      <p:font typeface="Montserrat Heavy" panose="020B0604020202020204" charset="0"/>
      <p:regular r:id="rId104"/>
      <p:bold r:id="rId105"/>
      <p:italic r:id="rId106"/>
      <p:boldItalic r:id="rId107"/>
    </p:embeddedFont>
    <p:embeddedFont>
      <p:font typeface="Poppins" panose="00000500000000000000" pitchFamily="2" charset="0"/>
      <p:regular r:id="rId108"/>
      <p:bold r:id="rId109"/>
      <p:italic r:id="rId110"/>
      <p:boldItalic r:id="rId111"/>
    </p:embeddedFont>
    <p:embeddedFont>
      <p:font typeface="Raleway Heavy" panose="020B0604020202020204" charset="0"/>
      <p:regular r:id="rId112"/>
      <p:bold r:id="rId113"/>
      <p:italic r:id="rId114"/>
      <p:boldItalic r:id="rId1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625A"/>
    <a:srgbClr val="143934"/>
    <a:srgbClr val="464644"/>
    <a:srgbClr val="334155"/>
    <a:srgbClr val="890736"/>
    <a:srgbClr val="CC965B"/>
    <a:srgbClr val="BF9F63"/>
    <a:srgbClr val="0090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2D09364-3DE2-4920-9D95-F2A5C7149E87}">
  <a:tblStyle styleId="{D2D09364-3DE2-4920-9D95-F2A5C7149E8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A107856-5554-42FB-B03E-39F5DBC370BA}" styleName="Estilo medio 4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13" autoAdjust="0"/>
    <p:restoredTop sz="94609"/>
  </p:normalViewPr>
  <p:slideViewPr>
    <p:cSldViewPr snapToGrid="0">
      <p:cViewPr varScale="1">
        <p:scale>
          <a:sx n="80" d="100"/>
          <a:sy n="80" d="100"/>
        </p:scale>
        <p:origin x="96" y="16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viewProps" Target="viewProps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font" Target="fonts/font2.fntdata"/><Relationship Id="rId89" Type="http://schemas.openxmlformats.org/officeDocument/2006/relationships/font" Target="fonts/font7.fntdata"/><Relationship Id="rId112" Type="http://schemas.openxmlformats.org/officeDocument/2006/relationships/font" Target="fonts/font30.fntdata"/><Relationship Id="rId16" Type="http://schemas.openxmlformats.org/officeDocument/2006/relationships/slide" Target="slides/slide14.xml"/><Relationship Id="rId107" Type="http://schemas.openxmlformats.org/officeDocument/2006/relationships/font" Target="fonts/font25.fntdata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font" Target="fonts/font20.fntdata"/><Relationship Id="rId5" Type="http://schemas.openxmlformats.org/officeDocument/2006/relationships/slide" Target="slides/slide3.xml"/><Relationship Id="rId90" Type="http://schemas.openxmlformats.org/officeDocument/2006/relationships/font" Target="fonts/font8.fntdata"/><Relationship Id="rId95" Type="http://schemas.openxmlformats.org/officeDocument/2006/relationships/font" Target="fonts/font13.fntdata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font" Target="fonts/font31.fntdata"/><Relationship Id="rId118" Type="http://schemas.openxmlformats.org/officeDocument/2006/relationships/theme" Target="theme/theme1.xml"/><Relationship Id="rId80" Type="http://schemas.openxmlformats.org/officeDocument/2006/relationships/slide" Target="slides/slide78.xml"/><Relationship Id="rId85" Type="http://schemas.openxmlformats.org/officeDocument/2006/relationships/font" Target="fonts/font3.fntdata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font" Target="fonts/font21.fntdata"/><Relationship Id="rId108" Type="http://schemas.openxmlformats.org/officeDocument/2006/relationships/font" Target="fonts/font26.fntdata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font" Target="fonts/font9.fntdata"/><Relationship Id="rId96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font" Target="fonts/font32.fntdata"/><Relationship Id="rId119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font" Target="fonts/font4.fntdata"/><Relationship Id="rId94" Type="http://schemas.openxmlformats.org/officeDocument/2006/relationships/font" Target="fonts/font12.fntdata"/><Relationship Id="rId99" Type="http://schemas.openxmlformats.org/officeDocument/2006/relationships/font" Target="fonts/font17.fntdata"/><Relationship Id="rId101" Type="http://schemas.openxmlformats.org/officeDocument/2006/relationships/font" Target="fonts/font19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font" Target="fonts/font27.fntdata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font" Target="fonts/font15.fntdata"/><Relationship Id="rId104" Type="http://schemas.openxmlformats.org/officeDocument/2006/relationships/font" Target="fonts/font22.fntdata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font" Target="fonts/font10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font" Target="fonts/font5.fntdata"/><Relationship Id="rId110" Type="http://schemas.openxmlformats.org/officeDocument/2006/relationships/font" Target="fonts/font28.fntdata"/><Relationship Id="rId115" Type="http://schemas.openxmlformats.org/officeDocument/2006/relationships/font" Target="fonts/font33.fntdata"/><Relationship Id="rId61" Type="http://schemas.openxmlformats.org/officeDocument/2006/relationships/slide" Target="slides/slide59.xml"/><Relationship Id="rId82" Type="http://schemas.openxmlformats.org/officeDocument/2006/relationships/notesMaster" Target="notesMasters/notesMaster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font" Target="fonts/font18.fntdata"/><Relationship Id="rId105" Type="http://schemas.openxmlformats.org/officeDocument/2006/relationships/font" Target="fonts/font23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font" Target="fonts/font11.fntdata"/><Relationship Id="rId98" Type="http://schemas.openxmlformats.org/officeDocument/2006/relationships/font" Target="fonts/font16.fntdata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font" Target="fonts/font1.fntdata"/><Relationship Id="rId88" Type="http://schemas.openxmlformats.org/officeDocument/2006/relationships/font" Target="fonts/font6.fntdata"/><Relationship Id="rId111" Type="http://schemas.openxmlformats.org/officeDocument/2006/relationships/font" Target="fonts/font29.fntdata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font" Target="fonts/font2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AD3E01CB-F480-352B-2FDE-CBABAA63A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362DF539-8F58-7548-9BFE-34F20A4966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5F51205A-62A3-5546-D2E2-6BAFECF10E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76987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FD198B70-D326-093B-2440-4866C8E2F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61D5946E-2411-3768-AC85-D11E3E8F83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A8DB5EB3-41C0-11C1-D757-D14E820830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44687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FD198B70-D326-093B-2440-4866C8E2F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61D5946E-2411-3768-AC85-D11E3E8F83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A8DB5EB3-41C0-11C1-D757-D14E820830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6911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FD198B70-D326-093B-2440-4866C8E2F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61D5946E-2411-3768-AC85-D11E3E8F83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A8DB5EB3-41C0-11C1-D757-D14E820830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44687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D9A78-5836-9897-6900-9AA4E81A2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51F3B9B-2B5E-94ED-2D79-A51E6C6F08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EF4F2FE-B4AE-2E15-4AEC-0CF2FD0F9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595531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D9A78-5836-9897-6900-9AA4E81A2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51F3B9B-2B5E-94ED-2D79-A51E6C6F08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EF4F2FE-B4AE-2E15-4AEC-0CF2FD0F9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24331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E4C18-5117-63A0-2967-567BDB116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09F2C73-D54B-C729-BAF7-7064A33465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FBF8419-F978-3056-8F54-45852CB9CF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046267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2FA015CE-9CE6-40EA-222F-2C27CB235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5144ED5F-66A1-C46C-BF02-FA69E8CDA2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EFFEDE4-95B0-D0DB-D894-AFA5A71663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540132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2FA015CE-9CE6-40EA-222F-2C27CB235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5144ED5F-66A1-C46C-BF02-FA69E8CDA2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EFFEDE4-95B0-D0DB-D894-AFA5A71663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333986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2FA015CE-9CE6-40EA-222F-2C27CB235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5144ED5F-66A1-C46C-BF02-FA69E8CDA2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EFFEDE4-95B0-D0DB-D894-AFA5A71663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863904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2FA015CE-9CE6-40EA-222F-2C27CB235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5144ED5F-66A1-C46C-BF02-FA69E8CDA2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EFFEDE4-95B0-D0DB-D894-AFA5A71663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146766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2FA015CE-9CE6-40EA-222F-2C27CB235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5144ED5F-66A1-C46C-BF02-FA69E8CDA2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EFFEDE4-95B0-D0DB-D894-AFA5A71663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06370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75606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664289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545243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46578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96315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54222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77274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491911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20253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50462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582578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81385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88403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947653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8266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8456021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438060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412270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156151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6484842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065780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337967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9707030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428427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34085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215367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952486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52483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78556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4348257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5651349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5000151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925662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7456709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671646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650820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3997307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BC867-E332-3327-4D18-0A4625D7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5B4D4BB-E42A-38A8-D939-B6387DDA2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600FFD0-8643-8A5E-4A62-4A8DAAC3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3549381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9D0FD9CA-C738-4E6D-5054-5EA45A9A8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056484E6-D05F-78FB-D7C0-9162B51182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B8641BED-C9B1-A5D6-C560-D484577D59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1566414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E5F56-4658-149F-DFD1-CE8A559E4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DFF9627-5A61-98FE-79A1-EFC07C766E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B7D5B20-0D3F-043D-E5DB-E8BF65D3C8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5223249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2AA2238A-6108-2B52-9380-B5CBF977B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51B948C9-4F5B-01CA-D4EC-6E1830D232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196F27C-6565-E88E-9EEA-AFA4C956A9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91970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50F81D2C-AF6E-E4D4-0B04-967103A05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ED7137F5-5E0E-BDE1-370E-B97A92BB64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C44C79C0-7D02-06F5-E8EB-2BFD0BC712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616175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2A2271CD-E353-6152-BFD3-3263BB896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2B4B099A-43AF-6F2E-4795-104945623B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32FC4E5D-5C57-C0DE-58EB-2CFE2C057D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6031038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F10CE4F1-F403-C448-CA19-4BC988A73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DA163AE-C8F2-4CB7-6427-B0415881D5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BF80C3DC-8F13-EA60-3DCA-22746B336E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81742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5B4B03D1-9946-0256-0FC8-FEE55529B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78B50425-5A58-8B85-1B1B-DD5A16EA23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DE0103A4-5B7E-E882-AF75-5F130C865F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894827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687AC32-ECC9-1E1D-FE51-985AECAAB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8310036B-0DB3-30E1-2BE5-4C3DDF5787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EDF7CBB9-CF46-95DF-8E6C-E6740ABEA1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8333465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633395D7-701D-A7CB-8501-EA863CDC0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2DE0C977-00DE-B542-D87C-A23C19DB87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B3E3F85C-2C5B-CADB-24A0-E39F81875D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5997267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DD4155E4-BA3C-132E-89A0-3070FFDBC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BEF32763-13E9-7A9D-4E1B-41F961486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B9D8A29-DEE3-DE66-9FF6-6FCFADF203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63398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7ACB2D52-3007-559D-80E8-A4EA722C9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AF8FB14F-AE8B-46F9-317C-90795860F4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F17A407-7258-1DEF-90B5-2A65720BCC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9562944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9CCDC34B-FC3B-BE6D-02F7-CB786F492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CEF5476C-5E56-6919-5AF6-E0BB47350C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23D4A3B5-C4AE-1CA4-0F74-882DD4A715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9355681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D4A84-9FF4-557F-8D30-D45EB2E7F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02742F3-552E-0C1B-38E8-C039521C3C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8E205AB-80AD-B019-5444-8970A91B06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8027480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EE62E826-7E4D-6B1B-0E72-33AFB80E0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04B8A578-5A3F-43FD-70CE-62B8087185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53293EF9-0DD7-89C6-4ECC-A2960A6DE4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425888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D77EE6E-08CE-EF81-93B2-C50712349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DB47923B-63D9-8170-219C-E32F718D13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EB6665B3-EAFE-752C-BC80-50BE3D0300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2210180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F1744D31-8EAB-5B56-F751-138477993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1A50D45F-0325-5CED-8C1C-80643915AC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976AF697-B652-A92B-4AB1-848C366931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846193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A94DFC66-EAEF-4FBF-BE37-128396720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C86AFB32-BB88-4CC3-CB12-5169B950FD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4867F373-E803-CC7F-313B-7300F074E3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084208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33879-47E3-2B0D-CD39-B6A7D69F5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ACCEC6D-9B0B-8CC8-7698-243E442F69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9F3BBC9-E4F1-138A-71FB-63F8D720A7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002564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1939D-A05E-0846-002A-9BB7D3BFE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D86FEF3-D642-B0DC-6C42-E54E80FE6A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DBDB6E0-A916-7C62-1EC3-9031D0426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8372159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67ED0-DCBC-3CC6-F657-71AA2E9AC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9A28153-6386-6EAA-EAD1-222A8545D2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69862A4-1CD2-4465-08D7-AD5F730E84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518820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C57A5-55AF-AF46-7689-3E07BEB5C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8BEA874-CD4F-0BA7-AD00-2D29D532C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6181676-2334-4D2A-167B-75C2D823A1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09707548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0B704C85-2627-6145-5AD4-7B4F447FE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B0742D15-A3D3-8015-6956-7C27847FE1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704EC58D-6149-56EE-814F-C7B7DDC782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47339299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389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3381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9843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1149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6705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18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5809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3476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8521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1077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95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751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jpg"/><Relationship Id="rId4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jpg"/><Relationship Id="rId4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jpg"/><Relationship Id="rId4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jpg"/><Relationship Id="rId4" Type="http://schemas.openxmlformats.org/officeDocument/2006/relationships/image" Target="../media/image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jpg"/><Relationship Id="rId4" Type="http://schemas.openxmlformats.org/officeDocument/2006/relationships/image" Target="../media/image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jpg"/><Relationship Id="rId4" Type="http://schemas.openxmlformats.org/officeDocument/2006/relationships/image" Target="../media/image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jpg"/><Relationship Id="rId4" Type="http://schemas.openxmlformats.org/officeDocument/2006/relationships/image" Target="../media/image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jpg"/><Relationship Id="rId4" Type="http://schemas.openxmlformats.org/officeDocument/2006/relationships/image" Target="../media/image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jpg"/><Relationship Id="rId4" Type="http://schemas.openxmlformats.org/officeDocument/2006/relationships/image" Target="../media/image3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jpg"/><Relationship Id="rId4" Type="http://schemas.openxmlformats.org/officeDocument/2006/relationships/image" Target="../media/image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gif"/><Relationship Id="rId4" Type="http://schemas.openxmlformats.org/officeDocument/2006/relationships/image" Target="../media/image3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jpg"/><Relationship Id="rId4" Type="http://schemas.openxmlformats.org/officeDocument/2006/relationships/image" Target="../media/image3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jpg"/><Relationship Id="rId4" Type="http://schemas.openxmlformats.org/officeDocument/2006/relationships/image" Target="../media/image3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jpg"/><Relationship Id="rId4" Type="http://schemas.openxmlformats.org/officeDocument/2006/relationships/image" Target="../media/image3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png"/><Relationship Id="rId4" Type="http://schemas.openxmlformats.org/officeDocument/2006/relationships/image" Target="../media/image4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69A68181-E056-252C-0286-DABDA6DE38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209" r="26437"/>
          <a:stretch/>
        </p:blipFill>
        <p:spPr>
          <a:xfrm>
            <a:off x="8107831" y="2127835"/>
            <a:ext cx="2304646" cy="2834178"/>
          </a:xfrm>
          <a:prstGeom prst="rect">
            <a:avLst/>
          </a:prstGeom>
        </p:spPr>
      </p:pic>
      <p:sp>
        <p:nvSpPr>
          <p:cNvPr id="85" name="Google Shape;85;p13"/>
          <p:cNvSpPr txBox="1"/>
          <p:nvPr/>
        </p:nvSpPr>
        <p:spPr>
          <a:xfrm>
            <a:off x="453119" y="2961424"/>
            <a:ext cx="7237706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0" b="1" dirty="0" err="1">
                <a:solidFill>
                  <a:srgbClr val="890736"/>
                </a:solidFill>
                <a:latin typeface="Gilroy-Medium" panose="00000600000000000000" pitchFamily="2" charset="0"/>
                <a:ea typeface="Poppins"/>
                <a:cs typeface="Poppins"/>
                <a:sym typeface="Poppins"/>
              </a:rPr>
              <a:t>Tekitl</a:t>
            </a:r>
            <a:r>
              <a:rPr lang="es-ES_tradnl" sz="3600" b="1" dirty="0">
                <a:solidFill>
                  <a:srgbClr val="890736"/>
                </a:solidFill>
                <a:latin typeface="Gilroy-Medium" panose="00000600000000000000" pitchFamily="2" charset="0"/>
                <a:ea typeface="Poppins"/>
                <a:cs typeface="Poppins"/>
                <a:sym typeface="Poppins"/>
              </a:rPr>
              <a:t> </a:t>
            </a:r>
            <a:r>
              <a:rPr lang="es-ES_tradnl" sz="3600" b="1" dirty="0" err="1">
                <a:solidFill>
                  <a:srgbClr val="890736"/>
                </a:solidFill>
                <a:latin typeface="Gilroy-Medium" panose="00000600000000000000" pitchFamily="2" charset="0"/>
                <a:ea typeface="Poppins"/>
                <a:cs typeface="Poppins"/>
                <a:sym typeface="Poppins"/>
              </a:rPr>
              <a:t>Lab</a:t>
            </a:r>
            <a:r>
              <a:rPr lang="es-ES_tradnl" sz="3600" b="1" dirty="0">
                <a:solidFill>
                  <a:srgbClr val="890736"/>
                </a:solidFill>
                <a:latin typeface="Gilroy-Medium" panose="00000600000000000000" pitchFamily="2" charset="0"/>
                <a:ea typeface="Poppins"/>
                <a:cs typeface="Poppins"/>
                <a:sym typeface="Poppins"/>
              </a:rPr>
              <a:t>: </a:t>
            </a:r>
            <a:r>
              <a:rPr lang="es-ES_tradnl" sz="3600" b="1" dirty="0">
                <a:solidFill>
                  <a:srgbClr val="CC965B"/>
                </a:solidFill>
                <a:latin typeface="Gilroy-Medium" panose="00000600000000000000" pitchFamily="2" charset="0"/>
                <a:ea typeface="Poppins"/>
                <a:cs typeface="Poppins"/>
                <a:sym typeface="Poppins"/>
              </a:rPr>
              <a:t>Despertando al OJO</a:t>
            </a:r>
            <a:endParaRPr lang="es-ES_tradnl" sz="1050" b="1" dirty="0">
              <a:solidFill>
                <a:srgbClr val="890736"/>
              </a:solidFill>
              <a:latin typeface="Gilroy-Medium" panose="00000600000000000000" pitchFamily="2" charset="0"/>
            </a:endParaRP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3233E929-B8D1-D3EC-5318-87E11858A06B}"/>
              </a:ext>
            </a:extLst>
          </p:cNvPr>
          <p:cNvSpPr txBox="1"/>
          <p:nvPr/>
        </p:nvSpPr>
        <p:spPr>
          <a:xfrm rot="-5400000">
            <a:off x="8166152" y="3161774"/>
            <a:ext cx="5988732" cy="766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743"/>
              </a:lnSpc>
            </a:pPr>
            <a:r>
              <a:rPr lang="en-US" sz="3200" b="1" dirty="0">
                <a:solidFill>
                  <a:srgbClr val="BF9F63"/>
                </a:solidFill>
                <a:latin typeface="Raleway Heavy"/>
                <a:ea typeface="Raleway Heavy"/>
                <a:cs typeface="Raleway Heavy"/>
                <a:sym typeface="Raleway Heavy"/>
              </a:rPr>
              <a:t>DE LOS PUEBLOS INDÍGENAS</a:t>
            </a: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5462F48C-C622-399C-0CFA-C97443E9C90F}"/>
              </a:ext>
            </a:extLst>
          </p:cNvPr>
          <p:cNvSpPr txBox="1"/>
          <p:nvPr/>
        </p:nvSpPr>
        <p:spPr>
          <a:xfrm rot="-5400000">
            <a:off x="7746692" y="3444881"/>
            <a:ext cx="5629888" cy="1028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971"/>
              </a:lnSpc>
            </a:pPr>
            <a:r>
              <a:rPr lang="en-US" sz="4000" b="1" dirty="0">
                <a:solidFill>
                  <a:srgbClr val="890736"/>
                </a:solidFill>
                <a:latin typeface="Raleway Heavy"/>
                <a:ea typeface="Raleway Heavy"/>
                <a:cs typeface="Raleway Heavy"/>
                <a:sym typeface="Raleway Heavy"/>
              </a:rPr>
              <a:t>INSTITUTO POBLANO</a:t>
            </a:r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DAA0B104-4F30-D331-1CD8-CBB3540A45DB}"/>
              </a:ext>
            </a:extLst>
          </p:cNvPr>
          <p:cNvSpPr/>
          <p:nvPr/>
        </p:nvSpPr>
        <p:spPr>
          <a:xfrm>
            <a:off x="3249687" y="233980"/>
            <a:ext cx="6490293" cy="832653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Google Shape;85;p13">
            <a:extLst>
              <a:ext uri="{FF2B5EF4-FFF2-40B4-BE49-F238E27FC236}">
                <a16:creationId xmlns:a16="http://schemas.microsoft.com/office/drawing/2014/main" id="{21898E41-893A-C242-A58E-17652E29570C}"/>
              </a:ext>
            </a:extLst>
          </p:cNvPr>
          <p:cNvSpPr txBox="1"/>
          <p:nvPr/>
        </p:nvSpPr>
        <p:spPr>
          <a:xfrm>
            <a:off x="-2475698" y="3626221"/>
            <a:ext cx="10115548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u="none" strike="noStrike" cap="none" dirty="0">
                <a:solidFill>
                  <a:srgbClr val="890736"/>
                </a:solidFill>
                <a:latin typeface="Gilroy-Medium" panose="00000600000000000000" pitchFamily="2" charset="0"/>
                <a:ea typeface="Poppins"/>
                <a:cs typeface="Poppins"/>
                <a:sym typeface="Poppins"/>
              </a:rPr>
              <a:t>Automatización de espacios comunitarias.</a:t>
            </a:r>
            <a:endParaRPr lang="es-ES_tradnl" sz="500" dirty="0">
              <a:solidFill>
                <a:srgbClr val="890736"/>
              </a:solidFill>
              <a:latin typeface="Gilroy-Medium" panose="000006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F02D5ABD-5431-8181-E2C4-F0C6A5DAC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>
            <a:extLst>
              <a:ext uri="{FF2B5EF4-FFF2-40B4-BE49-F238E27FC236}">
                <a16:creationId xmlns:a16="http://schemas.microsoft.com/office/drawing/2014/main" id="{86BEB50F-862B-14BB-51BB-E1F309E19554}"/>
              </a:ext>
            </a:extLst>
          </p:cNvPr>
          <p:cNvSpPr txBox="1"/>
          <p:nvPr/>
        </p:nvSpPr>
        <p:spPr>
          <a:xfrm>
            <a:off x="193978" y="3013501"/>
            <a:ext cx="116014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sz="5400" dirty="0">
                <a:sym typeface="Poppins"/>
              </a:rPr>
              <a:t>Pase de Lista</a:t>
            </a:r>
            <a:endParaRPr lang="es-ES_tradnl" sz="5400" dirty="0"/>
          </a:p>
        </p:txBody>
      </p:sp>
      <p:sp>
        <p:nvSpPr>
          <p:cNvPr id="4" name="Freeform 9">
            <a:extLst>
              <a:ext uri="{FF2B5EF4-FFF2-40B4-BE49-F238E27FC236}">
                <a16:creationId xmlns:a16="http://schemas.microsoft.com/office/drawing/2014/main" id="{27FEB71F-A673-C238-CABE-159061589E39}"/>
              </a:ext>
            </a:extLst>
          </p:cNvPr>
          <p:cNvSpPr/>
          <p:nvPr/>
        </p:nvSpPr>
        <p:spPr>
          <a:xfrm>
            <a:off x="326301" y="-60680"/>
            <a:ext cx="2181499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333CAFDE-9136-9BA9-1F6A-D26A30A1ED0E}"/>
              </a:ext>
            </a:extLst>
          </p:cNvPr>
          <p:cNvSpPr/>
          <p:nvPr/>
        </p:nvSpPr>
        <p:spPr>
          <a:xfrm flipH="1">
            <a:off x="9999703" y="5150524"/>
            <a:ext cx="1944541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E18A4B9B-DC56-6F7D-0CB9-9B3AFFD66E3C}"/>
              </a:ext>
            </a:extLst>
          </p:cNvPr>
          <p:cNvSpPr/>
          <p:nvPr/>
        </p:nvSpPr>
        <p:spPr>
          <a:xfrm>
            <a:off x="2726267" y="217683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063BDE3C-0A95-D41C-4825-B0206170C37E}"/>
              </a:ext>
            </a:extLst>
          </p:cNvPr>
          <p:cNvGrpSpPr/>
          <p:nvPr/>
        </p:nvGrpSpPr>
        <p:grpSpPr>
          <a:xfrm>
            <a:off x="233202" y="0"/>
            <a:ext cx="186199" cy="3563001"/>
            <a:chOff x="0" y="0"/>
            <a:chExt cx="206317" cy="2315462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93D07491-8A1D-5A4A-2274-D25E97756166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TextBox 7">
              <a:extLst>
                <a:ext uri="{FF2B5EF4-FFF2-40B4-BE49-F238E27FC236}">
                  <a16:creationId xmlns:a16="http://schemas.microsoft.com/office/drawing/2014/main" id="{04DAF37A-BB7F-43A9-2A6C-4DF513C1A293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B9F259D6-ED4E-5898-8F0D-C441F1CD5B5B}"/>
              </a:ext>
            </a:extLst>
          </p:cNvPr>
          <p:cNvSpPr/>
          <p:nvPr/>
        </p:nvSpPr>
        <p:spPr>
          <a:xfrm rot="-5400000">
            <a:off x="-2103517" y="1861638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8" name="Group 5">
            <a:extLst>
              <a:ext uri="{FF2B5EF4-FFF2-40B4-BE49-F238E27FC236}">
                <a16:creationId xmlns:a16="http://schemas.microsoft.com/office/drawing/2014/main" id="{605DEF1C-2152-C44E-895E-EE710B8DE3C1}"/>
              </a:ext>
            </a:extLst>
          </p:cNvPr>
          <p:cNvGrpSpPr/>
          <p:nvPr/>
        </p:nvGrpSpPr>
        <p:grpSpPr>
          <a:xfrm>
            <a:off x="11944244" y="3193403"/>
            <a:ext cx="186199" cy="3563001"/>
            <a:chOff x="0" y="0"/>
            <a:chExt cx="206317" cy="2315462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EBE8AE76-6B07-6CC4-ACE3-486516ECEA04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7">
              <a:extLst>
                <a:ext uri="{FF2B5EF4-FFF2-40B4-BE49-F238E27FC236}">
                  <a16:creationId xmlns:a16="http://schemas.microsoft.com/office/drawing/2014/main" id="{61D8EF0E-B255-73A9-0FCB-36A5FD5364A8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12" name="Freeform 7">
            <a:extLst>
              <a:ext uri="{FF2B5EF4-FFF2-40B4-BE49-F238E27FC236}">
                <a16:creationId xmlns:a16="http://schemas.microsoft.com/office/drawing/2014/main" id="{288A8971-1210-D042-0A19-CA539015FC98}"/>
              </a:ext>
            </a:extLst>
          </p:cNvPr>
          <p:cNvSpPr/>
          <p:nvPr/>
        </p:nvSpPr>
        <p:spPr>
          <a:xfrm rot="-5400000">
            <a:off x="9852652" y="4808038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86071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66397EC1-2182-9889-2CF1-4C638DE41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>
            <a:extLst>
              <a:ext uri="{FF2B5EF4-FFF2-40B4-BE49-F238E27FC236}">
                <a16:creationId xmlns:a16="http://schemas.microsoft.com/office/drawing/2014/main" id="{A52707A6-14D2-0E26-8A10-4DDBACC9A8A2}"/>
              </a:ext>
            </a:extLst>
          </p:cNvPr>
          <p:cNvSpPr txBox="1"/>
          <p:nvPr/>
        </p:nvSpPr>
        <p:spPr>
          <a:xfrm>
            <a:off x="435893" y="971942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dirty="0">
                <a:sym typeface="Poppins"/>
              </a:rPr>
              <a:t>Propósito del Curso</a:t>
            </a:r>
          </a:p>
        </p:txBody>
      </p:sp>
      <p:sp>
        <p:nvSpPr>
          <p:cNvPr id="4" name="Freeform 9">
            <a:extLst>
              <a:ext uri="{FF2B5EF4-FFF2-40B4-BE49-F238E27FC236}">
                <a16:creationId xmlns:a16="http://schemas.microsoft.com/office/drawing/2014/main" id="{5C2E0A4D-9219-EDEC-5EFB-02450BCE351D}"/>
              </a:ext>
            </a:extLst>
          </p:cNvPr>
          <p:cNvSpPr/>
          <p:nvPr/>
        </p:nvSpPr>
        <p:spPr>
          <a:xfrm>
            <a:off x="326301" y="-60680"/>
            <a:ext cx="2181499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1280BE37-CA20-5941-B40D-07CD77586885}"/>
              </a:ext>
            </a:extLst>
          </p:cNvPr>
          <p:cNvSpPr/>
          <p:nvPr/>
        </p:nvSpPr>
        <p:spPr>
          <a:xfrm flipH="1">
            <a:off x="9999703" y="5150524"/>
            <a:ext cx="1944541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678E278E-0BD6-FD67-D305-177A9BE67D40}"/>
              </a:ext>
            </a:extLst>
          </p:cNvPr>
          <p:cNvSpPr/>
          <p:nvPr/>
        </p:nvSpPr>
        <p:spPr>
          <a:xfrm>
            <a:off x="2802330" y="29680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AD011074-2F89-7A93-5BD2-16F576BE68B1}"/>
              </a:ext>
            </a:extLst>
          </p:cNvPr>
          <p:cNvGrpSpPr/>
          <p:nvPr/>
        </p:nvGrpSpPr>
        <p:grpSpPr>
          <a:xfrm>
            <a:off x="233202" y="0"/>
            <a:ext cx="186199" cy="3563001"/>
            <a:chOff x="0" y="0"/>
            <a:chExt cx="206317" cy="2315462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C6A8497A-4DF5-6D92-09D9-6C1F570B8AC4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TextBox 7">
              <a:extLst>
                <a:ext uri="{FF2B5EF4-FFF2-40B4-BE49-F238E27FC236}">
                  <a16:creationId xmlns:a16="http://schemas.microsoft.com/office/drawing/2014/main" id="{FA136773-51F2-084D-1AFF-A4EB1402D54E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85286B1-BA61-C016-7837-16274AC455F7}"/>
              </a:ext>
            </a:extLst>
          </p:cNvPr>
          <p:cNvSpPr/>
          <p:nvPr/>
        </p:nvSpPr>
        <p:spPr>
          <a:xfrm rot="-5400000">
            <a:off x="-2103517" y="1861638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8" name="Group 5">
            <a:extLst>
              <a:ext uri="{FF2B5EF4-FFF2-40B4-BE49-F238E27FC236}">
                <a16:creationId xmlns:a16="http://schemas.microsoft.com/office/drawing/2014/main" id="{1D63C771-E6EB-79C2-17DD-9C164E8DA27D}"/>
              </a:ext>
            </a:extLst>
          </p:cNvPr>
          <p:cNvGrpSpPr/>
          <p:nvPr/>
        </p:nvGrpSpPr>
        <p:grpSpPr>
          <a:xfrm>
            <a:off x="11944244" y="3193403"/>
            <a:ext cx="186199" cy="3563001"/>
            <a:chOff x="0" y="0"/>
            <a:chExt cx="206317" cy="2315462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7DDBBA40-A0D7-25DE-F32F-DB1D3DAFF8B2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7">
              <a:extLst>
                <a:ext uri="{FF2B5EF4-FFF2-40B4-BE49-F238E27FC236}">
                  <a16:creationId xmlns:a16="http://schemas.microsoft.com/office/drawing/2014/main" id="{6CCC438A-677B-BC96-5421-E10E6983ED16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12" name="Freeform 7">
            <a:extLst>
              <a:ext uri="{FF2B5EF4-FFF2-40B4-BE49-F238E27FC236}">
                <a16:creationId xmlns:a16="http://schemas.microsoft.com/office/drawing/2014/main" id="{977D9926-E756-23C8-EF1B-8C02B2D539DF}"/>
              </a:ext>
            </a:extLst>
          </p:cNvPr>
          <p:cNvSpPr/>
          <p:nvPr/>
        </p:nvSpPr>
        <p:spPr>
          <a:xfrm rot="-5400000">
            <a:off x="9852652" y="4808038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7B8FA55-83EF-44A9-8E5B-F825F14702FD}"/>
              </a:ext>
            </a:extLst>
          </p:cNvPr>
          <p:cNvSpPr txBox="1"/>
          <p:nvPr/>
        </p:nvSpPr>
        <p:spPr>
          <a:xfrm>
            <a:off x="1032301" y="1530997"/>
            <a:ext cx="1010766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s-MX" altLang="es-MX" sz="1600" b="1" u="none" strike="noStrike" cap="none" normalizeH="0" baseline="0" dirty="0">
                <a:ln>
                  <a:noFill/>
                </a:ln>
                <a:solidFill>
                  <a:srgbClr val="464644"/>
                </a:solidFill>
                <a:effectLst/>
                <a:latin typeface="Gilroy Bold" pitchFamily="2" charset="77"/>
              </a:rPr>
              <a:t>Capacitar a los integrantes de la comunidad para comprender los principios de la detección infrarroja pasiva y el control de potencia eléctrica mediante módulos de relevadores, combinando la teoría con la práctica. Este aprendizaje permitirá a los participantes identificar, calibrar y conectar estos componentes tecnológicos para construir un 'centinela' autónomo capaz de encender y apagar cualquier dispositivo (como lámparas, alarmas o electrodomésticos) al detectar movimiento, lo que les permitirá implementar proyectos propios que resuelvan necesidades específicas de seguridad y automatización en su entorno, fomentando la autonomía técnica, el ahorro de energía y el desarrollo local.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17A479CD-1CE4-46F9-98DC-408E48B34D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1164" y="3429000"/>
            <a:ext cx="5909848" cy="3223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457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66397EC1-2182-9889-2CF1-4C638DE41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>
            <a:extLst>
              <a:ext uri="{FF2B5EF4-FFF2-40B4-BE49-F238E27FC236}">
                <a16:creationId xmlns:a16="http://schemas.microsoft.com/office/drawing/2014/main" id="{A52707A6-14D2-0E26-8A10-4DDBACC9A8A2}"/>
              </a:ext>
            </a:extLst>
          </p:cNvPr>
          <p:cNvSpPr txBox="1"/>
          <p:nvPr/>
        </p:nvSpPr>
        <p:spPr>
          <a:xfrm>
            <a:off x="233202" y="998590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dirty="0">
                <a:sym typeface="Poppins"/>
              </a:rPr>
              <a:t>Beneficio del Curso</a:t>
            </a:r>
          </a:p>
        </p:txBody>
      </p:sp>
      <p:sp>
        <p:nvSpPr>
          <p:cNvPr id="4" name="Freeform 9">
            <a:extLst>
              <a:ext uri="{FF2B5EF4-FFF2-40B4-BE49-F238E27FC236}">
                <a16:creationId xmlns:a16="http://schemas.microsoft.com/office/drawing/2014/main" id="{5C2E0A4D-9219-EDEC-5EFB-02450BCE351D}"/>
              </a:ext>
            </a:extLst>
          </p:cNvPr>
          <p:cNvSpPr/>
          <p:nvPr/>
        </p:nvSpPr>
        <p:spPr>
          <a:xfrm>
            <a:off x="326301" y="-60680"/>
            <a:ext cx="2181499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1280BE37-CA20-5941-B40D-07CD77586885}"/>
              </a:ext>
            </a:extLst>
          </p:cNvPr>
          <p:cNvSpPr/>
          <p:nvPr/>
        </p:nvSpPr>
        <p:spPr>
          <a:xfrm flipH="1">
            <a:off x="9999703" y="5150524"/>
            <a:ext cx="1944541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678E278E-0BD6-FD67-D305-177A9BE67D40}"/>
              </a:ext>
            </a:extLst>
          </p:cNvPr>
          <p:cNvSpPr/>
          <p:nvPr/>
        </p:nvSpPr>
        <p:spPr>
          <a:xfrm>
            <a:off x="2802330" y="29680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AD011074-2F89-7A93-5BD2-16F576BE68B1}"/>
              </a:ext>
            </a:extLst>
          </p:cNvPr>
          <p:cNvGrpSpPr/>
          <p:nvPr/>
        </p:nvGrpSpPr>
        <p:grpSpPr>
          <a:xfrm>
            <a:off x="233202" y="0"/>
            <a:ext cx="186199" cy="3563001"/>
            <a:chOff x="0" y="0"/>
            <a:chExt cx="206317" cy="2315462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C6A8497A-4DF5-6D92-09D9-6C1F570B8AC4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TextBox 7">
              <a:extLst>
                <a:ext uri="{FF2B5EF4-FFF2-40B4-BE49-F238E27FC236}">
                  <a16:creationId xmlns:a16="http://schemas.microsoft.com/office/drawing/2014/main" id="{FA136773-51F2-084D-1AFF-A4EB1402D54E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85286B1-BA61-C016-7837-16274AC455F7}"/>
              </a:ext>
            </a:extLst>
          </p:cNvPr>
          <p:cNvSpPr/>
          <p:nvPr/>
        </p:nvSpPr>
        <p:spPr>
          <a:xfrm rot="-5400000">
            <a:off x="-2103517" y="1861638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8" name="Group 5">
            <a:extLst>
              <a:ext uri="{FF2B5EF4-FFF2-40B4-BE49-F238E27FC236}">
                <a16:creationId xmlns:a16="http://schemas.microsoft.com/office/drawing/2014/main" id="{1D63C771-E6EB-79C2-17DD-9C164E8DA27D}"/>
              </a:ext>
            </a:extLst>
          </p:cNvPr>
          <p:cNvGrpSpPr/>
          <p:nvPr/>
        </p:nvGrpSpPr>
        <p:grpSpPr>
          <a:xfrm>
            <a:off x="11944244" y="3193403"/>
            <a:ext cx="186199" cy="3563001"/>
            <a:chOff x="0" y="0"/>
            <a:chExt cx="206317" cy="2315462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7DDBBA40-A0D7-25DE-F32F-DB1D3DAFF8B2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7">
              <a:extLst>
                <a:ext uri="{FF2B5EF4-FFF2-40B4-BE49-F238E27FC236}">
                  <a16:creationId xmlns:a16="http://schemas.microsoft.com/office/drawing/2014/main" id="{6CCC438A-677B-BC96-5421-E10E6983ED16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12" name="Freeform 7">
            <a:extLst>
              <a:ext uri="{FF2B5EF4-FFF2-40B4-BE49-F238E27FC236}">
                <a16:creationId xmlns:a16="http://schemas.microsoft.com/office/drawing/2014/main" id="{977D9926-E756-23C8-EF1B-8C02B2D539DF}"/>
              </a:ext>
            </a:extLst>
          </p:cNvPr>
          <p:cNvSpPr/>
          <p:nvPr/>
        </p:nvSpPr>
        <p:spPr>
          <a:xfrm rot="-5400000">
            <a:off x="9852652" y="4808038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7B8FA55-83EF-44A9-8E5B-F825F14702FD}"/>
              </a:ext>
            </a:extLst>
          </p:cNvPr>
          <p:cNvSpPr txBox="1"/>
          <p:nvPr/>
        </p:nvSpPr>
        <p:spPr>
          <a:xfrm>
            <a:off x="1124434" y="1605624"/>
            <a:ext cx="1044096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u="none" strike="noStrike" cap="none" normalizeH="0" baseline="0" dirty="0">
                <a:ln>
                  <a:noFill/>
                </a:ln>
                <a:solidFill>
                  <a:srgbClr val="27625A"/>
                </a:solidFill>
                <a:effectLst/>
                <a:latin typeface="Gilroy Bold" pitchFamily="2" charset="77"/>
              </a:rPr>
              <a:t>Al concluir el curso, los participantes adquirirán la autonomía técnica necesaria para diseñar, ensamblar y reparar sistemas autónomos de iluminación y seguridad utilizando sensores infrarrojos (PIR HC-SR501) y relevadores. Esto les permitirá resolver de manera sustentable, económica y colaborativa las necesidades reales de automatización, protección y ahorro de energía en su entorno (como el encendido automático de luces o alarmas vecinales), reduciendo la dependencia de tecnologías costosas y fortaleciendo el desarrollo de su comunidad.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D91CFA2E-D68D-4711-9E9D-DB3DA56F46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4159" y="3069933"/>
            <a:ext cx="4161182" cy="4161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929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66397EC1-2182-9889-2CF1-4C638DE41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>
            <a:extLst>
              <a:ext uri="{FF2B5EF4-FFF2-40B4-BE49-F238E27FC236}">
                <a16:creationId xmlns:a16="http://schemas.microsoft.com/office/drawing/2014/main" id="{A52707A6-14D2-0E26-8A10-4DDBACC9A8A2}"/>
              </a:ext>
            </a:extLst>
          </p:cNvPr>
          <p:cNvSpPr txBox="1"/>
          <p:nvPr/>
        </p:nvSpPr>
        <p:spPr>
          <a:xfrm>
            <a:off x="476498" y="951315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dirty="0">
                <a:sym typeface="Poppins"/>
              </a:rPr>
              <a:t>Contenido Temático</a:t>
            </a:r>
          </a:p>
        </p:txBody>
      </p:sp>
      <p:sp>
        <p:nvSpPr>
          <p:cNvPr id="4" name="Freeform 9">
            <a:extLst>
              <a:ext uri="{FF2B5EF4-FFF2-40B4-BE49-F238E27FC236}">
                <a16:creationId xmlns:a16="http://schemas.microsoft.com/office/drawing/2014/main" id="{5C2E0A4D-9219-EDEC-5EFB-02450BCE351D}"/>
              </a:ext>
            </a:extLst>
          </p:cNvPr>
          <p:cNvSpPr/>
          <p:nvPr/>
        </p:nvSpPr>
        <p:spPr>
          <a:xfrm>
            <a:off x="326301" y="-60680"/>
            <a:ext cx="2181499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1280BE37-CA20-5941-B40D-07CD77586885}"/>
              </a:ext>
            </a:extLst>
          </p:cNvPr>
          <p:cNvSpPr/>
          <p:nvPr/>
        </p:nvSpPr>
        <p:spPr>
          <a:xfrm flipH="1">
            <a:off x="9999703" y="5150524"/>
            <a:ext cx="1944541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678E278E-0BD6-FD67-D305-177A9BE67D40}"/>
              </a:ext>
            </a:extLst>
          </p:cNvPr>
          <p:cNvSpPr/>
          <p:nvPr/>
        </p:nvSpPr>
        <p:spPr>
          <a:xfrm>
            <a:off x="2802330" y="29680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AD011074-2F89-7A93-5BD2-16F576BE68B1}"/>
              </a:ext>
            </a:extLst>
          </p:cNvPr>
          <p:cNvGrpSpPr/>
          <p:nvPr/>
        </p:nvGrpSpPr>
        <p:grpSpPr>
          <a:xfrm>
            <a:off x="233202" y="0"/>
            <a:ext cx="186199" cy="3563001"/>
            <a:chOff x="0" y="0"/>
            <a:chExt cx="206317" cy="2315462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C6A8497A-4DF5-6D92-09D9-6C1F570B8AC4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TextBox 7">
              <a:extLst>
                <a:ext uri="{FF2B5EF4-FFF2-40B4-BE49-F238E27FC236}">
                  <a16:creationId xmlns:a16="http://schemas.microsoft.com/office/drawing/2014/main" id="{FA136773-51F2-084D-1AFF-A4EB1402D54E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85286B1-BA61-C016-7837-16274AC455F7}"/>
              </a:ext>
            </a:extLst>
          </p:cNvPr>
          <p:cNvSpPr/>
          <p:nvPr/>
        </p:nvSpPr>
        <p:spPr>
          <a:xfrm rot="-5400000">
            <a:off x="-2103517" y="1861638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8" name="Group 5">
            <a:extLst>
              <a:ext uri="{FF2B5EF4-FFF2-40B4-BE49-F238E27FC236}">
                <a16:creationId xmlns:a16="http://schemas.microsoft.com/office/drawing/2014/main" id="{1D63C771-E6EB-79C2-17DD-9C164E8DA27D}"/>
              </a:ext>
            </a:extLst>
          </p:cNvPr>
          <p:cNvGrpSpPr/>
          <p:nvPr/>
        </p:nvGrpSpPr>
        <p:grpSpPr>
          <a:xfrm>
            <a:off x="11944244" y="3193403"/>
            <a:ext cx="186199" cy="3563001"/>
            <a:chOff x="0" y="0"/>
            <a:chExt cx="206317" cy="2315462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7DDBBA40-A0D7-25DE-F32F-DB1D3DAFF8B2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7">
              <a:extLst>
                <a:ext uri="{FF2B5EF4-FFF2-40B4-BE49-F238E27FC236}">
                  <a16:creationId xmlns:a16="http://schemas.microsoft.com/office/drawing/2014/main" id="{6CCC438A-677B-BC96-5421-E10E6983ED16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12" name="Freeform 7">
            <a:extLst>
              <a:ext uri="{FF2B5EF4-FFF2-40B4-BE49-F238E27FC236}">
                <a16:creationId xmlns:a16="http://schemas.microsoft.com/office/drawing/2014/main" id="{977D9926-E756-23C8-EF1B-8C02B2D539DF}"/>
              </a:ext>
            </a:extLst>
          </p:cNvPr>
          <p:cNvSpPr/>
          <p:nvPr/>
        </p:nvSpPr>
        <p:spPr>
          <a:xfrm rot="-5400000">
            <a:off x="9852652" y="4808038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7B8FA55-83EF-44A9-8E5B-F825F14702FD}"/>
              </a:ext>
            </a:extLst>
          </p:cNvPr>
          <p:cNvSpPr txBox="1"/>
          <p:nvPr/>
        </p:nvSpPr>
        <p:spPr>
          <a:xfrm>
            <a:off x="729268" y="1702894"/>
            <a:ext cx="663894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400" b="1" u="none" strike="noStrike" cap="none" normalizeH="0" baseline="0" dirty="0">
                <a:ln>
                  <a:noFill/>
                </a:ln>
                <a:solidFill>
                  <a:srgbClr val="CC965B"/>
                </a:solidFill>
                <a:effectLst/>
                <a:latin typeface="Gilroy Bold" pitchFamily="2" charset="77"/>
              </a:rPr>
              <a:t>Tema 1:  El Lenguaje del Calor</a:t>
            </a:r>
            <a:endParaRPr kumimoji="0" lang="es-MX" altLang="es-MX" sz="28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roy Bold" pitchFamily="2" charset="7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1" u="none" strike="noStrike" cap="none" normalizeH="0" baseline="0" dirty="0">
                <a:ln>
                  <a:noFill/>
                </a:ln>
                <a:solidFill>
                  <a:srgbClr val="334155"/>
                </a:solidFill>
                <a:effectLst/>
                <a:latin typeface="Gilroy Bold" pitchFamily="2" charset="77"/>
              </a:rPr>
              <a:t>1.1 La radiación térmica de los cuerpos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1" u="none" strike="noStrike" cap="none" normalizeH="0" baseline="0" dirty="0">
                <a:ln>
                  <a:noFill/>
                </a:ln>
                <a:solidFill>
                  <a:srgbClr val="334155"/>
                </a:solidFill>
                <a:effectLst/>
                <a:latin typeface="Gilroy Bold" pitchFamily="2" charset="77"/>
              </a:rPr>
              <a:t>1.2 El principio del Infrarrojo Pasivo (PIR)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92F1D67B-0D81-484D-9153-D1BE560ACAB2}"/>
              </a:ext>
            </a:extLst>
          </p:cNvPr>
          <p:cNvSpPr txBox="1"/>
          <p:nvPr/>
        </p:nvSpPr>
        <p:spPr>
          <a:xfrm>
            <a:off x="626597" y="3123781"/>
            <a:ext cx="738744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400" b="1" u="none" strike="noStrike" cap="none" normalizeH="0" baseline="0" dirty="0">
                <a:ln>
                  <a:noFill/>
                </a:ln>
                <a:solidFill>
                  <a:srgbClr val="CC965B"/>
                </a:solidFill>
                <a:effectLst/>
                <a:latin typeface="Gilroy Bold" pitchFamily="2" charset="77"/>
              </a:rPr>
              <a:t>Tema 2: : Decodificando el sexto sentido</a:t>
            </a:r>
            <a:endParaRPr kumimoji="0" lang="es-MX" altLang="es-MX" sz="28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roy Bold" pitchFamily="2" charset="7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1" u="none" strike="noStrike" cap="none" normalizeH="0" baseline="0" dirty="0">
                <a:ln>
                  <a:noFill/>
                </a:ln>
                <a:solidFill>
                  <a:srgbClr val="27625A"/>
                </a:solidFill>
                <a:effectLst/>
                <a:latin typeface="Gilroy Bold" pitchFamily="2" charset="77"/>
              </a:rPr>
              <a:t>2.1  ¿De qué está hecho el sensor?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1" u="none" strike="noStrike" cap="none" normalizeH="0" baseline="0" dirty="0">
                <a:ln>
                  <a:noFill/>
                </a:ln>
                <a:solidFill>
                  <a:srgbClr val="27625A"/>
                </a:solidFill>
                <a:effectLst/>
                <a:latin typeface="Gilroy Bold" pitchFamily="2" charset="77"/>
              </a:rPr>
              <a:t>2.2 ¿Cómo lo configuramos a medida?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CD658E8-A04A-45B8-ADFC-73AD3CF38942}"/>
              </a:ext>
            </a:extLst>
          </p:cNvPr>
          <p:cNvSpPr txBox="1"/>
          <p:nvPr/>
        </p:nvSpPr>
        <p:spPr>
          <a:xfrm>
            <a:off x="729267" y="4529491"/>
            <a:ext cx="707851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400" b="1" u="none" strike="noStrike" cap="none" normalizeH="0" baseline="0" dirty="0">
                <a:ln>
                  <a:noFill/>
                </a:ln>
                <a:solidFill>
                  <a:srgbClr val="CC965B"/>
                </a:solidFill>
                <a:effectLst/>
                <a:latin typeface="Gilroy Bold" pitchFamily="2" charset="77"/>
              </a:rPr>
              <a:t>Tema 3:  Ensamblaje </a:t>
            </a:r>
            <a:r>
              <a:rPr lang="es-MX" altLang="es-MX" sz="2400" b="1" dirty="0">
                <a:solidFill>
                  <a:srgbClr val="CC965B"/>
                </a:solidFill>
                <a:latin typeface="Gilroy Bold" pitchFamily="2" charset="77"/>
              </a:rPr>
              <a:t>del centinela</a:t>
            </a:r>
            <a:endParaRPr kumimoji="0" lang="es-MX" altLang="es-MX" sz="28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roy Bold" pitchFamily="2" charset="7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1" u="none" strike="noStrike" cap="none" normalizeH="0" baseline="0" dirty="0">
                <a:ln>
                  <a:noFill/>
                </a:ln>
                <a:solidFill>
                  <a:srgbClr val="464644"/>
                </a:solidFill>
                <a:effectLst/>
                <a:latin typeface="Gilroy Bold" pitchFamily="2" charset="77"/>
              </a:rPr>
              <a:t>3.1 Preparación de componentes.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1" u="none" strike="noStrike" cap="none" normalizeH="0" baseline="0" dirty="0">
                <a:ln>
                  <a:noFill/>
                </a:ln>
                <a:solidFill>
                  <a:srgbClr val="464644"/>
                </a:solidFill>
                <a:effectLst/>
                <a:latin typeface="Gilroy Bold" pitchFamily="2" charset="77"/>
              </a:rPr>
              <a:t>3.2 Elaboración del centinela.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1" u="none" strike="noStrike" cap="none" normalizeH="0" baseline="0" dirty="0">
                <a:ln>
                  <a:noFill/>
                </a:ln>
                <a:solidFill>
                  <a:srgbClr val="464644"/>
                </a:solidFill>
                <a:effectLst/>
                <a:latin typeface="Gilroy Bold" pitchFamily="2" charset="77"/>
              </a:rPr>
              <a:t>3.3 Conexión y prueba operativa.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1" u="none" strike="noStrike" cap="none" normalizeH="0" baseline="0" dirty="0">
              <a:ln>
                <a:noFill/>
              </a:ln>
              <a:solidFill>
                <a:srgbClr val="27625A"/>
              </a:solidFill>
              <a:effectLst/>
              <a:latin typeface="Gilroy Bold" pitchFamily="2" charset="77"/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07F0A7D4-7AD4-48A4-A466-5A65EC898DD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-87" t="11622" r="-1825" b="11507"/>
          <a:stretch/>
        </p:blipFill>
        <p:spPr>
          <a:xfrm>
            <a:off x="10527956" y="-60680"/>
            <a:ext cx="1037447" cy="704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699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F1304-0C0B-F417-2383-105DF572D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3338A5B-15EA-F163-E430-0C59462E2D79}"/>
              </a:ext>
            </a:extLst>
          </p:cNvPr>
          <p:cNvGrpSpPr/>
          <p:nvPr/>
        </p:nvGrpSpPr>
        <p:grpSpPr>
          <a:xfrm>
            <a:off x="955362" y="527411"/>
            <a:ext cx="331077" cy="6330589"/>
            <a:chOff x="0" y="0"/>
            <a:chExt cx="130796" cy="25009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AB4B53E-C004-EFF0-5542-20B1C2E89797}"/>
                </a:ext>
              </a:extLst>
            </p:cNvPr>
            <p:cNvSpPr/>
            <p:nvPr/>
          </p:nvSpPr>
          <p:spPr>
            <a:xfrm>
              <a:off x="0" y="0"/>
              <a:ext cx="130796" cy="2500973"/>
            </a:xfrm>
            <a:custGeom>
              <a:avLst/>
              <a:gdLst/>
              <a:ahLst/>
              <a:cxnLst/>
              <a:rect l="l" t="t" r="r" b="b"/>
              <a:pathLst>
                <a:path w="130796" h="2500973">
                  <a:moveTo>
                    <a:pt x="0" y="0"/>
                  </a:moveTo>
                  <a:lnTo>
                    <a:pt x="130796" y="0"/>
                  </a:lnTo>
                  <a:lnTo>
                    <a:pt x="130796" y="2500973"/>
                  </a:lnTo>
                  <a:lnTo>
                    <a:pt x="0" y="2500973"/>
                  </a:lnTo>
                  <a:close/>
                </a:path>
              </a:pathLst>
            </a:custGeom>
            <a:solidFill>
              <a:srgbClr val="731F3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68DF62F-E716-75ED-D257-FEB5FAEA0D77}"/>
                </a:ext>
              </a:extLst>
            </p:cNvPr>
            <p:cNvSpPr txBox="1"/>
            <p:nvPr/>
          </p:nvSpPr>
          <p:spPr>
            <a:xfrm>
              <a:off x="0" y="-57150"/>
              <a:ext cx="130796" cy="255812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239"/>
                </a:lnSpc>
              </a:pPr>
              <a:endParaRPr sz="933"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A9C6BBE1-C288-EF1B-64E6-CD771466C6BA}"/>
              </a:ext>
            </a:extLst>
          </p:cNvPr>
          <p:cNvSpPr/>
          <p:nvPr/>
        </p:nvSpPr>
        <p:spPr>
          <a:xfrm>
            <a:off x="2926249" y="0"/>
            <a:ext cx="6339502" cy="83168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7BC61C2-250F-B98D-3191-AFE5DB29DE2A}"/>
              </a:ext>
            </a:extLst>
          </p:cNvPr>
          <p:cNvSpPr/>
          <p:nvPr/>
        </p:nvSpPr>
        <p:spPr>
          <a:xfrm rot="-5400000">
            <a:off x="-1216339" y="2247388"/>
            <a:ext cx="4746799" cy="418605"/>
          </a:xfrm>
          <a:custGeom>
            <a:avLst/>
            <a:gdLst/>
            <a:ahLst/>
            <a:cxnLst/>
            <a:rect l="l" t="t" r="r" b="b"/>
            <a:pathLst>
              <a:path w="7120198" h="627907">
                <a:moveTo>
                  <a:pt x="0" y="0"/>
                </a:moveTo>
                <a:lnTo>
                  <a:pt x="7120197" y="0"/>
                </a:lnTo>
                <a:lnTo>
                  <a:pt x="7120197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159" b="-6159"/>
            </a:stretch>
          </a:blipFill>
        </p:spPr>
        <p:txBody>
          <a:bodyPr/>
          <a:lstStyle/>
          <a:p>
            <a:endParaRPr lang="es-MX" dirty="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7BE7010-8AD7-2651-F13D-300FD6DBFA8E}"/>
              </a:ext>
            </a:extLst>
          </p:cNvPr>
          <p:cNvSpPr/>
          <p:nvPr/>
        </p:nvSpPr>
        <p:spPr>
          <a:xfrm rot="-5400000">
            <a:off x="-956032" y="6733881"/>
            <a:ext cx="4226186" cy="418605"/>
          </a:xfrm>
          <a:custGeom>
            <a:avLst/>
            <a:gdLst/>
            <a:ahLst/>
            <a:cxnLst/>
            <a:rect l="l" t="t" r="r" b="b"/>
            <a:pathLst>
              <a:path w="6339279" h="627907">
                <a:moveTo>
                  <a:pt x="0" y="0"/>
                </a:moveTo>
                <a:lnTo>
                  <a:pt x="6339279" y="0"/>
                </a:lnTo>
                <a:lnTo>
                  <a:pt x="6339279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9D5935-6108-B2E7-994F-6FA308ACA211}"/>
              </a:ext>
            </a:extLst>
          </p:cNvPr>
          <p:cNvSpPr txBox="1"/>
          <p:nvPr/>
        </p:nvSpPr>
        <p:spPr>
          <a:xfrm rot="-5400000">
            <a:off x="-2383049" y="2822599"/>
            <a:ext cx="5988732" cy="766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743"/>
              </a:lnSpc>
            </a:pPr>
            <a:r>
              <a:rPr lang="en-US" sz="3200" b="1" dirty="0">
                <a:solidFill>
                  <a:srgbClr val="BF9F63"/>
                </a:solidFill>
                <a:latin typeface="Raleway Heavy"/>
                <a:ea typeface="Raleway Heavy"/>
                <a:cs typeface="Raleway Heavy"/>
                <a:sym typeface="Raleway Heavy"/>
              </a:rPr>
              <a:t>DE LOS PUEBLOS INDÍGENAS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E84C8D-6CD0-FAAD-9679-4C9E102D0855}"/>
              </a:ext>
            </a:extLst>
          </p:cNvPr>
          <p:cNvSpPr txBox="1"/>
          <p:nvPr/>
        </p:nvSpPr>
        <p:spPr>
          <a:xfrm rot="-5400000">
            <a:off x="-2691133" y="3106324"/>
            <a:ext cx="5629888" cy="1028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971"/>
              </a:lnSpc>
            </a:pPr>
            <a:r>
              <a:rPr lang="en-US" sz="4000" b="1" dirty="0">
                <a:solidFill>
                  <a:srgbClr val="890736"/>
                </a:solidFill>
                <a:latin typeface="Raleway Heavy"/>
                <a:ea typeface="Raleway Heavy"/>
                <a:cs typeface="Raleway Heavy"/>
                <a:sym typeface="Raleway Heavy"/>
              </a:rPr>
              <a:t>INSTITUTO POBLANO</a:t>
            </a:r>
          </a:p>
        </p:txBody>
      </p:sp>
      <p:sp>
        <p:nvSpPr>
          <p:cNvPr id="13" name="Google Shape;127;p16">
            <a:extLst>
              <a:ext uri="{FF2B5EF4-FFF2-40B4-BE49-F238E27FC236}">
                <a16:creationId xmlns:a16="http://schemas.microsoft.com/office/drawing/2014/main" id="{3C22F70F-9596-A558-D397-24DFCC8B7CB2}"/>
              </a:ext>
            </a:extLst>
          </p:cNvPr>
          <p:cNvSpPr txBox="1"/>
          <p:nvPr/>
        </p:nvSpPr>
        <p:spPr>
          <a:xfrm>
            <a:off x="707246" y="884917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dirty="0">
                <a:sym typeface="Poppins"/>
              </a:rPr>
              <a:t>Objetivos del Curso</a:t>
            </a:r>
            <a:endParaRPr lang="es-ES_tradnl" dirty="0"/>
          </a:p>
        </p:txBody>
      </p:sp>
      <p:sp>
        <p:nvSpPr>
          <p:cNvPr id="20" name="Google Shape;127;p16">
            <a:extLst>
              <a:ext uri="{FF2B5EF4-FFF2-40B4-BE49-F238E27FC236}">
                <a16:creationId xmlns:a16="http://schemas.microsoft.com/office/drawing/2014/main" id="{2417D9AB-895C-3A9E-D292-A89B83CBABC8}"/>
              </a:ext>
            </a:extLst>
          </p:cNvPr>
          <p:cNvSpPr txBox="1"/>
          <p:nvPr/>
        </p:nvSpPr>
        <p:spPr>
          <a:xfrm>
            <a:off x="2491837" y="4584051"/>
            <a:ext cx="2005963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dirty="0">
                <a:solidFill>
                  <a:schemeClr val="bg1"/>
                </a:solidFill>
                <a:sym typeface="Poppins"/>
              </a:rPr>
              <a:t>Mujeres</a:t>
            </a:r>
            <a:endParaRPr lang="es-ES_tradnl" dirty="0">
              <a:solidFill>
                <a:schemeClr val="bg1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A9F7845-F539-DF8B-F109-898D277E1A98}"/>
              </a:ext>
            </a:extLst>
          </p:cNvPr>
          <p:cNvSpPr txBox="1"/>
          <p:nvPr/>
        </p:nvSpPr>
        <p:spPr>
          <a:xfrm>
            <a:off x="1606875" y="1577359"/>
            <a:ext cx="84066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800" b="1" dirty="0">
                <a:solidFill>
                  <a:srgbClr val="143934"/>
                </a:solidFill>
                <a:latin typeface="Gilroy Bold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Objetivos generales</a:t>
            </a:r>
            <a:r>
              <a:rPr lang="es-MX" sz="1800" b="1" dirty="0">
                <a:solidFill>
                  <a:srgbClr val="143934"/>
                </a:solidFill>
                <a:effectLst/>
                <a:latin typeface="Gilroy Bold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s-MX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1800" b="1" dirty="0">
                <a:solidFill>
                  <a:srgbClr val="143934"/>
                </a:solidFill>
                <a:effectLst/>
                <a:latin typeface="Gilroy Bold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MX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F00CE57-9DE5-9574-3522-9CE8E3236F31}"/>
              </a:ext>
            </a:extLst>
          </p:cNvPr>
          <p:cNvSpPr txBox="1"/>
          <p:nvPr/>
        </p:nvSpPr>
        <p:spPr>
          <a:xfrm>
            <a:off x="1645884" y="2423690"/>
            <a:ext cx="565968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endParaRPr lang="es-MX" sz="1600" b="1" dirty="0">
              <a:solidFill>
                <a:srgbClr val="143934"/>
              </a:solidFill>
              <a:latin typeface="Gilroy Bold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r>
              <a:rPr lang="es-MX" sz="160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Comprender el funcionamiento electrónico de los sensores de movimiento infrarrojos (PIR) y el control de potencia mediante módulos de relevadores, combinando la teoría con la práctica.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2BF9D055-7820-D1FE-2964-0C0B9DC6A10D}"/>
              </a:ext>
            </a:extLst>
          </p:cNvPr>
          <p:cNvSpPr txBox="1"/>
          <p:nvPr/>
        </p:nvSpPr>
        <p:spPr>
          <a:xfrm>
            <a:off x="1606875" y="2208245"/>
            <a:ext cx="279072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MX" sz="2200" b="1" dirty="0">
                <a:solidFill>
                  <a:srgbClr val="143934"/>
                </a:solidFill>
                <a:effectLst/>
                <a:latin typeface="Gilroy Bold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¿Qué haremos?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D78F1D7-0A44-4341-869F-D16E2EC9D4F2}"/>
              </a:ext>
            </a:extLst>
          </p:cNvPr>
          <p:cNvSpPr txBox="1"/>
          <p:nvPr/>
        </p:nvSpPr>
        <p:spPr>
          <a:xfrm>
            <a:off x="1689639" y="3706888"/>
            <a:ext cx="279072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MX" sz="2200" b="1" dirty="0">
                <a:solidFill>
                  <a:srgbClr val="143934"/>
                </a:solidFill>
                <a:effectLst/>
                <a:latin typeface="Gilroy Bold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¿Para qué?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5890FCF-F37A-4A83-9241-0B253C90C021}"/>
              </a:ext>
            </a:extLst>
          </p:cNvPr>
          <p:cNvSpPr txBox="1"/>
          <p:nvPr/>
        </p:nvSpPr>
        <p:spPr>
          <a:xfrm>
            <a:off x="1676258" y="3956072"/>
            <a:ext cx="5762509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endParaRPr lang="es-MX" b="1" dirty="0">
              <a:solidFill>
                <a:srgbClr val="143934"/>
              </a:solidFill>
              <a:latin typeface="Gilroy Bold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r>
              <a:rPr lang="es-MX" sz="160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Para adquirir la autonomía técnica necesaria para diseñar, ensamblar y reparar sistemas autónomos de iluminación y seguridad utilizando sensores infrarrojos (PIR HC-SR501) y módulos de relevadores.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0651CAC-F12C-4EDE-B186-487FA0F03587}"/>
              </a:ext>
            </a:extLst>
          </p:cNvPr>
          <p:cNvSpPr txBox="1"/>
          <p:nvPr/>
        </p:nvSpPr>
        <p:spPr>
          <a:xfrm>
            <a:off x="1707077" y="5219919"/>
            <a:ext cx="279072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MX" sz="2200" b="1" dirty="0">
                <a:solidFill>
                  <a:srgbClr val="143934"/>
                </a:solidFill>
                <a:latin typeface="Gilroy Bold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Impacto</a:t>
            </a:r>
            <a:endParaRPr lang="es-MX" sz="2200" b="1" dirty="0">
              <a:solidFill>
                <a:srgbClr val="143934"/>
              </a:solidFill>
              <a:effectLst/>
              <a:latin typeface="Gilroy Bold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CD2BC0D-24CD-42CD-B471-39659D6CCC26}"/>
              </a:ext>
            </a:extLst>
          </p:cNvPr>
          <p:cNvSpPr txBox="1"/>
          <p:nvPr/>
        </p:nvSpPr>
        <p:spPr>
          <a:xfrm>
            <a:off x="1689638" y="5435362"/>
            <a:ext cx="5762509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endParaRPr lang="es-MX" b="1" dirty="0">
              <a:solidFill>
                <a:srgbClr val="143934"/>
              </a:solidFill>
              <a:latin typeface="Gilroy Bold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r>
              <a:rPr lang="es-MX" sz="160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Resolver necesidades específicas de automatización, iluminación, seguridad y ahorro de energía en nuestra comunidad de forma sustentable y colaborativa.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72B72F67-BD64-42EB-A125-F21FEB4CE19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2797" b="11745"/>
          <a:stretch/>
        </p:blipFill>
        <p:spPr>
          <a:xfrm>
            <a:off x="10397193" y="0"/>
            <a:ext cx="1300977" cy="696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259964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F1304-0C0B-F417-2383-105DF572D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3338A5B-15EA-F163-E430-0C59462E2D79}"/>
              </a:ext>
            </a:extLst>
          </p:cNvPr>
          <p:cNvGrpSpPr/>
          <p:nvPr/>
        </p:nvGrpSpPr>
        <p:grpSpPr>
          <a:xfrm>
            <a:off x="955362" y="527411"/>
            <a:ext cx="331077" cy="6330589"/>
            <a:chOff x="0" y="0"/>
            <a:chExt cx="130796" cy="25009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AB4B53E-C004-EFF0-5542-20B1C2E89797}"/>
                </a:ext>
              </a:extLst>
            </p:cNvPr>
            <p:cNvSpPr/>
            <p:nvPr/>
          </p:nvSpPr>
          <p:spPr>
            <a:xfrm>
              <a:off x="0" y="0"/>
              <a:ext cx="130796" cy="2500973"/>
            </a:xfrm>
            <a:custGeom>
              <a:avLst/>
              <a:gdLst/>
              <a:ahLst/>
              <a:cxnLst/>
              <a:rect l="l" t="t" r="r" b="b"/>
              <a:pathLst>
                <a:path w="130796" h="2500973">
                  <a:moveTo>
                    <a:pt x="0" y="0"/>
                  </a:moveTo>
                  <a:lnTo>
                    <a:pt x="130796" y="0"/>
                  </a:lnTo>
                  <a:lnTo>
                    <a:pt x="130796" y="2500973"/>
                  </a:lnTo>
                  <a:lnTo>
                    <a:pt x="0" y="2500973"/>
                  </a:lnTo>
                  <a:close/>
                </a:path>
              </a:pathLst>
            </a:custGeom>
            <a:solidFill>
              <a:srgbClr val="731F3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68DF62F-E716-75ED-D257-FEB5FAEA0D77}"/>
                </a:ext>
              </a:extLst>
            </p:cNvPr>
            <p:cNvSpPr txBox="1"/>
            <p:nvPr/>
          </p:nvSpPr>
          <p:spPr>
            <a:xfrm>
              <a:off x="0" y="-57150"/>
              <a:ext cx="130796" cy="255812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239"/>
                </a:lnSpc>
              </a:pPr>
              <a:endParaRPr sz="933"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A9C6BBE1-C288-EF1B-64E6-CD771466C6BA}"/>
              </a:ext>
            </a:extLst>
          </p:cNvPr>
          <p:cNvSpPr/>
          <p:nvPr/>
        </p:nvSpPr>
        <p:spPr>
          <a:xfrm>
            <a:off x="2926249" y="0"/>
            <a:ext cx="6339502" cy="83168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7BC61C2-250F-B98D-3191-AFE5DB29DE2A}"/>
              </a:ext>
            </a:extLst>
          </p:cNvPr>
          <p:cNvSpPr/>
          <p:nvPr/>
        </p:nvSpPr>
        <p:spPr>
          <a:xfrm rot="-5400000">
            <a:off x="-1216339" y="2247388"/>
            <a:ext cx="4746799" cy="418605"/>
          </a:xfrm>
          <a:custGeom>
            <a:avLst/>
            <a:gdLst/>
            <a:ahLst/>
            <a:cxnLst/>
            <a:rect l="l" t="t" r="r" b="b"/>
            <a:pathLst>
              <a:path w="7120198" h="627907">
                <a:moveTo>
                  <a:pt x="0" y="0"/>
                </a:moveTo>
                <a:lnTo>
                  <a:pt x="7120197" y="0"/>
                </a:lnTo>
                <a:lnTo>
                  <a:pt x="7120197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159" b="-6159"/>
            </a:stretch>
          </a:blipFill>
        </p:spPr>
        <p:txBody>
          <a:bodyPr/>
          <a:lstStyle/>
          <a:p>
            <a:endParaRPr lang="es-MX" dirty="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7BE7010-8AD7-2651-F13D-300FD6DBFA8E}"/>
              </a:ext>
            </a:extLst>
          </p:cNvPr>
          <p:cNvSpPr/>
          <p:nvPr/>
        </p:nvSpPr>
        <p:spPr>
          <a:xfrm rot="-5400000">
            <a:off x="-956032" y="6733881"/>
            <a:ext cx="4226186" cy="418605"/>
          </a:xfrm>
          <a:custGeom>
            <a:avLst/>
            <a:gdLst/>
            <a:ahLst/>
            <a:cxnLst/>
            <a:rect l="l" t="t" r="r" b="b"/>
            <a:pathLst>
              <a:path w="6339279" h="627907">
                <a:moveTo>
                  <a:pt x="0" y="0"/>
                </a:moveTo>
                <a:lnTo>
                  <a:pt x="6339279" y="0"/>
                </a:lnTo>
                <a:lnTo>
                  <a:pt x="6339279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9D5935-6108-B2E7-994F-6FA308ACA211}"/>
              </a:ext>
            </a:extLst>
          </p:cNvPr>
          <p:cNvSpPr txBox="1"/>
          <p:nvPr/>
        </p:nvSpPr>
        <p:spPr>
          <a:xfrm rot="-5400000">
            <a:off x="-2383049" y="2822599"/>
            <a:ext cx="5988732" cy="766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743"/>
              </a:lnSpc>
            </a:pPr>
            <a:r>
              <a:rPr lang="en-US" sz="3200" b="1" dirty="0">
                <a:solidFill>
                  <a:srgbClr val="BF9F63"/>
                </a:solidFill>
                <a:latin typeface="Raleway Heavy"/>
                <a:ea typeface="Raleway Heavy"/>
                <a:cs typeface="Raleway Heavy"/>
                <a:sym typeface="Raleway Heavy"/>
              </a:rPr>
              <a:t>DE LOS PUEBLOS INDÍGENAS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E84C8D-6CD0-FAAD-9679-4C9E102D0855}"/>
              </a:ext>
            </a:extLst>
          </p:cNvPr>
          <p:cNvSpPr txBox="1"/>
          <p:nvPr/>
        </p:nvSpPr>
        <p:spPr>
          <a:xfrm rot="-5400000">
            <a:off x="-2691133" y="3106324"/>
            <a:ext cx="5629888" cy="1028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971"/>
              </a:lnSpc>
            </a:pPr>
            <a:r>
              <a:rPr lang="en-US" sz="4000" b="1" dirty="0">
                <a:solidFill>
                  <a:srgbClr val="890736"/>
                </a:solidFill>
                <a:latin typeface="Raleway Heavy"/>
                <a:ea typeface="Raleway Heavy"/>
                <a:cs typeface="Raleway Heavy"/>
                <a:sym typeface="Raleway Heavy"/>
              </a:rPr>
              <a:t>INSTITUTO POBLANO</a:t>
            </a:r>
          </a:p>
        </p:txBody>
      </p:sp>
      <p:sp>
        <p:nvSpPr>
          <p:cNvPr id="13" name="Google Shape;127;p16">
            <a:extLst>
              <a:ext uri="{FF2B5EF4-FFF2-40B4-BE49-F238E27FC236}">
                <a16:creationId xmlns:a16="http://schemas.microsoft.com/office/drawing/2014/main" id="{3C22F70F-9596-A558-D397-24DFCC8B7CB2}"/>
              </a:ext>
            </a:extLst>
          </p:cNvPr>
          <p:cNvSpPr txBox="1"/>
          <p:nvPr/>
        </p:nvSpPr>
        <p:spPr>
          <a:xfrm>
            <a:off x="707246" y="884917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dirty="0">
                <a:sym typeface="Poppins"/>
              </a:rPr>
              <a:t>Objetivos del Curso</a:t>
            </a:r>
            <a:endParaRPr lang="es-ES_tradnl" dirty="0"/>
          </a:p>
        </p:txBody>
      </p:sp>
      <p:sp>
        <p:nvSpPr>
          <p:cNvPr id="20" name="Google Shape;127;p16">
            <a:extLst>
              <a:ext uri="{FF2B5EF4-FFF2-40B4-BE49-F238E27FC236}">
                <a16:creationId xmlns:a16="http://schemas.microsoft.com/office/drawing/2014/main" id="{2417D9AB-895C-3A9E-D292-A89B83CBABC8}"/>
              </a:ext>
            </a:extLst>
          </p:cNvPr>
          <p:cNvSpPr txBox="1"/>
          <p:nvPr/>
        </p:nvSpPr>
        <p:spPr>
          <a:xfrm>
            <a:off x="2491837" y="4584051"/>
            <a:ext cx="2005963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dirty="0">
                <a:solidFill>
                  <a:schemeClr val="bg1"/>
                </a:solidFill>
                <a:sym typeface="Poppins"/>
              </a:rPr>
              <a:t>Mujeres</a:t>
            </a:r>
            <a:endParaRPr lang="es-ES_tradnl" dirty="0">
              <a:solidFill>
                <a:schemeClr val="bg1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A9F7845-F539-DF8B-F109-898D277E1A98}"/>
              </a:ext>
            </a:extLst>
          </p:cNvPr>
          <p:cNvSpPr txBox="1"/>
          <p:nvPr/>
        </p:nvSpPr>
        <p:spPr>
          <a:xfrm>
            <a:off x="1628114" y="1546547"/>
            <a:ext cx="840665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400" dirty="0">
                <a:solidFill>
                  <a:srgbClr val="334155"/>
                </a:solidFill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Objetivos particulares</a:t>
            </a:r>
            <a:r>
              <a:rPr lang="es-MX" sz="240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s-MX" sz="2400" dirty="0"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1800" dirty="0">
                <a:solidFill>
                  <a:srgbClr val="143934"/>
                </a:solidFill>
                <a:effectLst/>
                <a:latin typeface="Gilroy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MX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F00CE57-9DE5-9574-3522-9CE8E3236F31}"/>
              </a:ext>
            </a:extLst>
          </p:cNvPr>
          <p:cNvSpPr txBox="1"/>
          <p:nvPr/>
        </p:nvSpPr>
        <p:spPr>
          <a:xfrm>
            <a:off x="1606875" y="2415292"/>
            <a:ext cx="61309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endParaRPr lang="es-MX" b="1" dirty="0">
              <a:solidFill>
                <a:srgbClr val="143934"/>
              </a:solidFill>
              <a:latin typeface="Gilroy Bold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r>
              <a:rPr lang="es-MX" sz="160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dirty="0">
                <a:solidFill>
                  <a:srgbClr val="334155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Aprender qué es la radiación infrarroja (calor corporal) y los principios de funcionamiento de la detección pasiva (PIR), comprendiendo cómo los cambios de temperatura emitidos por un cuerpo se interpretan como movimiento.</a:t>
            </a:r>
            <a:endParaRPr lang="es-MX" sz="1600" dirty="0">
              <a:solidFill>
                <a:srgbClr val="334155"/>
              </a:solidFill>
              <a:effectLst/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2BF9D055-7820-D1FE-2964-0C0B9DC6A10D}"/>
              </a:ext>
            </a:extLst>
          </p:cNvPr>
          <p:cNvSpPr txBox="1"/>
          <p:nvPr/>
        </p:nvSpPr>
        <p:spPr>
          <a:xfrm>
            <a:off x="1558786" y="2173084"/>
            <a:ext cx="516151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MX" sz="2200" b="1" dirty="0">
                <a:solidFill>
                  <a:srgbClr val="334155"/>
                </a:solidFill>
                <a:effectLst/>
                <a:latin typeface="Gilroy Bold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Tema 1: El lenguaje del calor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D78F1D7-0A44-4341-869F-D16E2EC9D4F2}"/>
              </a:ext>
            </a:extLst>
          </p:cNvPr>
          <p:cNvSpPr txBox="1"/>
          <p:nvPr/>
        </p:nvSpPr>
        <p:spPr>
          <a:xfrm>
            <a:off x="1558784" y="3727621"/>
            <a:ext cx="652253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MX" sz="2200" b="1" dirty="0">
                <a:solidFill>
                  <a:srgbClr val="334155"/>
                </a:solidFill>
                <a:effectLst/>
                <a:latin typeface="Gilroy Bold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Tema 2: Decodificando el sexto sentido</a:t>
            </a:r>
          </a:p>
          <a:p>
            <a:pPr lvl="0" algn="just">
              <a:buSzPts val="1000"/>
              <a:tabLst>
                <a:tab pos="457200" algn="l"/>
              </a:tabLst>
            </a:pPr>
            <a:endParaRPr lang="es-MX" sz="2000" b="1" dirty="0">
              <a:solidFill>
                <a:srgbClr val="143934"/>
              </a:solidFill>
              <a:effectLst/>
              <a:latin typeface="Gilroy Bold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5890FCF-F37A-4A83-9241-0B253C90C021}"/>
              </a:ext>
            </a:extLst>
          </p:cNvPr>
          <p:cNvSpPr txBox="1"/>
          <p:nvPr/>
        </p:nvSpPr>
        <p:spPr>
          <a:xfrm>
            <a:off x="1606875" y="3942974"/>
            <a:ext cx="611697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endParaRPr lang="es-MX" b="1" dirty="0">
              <a:solidFill>
                <a:srgbClr val="143934"/>
              </a:solidFill>
              <a:latin typeface="Gilroy Bold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r>
              <a:rPr lang="es-MX" dirty="0">
                <a:solidFill>
                  <a:srgbClr val="334155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Analizar el funcionamiento del sensor infrarrojo (PIR HC-SR501) en conjunto con un módulo relevador, y comprender la relación técnica entre los ajustes físicos de calibración (sensibilidad y tiempo), la señal digital emitida (3.3V) y la conmutación de potencia eléctrica (encendido/apagado) generada por el relé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0651CAC-F12C-4EDE-B186-487FA0F03587}"/>
              </a:ext>
            </a:extLst>
          </p:cNvPr>
          <p:cNvSpPr txBox="1"/>
          <p:nvPr/>
        </p:nvSpPr>
        <p:spPr>
          <a:xfrm>
            <a:off x="1558786" y="5357653"/>
            <a:ext cx="476795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MX" sz="2200" b="1" dirty="0">
                <a:solidFill>
                  <a:srgbClr val="334155"/>
                </a:solidFill>
                <a:effectLst/>
                <a:latin typeface="Gilroy Bold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Tema 3:  Ensamblaje </a:t>
            </a:r>
            <a:r>
              <a:rPr lang="es-MX" sz="2200" b="1" dirty="0">
                <a:solidFill>
                  <a:srgbClr val="334155"/>
                </a:solidFill>
                <a:latin typeface="Gilroy Bold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del centinela</a:t>
            </a:r>
            <a:endParaRPr lang="es-MX" sz="2200" b="1" dirty="0">
              <a:solidFill>
                <a:srgbClr val="334155"/>
              </a:solidFill>
              <a:effectLst/>
              <a:latin typeface="Gilroy Bold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endParaRPr lang="es-MX" sz="2000" b="1" dirty="0">
              <a:solidFill>
                <a:srgbClr val="143934"/>
              </a:solidFill>
              <a:effectLst/>
              <a:latin typeface="Gilroy Bold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CD2BC0D-24CD-42CD-B471-39659D6CCC26}"/>
              </a:ext>
            </a:extLst>
          </p:cNvPr>
          <p:cNvSpPr txBox="1"/>
          <p:nvPr/>
        </p:nvSpPr>
        <p:spPr>
          <a:xfrm>
            <a:off x="1558786" y="5784616"/>
            <a:ext cx="61169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MX" dirty="0">
                <a:solidFill>
                  <a:srgbClr val="334155"/>
                </a:solidFill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Construir, calibrar y poner a prueba nuestro propio prototipo funcional del sistema autónomo (sensor PIR y relevador).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5FEC261E-103A-44BA-A16A-EAA5D505A7C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2170" b="13637"/>
          <a:stretch/>
        </p:blipFill>
        <p:spPr>
          <a:xfrm>
            <a:off x="10429103" y="1"/>
            <a:ext cx="1383237" cy="691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91311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1F3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0B1C87-F5D4-0A85-96AC-15D28E490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FD57FC1-F960-12B0-4CAA-A48F42EE98DC}"/>
              </a:ext>
            </a:extLst>
          </p:cNvPr>
          <p:cNvSpPr/>
          <p:nvPr/>
        </p:nvSpPr>
        <p:spPr>
          <a:xfrm>
            <a:off x="2925402" y="121482"/>
            <a:ext cx="6796529" cy="831882"/>
          </a:xfrm>
          <a:custGeom>
            <a:avLst/>
            <a:gdLst/>
            <a:ahLst/>
            <a:cxnLst/>
            <a:rect l="l" t="t" r="r" b="b"/>
            <a:pathLst>
              <a:path w="10194793" h="1247823">
                <a:moveTo>
                  <a:pt x="0" y="0"/>
                </a:moveTo>
                <a:lnTo>
                  <a:pt x="10194793" y="0"/>
                </a:lnTo>
                <a:lnTo>
                  <a:pt x="10194793" y="1247822"/>
                </a:lnTo>
                <a:lnTo>
                  <a:pt x="0" y="12478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1479578-777A-EE8D-E30E-B8D2CFF694CA}"/>
              </a:ext>
            </a:extLst>
          </p:cNvPr>
          <p:cNvSpPr/>
          <p:nvPr/>
        </p:nvSpPr>
        <p:spPr>
          <a:xfrm>
            <a:off x="-112145" y="5148749"/>
            <a:ext cx="2361076" cy="1709251"/>
          </a:xfrm>
          <a:custGeom>
            <a:avLst/>
            <a:gdLst/>
            <a:ahLst/>
            <a:cxnLst/>
            <a:rect l="l" t="t" r="r" b="b"/>
            <a:pathLst>
              <a:path w="4291897" h="2950450">
                <a:moveTo>
                  <a:pt x="0" y="0"/>
                </a:moveTo>
                <a:lnTo>
                  <a:pt x="4291897" y="0"/>
                </a:lnTo>
                <a:lnTo>
                  <a:pt x="4291897" y="2950450"/>
                </a:lnTo>
                <a:lnTo>
                  <a:pt x="0" y="2950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46CD0B7D-4483-6258-193F-0FD8F701473F}"/>
              </a:ext>
            </a:extLst>
          </p:cNvPr>
          <p:cNvSpPr/>
          <p:nvPr/>
        </p:nvSpPr>
        <p:spPr>
          <a:xfrm rot="-5400000">
            <a:off x="-1893408" y="2014976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3D39432-FA29-F5F1-0D85-81984445B87B}"/>
              </a:ext>
            </a:extLst>
          </p:cNvPr>
          <p:cNvSpPr txBox="1"/>
          <p:nvPr/>
        </p:nvSpPr>
        <p:spPr>
          <a:xfrm>
            <a:off x="6092826" y="3290359"/>
            <a:ext cx="6350" cy="223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1867"/>
              </a:lnSpc>
              <a:buClrTx/>
            </a:pPr>
            <a:endParaRPr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932B3E1A-6CC1-18EF-8DDA-F0CA13EAB758}"/>
              </a:ext>
            </a:extLst>
          </p:cNvPr>
          <p:cNvSpPr/>
          <p:nvPr/>
        </p:nvSpPr>
        <p:spPr>
          <a:xfrm rot="-5400000">
            <a:off x="-1261528" y="1024291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Google Shape;213;p23">
            <a:extLst>
              <a:ext uri="{FF2B5EF4-FFF2-40B4-BE49-F238E27FC236}">
                <a16:creationId xmlns:a16="http://schemas.microsoft.com/office/drawing/2014/main" id="{3D8DD08D-3AB0-5846-2CEF-6758AB374D65}"/>
              </a:ext>
            </a:extLst>
          </p:cNvPr>
          <p:cNvSpPr txBox="1"/>
          <p:nvPr/>
        </p:nvSpPr>
        <p:spPr>
          <a:xfrm>
            <a:off x="3424253" y="911238"/>
            <a:ext cx="593072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s-ES" sz="2800" b="1" dirty="0">
                <a:solidFill>
                  <a:srgbClr val="CC965B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Forma de Evaluación del Curso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F444E76-E91C-CD39-A05E-3BE2CBDB2B80}"/>
              </a:ext>
            </a:extLst>
          </p:cNvPr>
          <p:cNvSpPr txBox="1"/>
          <p:nvPr/>
        </p:nvSpPr>
        <p:spPr>
          <a:xfrm>
            <a:off x="2315771" y="1624035"/>
            <a:ext cx="937604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just">
              <a:defRPr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roy" pitchFamily="2" charset="77"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es-MX" sz="1600" dirty="0">
                <a:effectLst/>
                <a:latin typeface="Gilroy Bold" panose="00000800000000000000" charset="0"/>
              </a:rPr>
              <a:t>Mínimo aprobatorio: </a:t>
            </a:r>
            <a:r>
              <a:rPr lang="es-MX" sz="1600" u="sng" dirty="0">
                <a:effectLst/>
                <a:latin typeface="Gilroy Bold" panose="00000800000000000000" charset="0"/>
              </a:rPr>
              <a:t>80% de la calificación total</a:t>
            </a:r>
            <a:endParaRPr lang="es-MX" sz="1600" dirty="0">
              <a:effectLst/>
              <a:latin typeface="Gilroy Bold" panose="00000800000000000000" charset="0"/>
            </a:endParaRPr>
          </a:p>
          <a:p>
            <a:endParaRPr lang="es-MX" sz="1600" dirty="0">
              <a:effectLst/>
              <a:latin typeface="Gilroy Bold" panose="00000800000000000000" charset="0"/>
            </a:endParaRPr>
          </a:p>
          <a:p>
            <a:r>
              <a:rPr lang="es-MX" sz="1600" dirty="0">
                <a:effectLst/>
                <a:latin typeface="Gilroy Bold" panose="00000800000000000000" charset="0"/>
              </a:rPr>
              <a:t>Criterios de Evaluación :</a:t>
            </a:r>
          </a:p>
          <a:p>
            <a:endParaRPr lang="es-MX" sz="1600" dirty="0">
              <a:effectLst/>
              <a:latin typeface="Gilroy Bold" panose="00000800000000000000" charset="0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s-MX" sz="1600" dirty="0">
                <a:effectLst/>
                <a:latin typeface="Gilroy Bold" panose="00000800000000000000" charset="0"/>
              </a:rPr>
              <a:t>0% | Diagnóstica (Al inicio): Cuestionario para conocer el nivel previo de los participantes. (No afecta la calificación).</a:t>
            </a:r>
          </a:p>
          <a:p>
            <a:pPr>
              <a:buClr>
                <a:schemeClr val="bg1"/>
              </a:buClr>
            </a:pPr>
            <a:endParaRPr lang="es-MX" sz="1600" dirty="0">
              <a:effectLst/>
              <a:latin typeface="Gilroy Bold" panose="00000800000000000000" charset="0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s-MX" sz="1600" dirty="0">
                <a:effectLst/>
                <a:latin typeface="Gilroy Bold" panose="00000800000000000000" charset="0"/>
              </a:rPr>
              <a:t>25% | Desempeño (Durante el desarrollo): Guía de observación para evaluar la habilidad técnica y el uso seguro de las herramientas y materiales.</a:t>
            </a:r>
          </a:p>
          <a:p>
            <a:pPr>
              <a:buClr>
                <a:schemeClr val="bg1"/>
              </a:buClr>
            </a:pPr>
            <a:endParaRPr lang="es-MX" sz="1600" dirty="0">
              <a:effectLst/>
              <a:latin typeface="Gilroy Bold" panose="00000800000000000000" charset="0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s-MX" sz="1600" dirty="0">
                <a:effectLst/>
                <a:latin typeface="Gilroy Bold" panose="00000800000000000000" charset="0"/>
              </a:rPr>
              <a:t>25% | Producto (Al terminar la práctica): Lista de cotejo para validar que el resultado final cumple con los estándares de calidad y funcionalidad requeridos.</a:t>
            </a:r>
          </a:p>
          <a:p>
            <a:pPr>
              <a:buClr>
                <a:schemeClr val="bg1"/>
              </a:buClr>
            </a:pPr>
            <a:endParaRPr lang="es-MX" sz="1600" dirty="0">
              <a:effectLst/>
              <a:latin typeface="Gilroy Bold" panose="00000800000000000000" charset="0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s-MX" sz="1600" dirty="0">
                <a:effectLst/>
                <a:latin typeface="Gilroy Bold" panose="00000800000000000000" charset="0"/>
              </a:rPr>
              <a:t>25% | Conocimientos (Durante el desarrollo): Cuestionario de evaluación intermedia para reforzar y validar los conceptos teóricos revisados.</a:t>
            </a:r>
          </a:p>
          <a:p>
            <a:pPr>
              <a:buClr>
                <a:schemeClr val="bg1"/>
              </a:buClr>
            </a:pPr>
            <a:endParaRPr lang="es-MX" sz="1600" dirty="0">
              <a:effectLst/>
              <a:latin typeface="Gilroy Bold" panose="00000800000000000000" charset="0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s-MX" sz="1600" dirty="0">
                <a:effectLst/>
                <a:latin typeface="Gilroy Bold" panose="00000800000000000000" charset="0"/>
              </a:rPr>
              <a:t>25% | Final (Al cierre): Cuestionario sumativo para evaluar la comprensión total de los temas y objetivos alcanzados durante el curso.</a:t>
            </a:r>
          </a:p>
        </p:txBody>
      </p:sp>
    </p:spTree>
    <p:extLst>
      <p:ext uri="{BB962C8B-B14F-4D97-AF65-F5344CB8AC3E}">
        <p14:creationId xmlns:p14="http://schemas.microsoft.com/office/powerpoint/2010/main" val="3660241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6BB3014-8A42-F116-B81E-B01CBB2D7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3E64E5FF-E45E-E8D6-836B-BBE4B9DF5216}"/>
              </a:ext>
            </a:extLst>
          </p:cNvPr>
          <p:cNvSpPr txBox="1"/>
          <p:nvPr/>
        </p:nvSpPr>
        <p:spPr>
          <a:xfrm>
            <a:off x="1581150" y="3060501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422F3E75-A0AE-F7B6-1E39-C25EBB46E72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057B204-8846-CB86-BD39-C4279F67F259}"/>
              </a:ext>
            </a:extLst>
          </p:cNvPr>
          <p:cNvSpPr/>
          <p:nvPr/>
        </p:nvSpPr>
        <p:spPr>
          <a:xfrm>
            <a:off x="1337733" y="2065867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DDF6F62-9EBE-BE0B-9634-40ED87258CE6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4FD423F4-6D19-B402-DA87-BCEE18D395AE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6" name="Freeform 9">
            <a:extLst>
              <a:ext uri="{FF2B5EF4-FFF2-40B4-BE49-F238E27FC236}">
                <a16:creationId xmlns:a16="http://schemas.microsoft.com/office/drawing/2014/main" id="{0D243DBE-94E1-4DAD-F7DB-4F4FE07049A1}"/>
              </a:ext>
            </a:extLst>
          </p:cNvPr>
          <p:cNvSpPr/>
          <p:nvPr/>
        </p:nvSpPr>
        <p:spPr>
          <a:xfrm>
            <a:off x="-122573" y="4710434"/>
            <a:ext cx="2714388" cy="2159324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5666B828-5812-359C-CBB6-67822090FA5B}"/>
              </a:ext>
            </a:extLst>
          </p:cNvPr>
          <p:cNvSpPr/>
          <p:nvPr/>
        </p:nvSpPr>
        <p:spPr>
          <a:xfrm flipH="1">
            <a:off x="9562386" y="4805217"/>
            <a:ext cx="2714389" cy="2064215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674DD78D-9805-FDBB-62C1-DE2C4119D457}"/>
              </a:ext>
            </a:extLst>
          </p:cNvPr>
          <p:cNvGrpSpPr/>
          <p:nvPr/>
        </p:nvGrpSpPr>
        <p:grpSpPr>
          <a:xfrm>
            <a:off x="506106" y="0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C39AA36-E302-3E00-D0BC-B502BFD305E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0966DFBD-816C-6F1A-7E16-9592F14C804F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>
                <a:solidFill>
                  <a:srgbClr val="CC965B"/>
                </a:solidFill>
              </a:endParaRPr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85E0A163-F8F2-7421-D7FD-8BB65FC5AE9A}"/>
              </a:ext>
            </a:extLst>
          </p:cNvPr>
          <p:cNvGrpSpPr/>
          <p:nvPr/>
        </p:nvGrpSpPr>
        <p:grpSpPr>
          <a:xfrm>
            <a:off x="11374828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A49685A9-EF15-33D0-582A-5C58E9F3CA8B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1FA2B6DC-276B-C43D-B4CC-69FD7BFE4AF4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73E83148-1DB5-CB44-47A0-5B3A23CB9E1D}"/>
              </a:ext>
            </a:extLst>
          </p:cNvPr>
          <p:cNvSpPr txBox="1"/>
          <p:nvPr/>
        </p:nvSpPr>
        <p:spPr>
          <a:xfrm>
            <a:off x="1903450" y="1038940"/>
            <a:ext cx="865659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dirty="0">
                <a:solidFill>
                  <a:srgbClr val="890736"/>
                </a:solidFill>
                <a:latin typeface="Montserrat" pitchFamily="2" charset="77"/>
              </a:rPr>
              <a:t>Reglas de Operación y Convivencia</a:t>
            </a:r>
            <a:endParaRPr lang="es-ES" sz="2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995B7AE-A5DE-9D44-52DB-F7D19FE952B8}"/>
              </a:ext>
            </a:extLst>
          </p:cNvPr>
          <p:cNvSpPr txBox="1"/>
          <p:nvPr/>
        </p:nvSpPr>
        <p:spPr>
          <a:xfrm>
            <a:off x="1780104" y="1883659"/>
            <a:ext cx="913947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• Seguridad ante todo: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Uso obligatorio de equipo de protección (gafas y guantes) al usar herramientas térmicas o de corte.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• Filosofía "Tequio":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Fomentar el trabajo colaborativo; si terminas tu ensamble, apoya a los compañeros de tu isla.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• Uso sustentable: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Manejar con responsabilidad los materiales recuperados y devolver las herramientas a su lugar.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• Respeto y participación: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Escuchar atentamente a quien tenga la palabra y preguntar cualquier duda técnica en el momento.</a:t>
            </a:r>
            <a:endParaRPr lang="es-MX" sz="2000" dirty="0">
              <a:latin typeface="Gilroy-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4734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6BB3014-8A42-F116-B81E-B01CBB2D7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3E64E5FF-E45E-E8D6-836B-BBE4B9DF5216}"/>
              </a:ext>
            </a:extLst>
          </p:cNvPr>
          <p:cNvSpPr txBox="1"/>
          <p:nvPr/>
        </p:nvSpPr>
        <p:spPr>
          <a:xfrm>
            <a:off x="1581150" y="3060501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422F3E75-A0AE-F7B6-1E39-C25EBB46E72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057B204-8846-CB86-BD39-C4279F67F259}"/>
              </a:ext>
            </a:extLst>
          </p:cNvPr>
          <p:cNvSpPr/>
          <p:nvPr/>
        </p:nvSpPr>
        <p:spPr>
          <a:xfrm>
            <a:off x="1337733" y="2065867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DDF6F62-9EBE-BE0B-9634-40ED87258CE6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4FD423F4-6D19-B402-DA87-BCEE18D395AE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6" name="Freeform 9">
            <a:extLst>
              <a:ext uri="{FF2B5EF4-FFF2-40B4-BE49-F238E27FC236}">
                <a16:creationId xmlns:a16="http://schemas.microsoft.com/office/drawing/2014/main" id="{0D243DBE-94E1-4DAD-F7DB-4F4FE07049A1}"/>
              </a:ext>
            </a:extLst>
          </p:cNvPr>
          <p:cNvSpPr/>
          <p:nvPr/>
        </p:nvSpPr>
        <p:spPr>
          <a:xfrm>
            <a:off x="-122573" y="4710434"/>
            <a:ext cx="2714388" cy="2159324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5666B828-5812-359C-CBB6-67822090FA5B}"/>
              </a:ext>
            </a:extLst>
          </p:cNvPr>
          <p:cNvSpPr/>
          <p:nvPr/>
        </p:nvSpPr>
        <p:spPr>
          <a:xfrm flipH="1">
            <a:off x="9562386" y="4805217"/>
            <a:ext cx="2714389" cy="2064215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674DD78D-9805-FDBB-62C1-DE2C4119D457}"/>
              </a:ext>
            </a:extLst>
          </p:cNvPr>
          <p:cNvGrpSpPr/>
          <p:nvPr/>
        </p:nvGrpSpPr>
        <p:grpSpPr>
          <a:xfrm>
            <a:off x="506106" y="0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C39AA36-E302-3E00-D0BC-B502BFD305E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0966DFBD-816C-6F1A-7E16-9592F14C804F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>
                <a:solidFill>
                  <a:srgbClr val="CC965B"/>
                </a:solidFill>
              </a:endParaRPr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85E0A163-F8F2-7421-D7FD-8BB65FC5AE9A}"/>
              </a:ext>
            </a:extLst>
          </p:cNvPr>
          <p:cNvGrpSpPr/>
          <p:nvPr/>
        </p:nvGrpSpPr>
        <p:grpSpPr>
          <a:xfrm>
            <a:off x="11374828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A49685A9-EF15-33D0-582A-5C58E9F3CA8B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1FA2B6DC-276B-C43D-B4CC-69FD7BFE4AF4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73E83148-1DB5-CB44-47A0-5B3A23CB9E1D}"/>
              </a:ext>
            </a:extLst>
          </p:cNvPr>
          <p:cNvSpPr txBox="1"/>
          <p:nvPr/>
        </p:nvSpPr>
        <p:spPr>
          <a:xfrm>
            <a:off x="1903450" y="1038940"/>
            <a:ext cx="865659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dirty="0">
                <a:solidFill>
                  <a:srgbClr val="890736"/>
                </a:solidFill>
                <a:latin typeface="Montserrat" pitchFamily="2" charset="77"/>
              </a:rPr>
              <a:t>Equipo de Seguridad</a:t>
            </a:r>
            <a:endParaRPr lang="es-ES" sz="2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4E28E5C-F654-4287-8C38-4AC2BC71E5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210" y="1512425"/>
            <a:ext cx="11025717" cy="4893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817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6BB3014-8A42-F116-B81E-B01CBB2D7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3E64E5FF-E45E-E8D6-836B-BBE4B9DF5216}"/>
              </a:ext>
            </a:extLst>
          </p:cNvPr>
          <p:cNvSpPr txBox="1"/>
          <p:nvPr/>
        </p:nvSpPr>
        <p:spPr>
          <a:xfrm>
            <a:off x="1581150" y="3060501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422F3E75-A0AE-F7B6-1E39-C25EBB46E72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057B204-8846-CB86-BD39-C4279F67F259}"/>
              </a:ext>
            </a:extLst>
          </p:cNvPr>
          <p:cNvSpPr/>
          <p:nvPr/>
        </p:nvSpPr>
        <p:spPr>
          <a:xfrm>
            <a:off x="1337733" y="2065867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DDF6F62-9EBE-BE0B-9634-40ED87258CE6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4FD423F4-6D19-B402-DA87-BCEE18D395AE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6" name="Freeform 9">
            <a:extLst>
              <a:ext uri="{FF2B5EF4-FFF2-40B4-BE49-F238E27FC236}">
                <a16:creationId xmlns:a16="http://schemas.microsoft.com/office/drawing/2014/main" id="{0D243DBE-94E1-4DAD-F7DB-4F4FE07049A1}"/>
              </a:ext>
            </a:extLst>
          </p:cNvPr>
          <p:cNvSpPr/>
          <p:nvPr/>
        </p:nvSpPr>
        <p:spPr>
          <a:xfrm>
            <a:off x="-122573" y="4710434"/>
            <a:ext cx="2714388" cy="2159324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5666B828-5812-359C-CBB6-67822090FA5B}"/>
              </a:ext>
            </a:extLst>
          </p:cNvPr>
          <p:cNvSpPr/>
          <p:nvPr/>
        </p:nvSpPr>
        <p:spPr>
          <a:xfrm flipH="1">
            <a:off x="9562386" y="4805217"/>
            <a:ext cx="2714389" cy="2064215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674DD78D-9805-FDBB-62C1-DE2C4119D457}"/>
              </a:ext>
            </a:extLst>
          </p:cNvPr>
          <p:cNvGrpSpPr/>
          <p:nvPr/>
        </p:nvGrpSpPr>
        <p:grpSpPr>
          <a:xfrm>
            <a:off x="506106" y="0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C39AA36-E302-3E00-D0BC-B502BFD305E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0966DFBD-816C-6F1A-7E16-9592F14C804F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>
                <a:solidFill>
                  <a:srgbClr val="CC965B"/>
                </a:solidFill>
              </a:endParaRPr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85E0A163-F8F2-7421-D7FD-8BB65FC5AE9A}"/>
              </a:ext>
            </a:extLst>
          </p:cNvPr>
          <p:cNvGrpSpPr/>
          <p:nvPr/>
        </p:nvGrpSpPr>
        <p:grpSpPr>
          <a:xfrm>
            <a:off x="11374828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A49685A9-EF15-33D0-582A-5C58E9F3CA8B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1FA2B6DC-276B-C43D-B4CC-69FD7BFE4AF4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73E83148-1DB5-CB44-47A0-5B3A23CB9E1D}"/>
              </a:ext>
            </a:extLst>
          </p:cNvPr>
          <p:cNvSpPr txBox="1"/>
          <p:nvPr/>
        </p:nvSpPr>
        <p:spPr>
          <a:xfrm>
            <a:off x="1903450" y="1038940"/>
            <a:ext cx="865659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dirty="0">
                <a:solidFill>
                  <a:srgbClr val="890736"/>
                </a:solidFill>
                <a:latin typeface="Montserrat" pitchFamily="2" charset="77"/>
              </a:rPr>
              <a:t>Espacio Ventilado</a:t>
            </a:r>
            <a:endParaRPr lang="es-ES" sz="2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D7AD0A0-8B83-41AF-8B33-7C8F41415F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774" y="1479430"/>
            <a:ext cx="10238452" cy="4683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687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6BB3014-8A42-F116-B81E-B01CBB2D7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3E64E5FF-E45E-E8D6-836B-BBE4B9DF5216}"/>
              </a:ext>
            </a:extLst>
          </p:cNvPr>
          <p:cNvSpPr txBox="1"/>
          <p:nvPr/>
        </p:nvSpPr>
        <p:spPr>
          <a:xfrm>
            <a:off x="1581150" y="3060501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422F3E75-A0AE-F7B6-1E39-C25EBB46E72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057B204-8846-CB86-BD39-C4279F67F259}"/>
              </a:ext>
            </a:extLst>
          </p:cNvPr>
          <p:cNvSpPr/>
          <p:nvPr/>
        </p:nvSpPr>
        <p:spPr>
          <a:xfrm>
            <a:off x="1337733" y="2065867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DDF6F62-9EBE-BE0B-9634-40ED87258CE6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4FD423F4-6D19-B402-DA87-BCEE18D395AE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6" name="Freeform 9">
            <a:extLst>
              <a:ext uri="{FF2B5EF4-FFF2-40B4-BE49-F238E27FC236}">
                <a16:creationId xmlns:a16="http://schemas.microsoft.com/office/drawing/2014/main" id="{0D243DBE-94E1-4DAD-F7DB-4F4FE07049A1}"/>
              </a:ext>
            </a:extLst>
          </p:cNvPr>
          <p:cNvSpPr/>
          <p:nvPr/>
        </p:nvSpPr>
        <p:spPr>
          <a:xfrm>
            <a:off x="-122573" y="4710434"/>
            <a:ext cx="2714388" cy="2159324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5666B828-5812-359C-CBB6-67822090FA5B}"/>
              </a:ext>
            </a:extLst>
          </p:cNvPr>
          <p:cNvSpPr/>
          <p:nvPr/>
        </p:nvSpPr>
        <p:spPr>
          <a:xfrm flipH="1">
            <a:off x="9562386" y="4805217"/>
            <a:ext cx="2714389" cy="2064215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674DD78D-9805-FDBB-62C1-DE2C4119D457}"/>
              </a:ext>
            </a:extLst>
          </p:cNvPr>
          <p:cNvGrpSpPr/>
          <p:nvPr/>
        </p:nvGrpSpPr>
        <p:grpSpPr>
          <a:xfrm>
            <a:off x="506106" y="0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C39AA36-E302-3E00-D0BC-B502BFD305E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0966DFBD-816C-6F1A-7E16-9592F14C804F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>
                <a:solidFill>
                  <a:srgbClr val="CC965B"/>
                </a:solidFill>
              </a:endParaRPr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85E0A163-F8F2-7421-D7FD-8BB65FC5AE9A}"/>
              </a:ext>
            </a:extLst>
          </p:cNvPr>
          <p:cNvGrpSpPr/>
          <p:nvPr/>
        </p:nvGrpSpPr>
        <p:grpSpPr>
          <a:xfrm>
            <a:off x="11374828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A49685A9-EF15-33D0-582A-5C58E9F3CA8B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1FA2B6DC-276B-C43D-B4CC-69FD7BFE4AF4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73E83148-1DB5-CB44-47A0-5B3A23CB9E1D}"/>
              </a:ext>
            </a:extLst>
          </p:cNvPr>
          <p:cNvSpPr txBox="1"/>
          <p:nvPr/>
        </p:nvSpPr>
        <p:spPr>
          <a:xfrm>
            <a:off x="1903450" y="1038940"/>
            <a:ext cx="865659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dirty="0">
                <a:solidFill>
                  <a:srgbClr val="890736"/>
                </a:solidFill>
                <a:latin typeface="Montserrat" pitchFamily="2" charset="77"/>
              </a:rPr>
              <a:t>Uso del espacio</a:t>
            </a:r>
            <a:endParaRPr lang="es-ES" sz="28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C7E0463-4A13-4EFC-A26F-C962574BEF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628" y="605899"/>
            <a:ext cx="10598207" cy="591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7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6BB3014-8A42-F116-B81E-B01CBB2D7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3E64E5FF-E45E-E8D6-836B-BBE4B9DF5216}"/>
              </a:ext>
            </a:extLst>
          </p:cNvPr>
          <p:cNvSpPr txBox="1"/>
          <p:nvPr/>
        </p:nvSpPr>
        <p:spPr>
          <a:xfrm>
            <a:off x="1581150" y="3060501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422F3E75-A0AE-F7B6-1E39-C25EBB46E72F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057B204-8846-CB86-BD39-C4279F67F259}"/>
              </a:ext>
            </a:extLst>
          </p:cNvPr>
          <p:cNvSpPr/>
          <p:nvPr/>
        </p:nvSpPr>
        <p:spPr>
          <a:xfrm>
            <a:off x="1337733" y="2065867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DDF6F62-9EBE-BE0B-9634-40ED87258CE6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4FD423F4-6D19-B402-DA87-BCEE18D395AE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6" name="Freeform 9">
            <a:extLst>
              <a:ext uri="{FF2B5EF4-FFF2-40B4-BE49-F238E27FC236}">
                <a16:creationId xmlns:a16="http://schemas.microsoft.com/office/drawing/2014/main" id="{0D243DBE-94E1-4DAD-F7DB-4F4FE07049A1}"/>
              </a:ext>
            </a:extLst>
          </p:cNvPr>
          <p:cNvSpPr/>
          <p:nvPr/>
        </p:nvSpPr>
        <p:spPr>
          <a:xfrm>
            <a:off x="-122573" y="4710434"/>
            <a:ext cx="2714388" cy="2159324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5666B828-5812-359C-CBB6-67822090FA5B}"/>
              </a:ext>
            </a:extLst>
          </p:cNvPr>
          <p:cNvSpPr/>
          <p:nvPr/>
        </p:nvSpPr>
        <p:spPr>
          <a:xfrm flipH="1">
            <a:off x="9562386" y="4805217"/>
            <a:ext cx="2714389" cy="2064215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674DD78D-9805-FDBB-62C1-DE2C4119D457}"/>
              </a:ext>
            </a:extLst>
          </p:cNvPr>
          <p:cNvGrpSpPr/>
          <p:nvPr/>
        </p:nvGrpSpPr>
        <p:grpSpPr>
          <a:xfrm>
            <a:off x="506106" y="0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C39AA36-E302-3E00-D0BC-B502BFD305E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0966DFBD-816C-6F1A-7E16-9592F14C804F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>
                <a:solidFill>
                  <a:srgbClr val="CC965B"/>
                </a:solidFill>
              </a:endParaRPr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85E0A163-F8F2-7421-D7FD-8BB65FC5AE9A}"/>
              </a:ext>
            </a:extLst>
          </p:cNvPr>
          <p:cNvGrpSpPr/>
          <p:nvPr/>
        </p:nvGrpSpPr>
        <p:grpSpPr>
          <a:xfrm>
            <a:off x="11374828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A49685A9-EF15-33D0-582A-5C58E9F3CA8B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1FA2B6DC-276B-C43D-B4CC-69FD7BFE4AF4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73E83148-1DB5-CB44-47A0-5B3A23CB9E1D}"/>
              </a:ext>
            </a:extLst>
          </p:cNvPr>
          <p:cNvSpPr txBox="1"/>
          <p:nvPr/>
        </p:nvSpPr>
        <p:spPr>
          <a:xfrm>
            <a:off x="1903450" y="1038940"/>
            <a:ext cx="865659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rgbClr val="890736"/>
                </a:solidFill>
                <a:latin typeface="Montserrat" pitchFamily="2" charset="77"/>
              </a:rPr>
              <a:t>Contrato de Aprendizaje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995B7AE-A5DE-9D44-52DB-F7D19FE952B8}"/>
              </a:ext>
            </a:extLst>
          </p:cNvPr>
          <p:cNvSpPr txBox="1"/>
          <p:nvPr/>
        </p:nvSpPr>
        <p:spPr>
          <a:xfrm>
            <a:off x="1581149" y="1883659"/>
            <a:ext cx="9133373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kern="0" dirty="0">
                <a:solidFill>
                  <a:srgbClr val="334155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El </a:t>
            </a:r>
            <a:r>
              <a:rPr lang="es-MX" sz="2000" kern="0" dirty="0">
                <a:solidFill>
                  <a:srgbClr val="334155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Grupo</a:t>
            </a:r>
            <a:r>
              <a:rPr lang="es-MX" sz="2000" kern="0" dirty="0">
                <a:solidFill>
                  <a:srgbClr val="334155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se compromete a:</a:t>
            </a:r>
          </a:p>
          <a:p>
            <a:r>
              <a:rPr lang="es-MX" sz="2000" kern="0" dirty="0">
                <a:solidFill>
                  <a:srgbClr val="334155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• Mantener una participación activa y presencia plena durante las explicaciones.</a:t>
            </a:r>
          </a:p>
          <a:p>
            <a:r>
              <a:rPr lang="es-MX" sz="2000" kern="0" dirty="0">
                <a:solidFill>
                  <a:srgbClr val="334155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• Respetar estrictamente las normas de seguridad al manipular herramientas.</a:t>
            </a:r>
          </a:p>
          <a:p>
            <a:r>
              <a:rPr lang="es-MX" sz="2000" kern="0" dirty="0">
                <a:solidFill>
                  <a:srgbClr val="334155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• Poner todo el esfuerzo y actitud colaborativa para construir una bomba de agua.</a:t>
            </a:r>
          </a:p>
          <a:p>
            <a:endParaRPr lang="es-MX" sz="2000" kern="0" dirty="0">
              <a:solidFill>
                <a:srgbClr val="334155"/>
              </a:solidFill>
              <a:effectLst/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MX" sz="2000" kern="0" dirty="0">
                <a:solidFill>
                  <a:srgbClr val="334155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El </a:t>
            </a:r>
            <a:r>
              <a:rPr lang="es-MX" sz="2000" kern="0" dirty="0">
                <a:solidFill>
                  <a:srgbClr val="334155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Instructor</a:t>
            </a:r>
            <a:r>
              <a:rPr lang="es-MX" sz="2000" kern="0" dirty="0">
                <a:solidFill>
                  <a:srgbClr val="334155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se compromete a:</a:t>
            </a:r>
          </a:p>
          <a:p>
            <a:r>
              <a:rPr lang="es-MX" sz="2000" kern="0" dirty="0">
                <a:solidFill>
                  <a:srgbClr val="334155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• Guiar el proceso de ensamble paso a paso y con total claridad.</a:t>
            </a:r>
          </a:p>
          <a:p>
            <a:r>
              <a:rPr lang="es-MX" sz="2000" kern="0" dirty="0">
                <a:solidFill>
                  <a:srgbClr val="334155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• Resolver cualquier duda técnica con paciencia y disposición.</a:t>
            </a:r>
          </a:p>
          <a:p>
            <a:r>
              <a:rPr lang="es-MX" sz="2000" kern="0" dirty="0">
                <a:solidFill>
                  <a:srgbClr val="334155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• Garantizar un entorno de trabajo seguro, ordenado y de absoluto respeto.</a:t>
            </a:r>
          </a:p>
          <a:p>
            <a:endParaRPr lang="es-MX" sz="1600" dirty="0">
              <a:latin typeface="Gilroy-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956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/>
          <p:nvPr/>
        </p:nvSpPr>
        <p:spPr>
          <a:xfrm>
            <a:off x="476498" y="3263020"/>
            <a:ext cx="116014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sz="5400" dirty="0">
                <a:sym typeface="Poppins"/>
              </a:rPr>
              <a:t>Evaluación Diagnóstica</a:t>
            </a:r>
            <a:endParaRPr lang="es-ES_tradnl" sz="5400" dirty="0"/>
          </a:p>
        </p:txBody>
      </p:sp>
      <p:sp>
        <p:nvSpPr>
          <p:cNvPr id="4" name="Freeform 9">
            <a:extLst>
              <a:ext uri="{FF2B5EF4-FFF2-40B4-BE49-F238E27FC236}">
                <a16:creationId xmlns:a16="http://schemas.microsoft.com/office/drawing/2014/main" id="{BF0230B9-B41D-0171-2383-FF1A3EDF6350}"/>
              </a:ext>
            </a:extLst>
          </p:cNvPr>
          <p:cNvSpPr/>
          <p:nvPr/>
        </p:nvSpPr>
        <p:spPr>
          <a:xfrm>
            <a:off x="476498" y="937618"/>
            <a:ext cx="2181499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44DB5B59-812F-3F92-CFE6-A7B86DE51ED2}"/>
              </a:ext>
            </a:extLst>
          </p:cNvPr>
          <p:cNvSpPr/>
          <p:nvPr/>
        </p:nvSpPr>
        <p:spPr>
          <a:xfrm flipH="1">
            <a:off x="9900920" y="937618"/>
            <a:ext cx="1944541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FB78C028-ED25-77B2-4AB0-2A3ECFE9866E}"/>
              </a:ext>
            </a:extLst>
          </p:cNvPr>
          <p:cNvSpPr/>
          <p:nvPr/>
        </p:nvSpPr>
        <p:spPr>
          <a:xfrm>
            <a:off x="2726267" y="217683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353379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/>
          <p:nvPr/>
        </p:nvSpPr>
        <p:spPr>
          <a:xfrm>
            <a:off x="476498" y="3263020"/>
            <a:ext cx="116014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sz="5400" dirty="0">
                <a:sym typeface="Poppins"/>
              </a:rPr>
              <a:t>Dudas?</a:t>
            </a:r>
            <a:endParaRPr lang="es-ES_tradnl" sz="5400" dirty="0"/>
          </a:p>
        </p:txBody>
      </p:sp>
      <p:sp>
        <p:nvSpPr>
          <p:cNvPr id="4" name="Freeform 9">
            <a:extLst>
              <a:ext uri="{FF2B5EF4-FFF2-40B4-BE49-F238E27FC236}">
                <a16:creationId xmlns:a16="http://schemas.microsoft.com/office/drawing/2014/main" id="{BF0230B9-B41D-0171-2383-FF1A3EDF6350}"/>
              </a:ext>
            </a:extLst>
          </p:cNvPr>
          <p:cNvSpPr/>
          <p:nvPr/>
        </p:nvSpPr>
        <p:spPr>
          <a:xfrm>
            <a:off x="476498" y="937618"/>
            <a:ext cx="2181499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44DB5B59-812F-3F92-CFE6-A7B86DE51ED2}"/>
              </a:ext>
            </a:extLst>
          </p:cNvPr>
          <p:cNvSpPr/>
          <p:nvPr/>
        </p:nvSpPr>
        <p:spPr>
          <a:xfrm flipH="1">
            <a:off x="9900920" y="937618"/>
            <a:ext cx="1944541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FB78C028-ED25-77B2-4AB0-2A3ECFE9866E}"/>
              </a:ext>
            </a:extLst>
          </p:cNvPr>
          <p:cNvSpPr/>
          <p:nvPr/>
        </p:nvSpPr>
        <p:spPr>
          <a:xfrm>
            <a:off x="2726267" y="217683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02799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85447" y="527411"/>
            <a:ext cx="331077" cy="6330589"/>
            <a:chOff x="0" y="0"/>
            <a:chExt cx="130796" cy="25009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796" cy="2500973"/>
            </a:xfrm>
            <a:custGeom>
              <a:avLst/>
              <a:gdLst/>
              <a:ahLst/>
              <a:cxnLst/>
              <a:rect l="l" t="t" r="r" b="b"/>
              <a:pathLst>
                <a:path w="130796" h="2500973">
                  <a:moveTo>
                    <a:pt x="0" y="0"/>
                  </a:moveTo>
                  <a:lnTo>
                    <a:pt x="130796" y="0"/>
                  </a:lnTo>
                  <a:lnTo>
                    <a:pt x="130796" y="2500973"/>
                  </a:lnTo>
                  <a:lnTo>
                    <a:pt x="0" y="2500973"/>
                  </a:lnTo>
                  <a:close/>
                </a:path>
              </a:pathLst>
            </a:custGeom>
            <a:solidFill>
              <a:srgbClr val="731F3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30796" cy="255812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239"/>
                </a:lnSpc>
              </a:pPr>
              <a:endParaRPr sz="933"/>
            </a:p>
          </p:txBody>
        </p:sp>
      </p:grpSp>
      <p:sp>
        <p:nvSpPr>
          <p:cNvPr id="5" name="Freeform 5"/>
          <p:cNvSpPr/>
          <p:nvPr/>
        </p:nvSpPr>
        <p:spPr>
          <a:xfrm>
            <a:off x="2926249" y="66200"/>
            <a:ext cx="6339502" cy="83168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Freeform 6"/>
          <p:cNvSpPr/>
          <p:nvPr/>
        </p:nvSpPr>
        <p:spPr>
          <a:xfrm rot="-5400000">
            <a:off x="-622415" y="2230297"/>
            <a:ext cx="4746799" cy="418605"/>
          </a:xfrm>
          <a:custGeom>
            <a:avLst/>
            <a:gdLst/>
            <a:ahLst/>
            <a:cxnLst/>
            <a:rect l="l" t="t" r="r" b="b"/>
            <a:pathLst>
              <a:path w="7120198" h="627907">
                <a:moveTo>
                  <a:pt x="0" y="0"/>
                </a:moveTo>
                <a:lnTo>
                  <a:pt x="7120197" y="0"/>
                </a:lnTo>
                <a:lnTo>
                  <a:pt x="7120197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159" b="-6159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/>
          <p:cNvSpPr/>
          <p:nvPr/>
        </p:nvSpPr>
        <p:spPr>
          <a:xfrm rot="-5400000">
            <a:off x="-362108" y="6716790"/>
            <a:ext cx="4226186" cy="418605"/>
          </a:xfrm>
          <a:custGeom>
            <a:avLst/>
            <a:gdLst/>
            <a:ahLst/>
            <a:cxnLst/>
            <a:rect l="l" t="t" r="r" b="b"/>
            <a:pathLst>
              <a:path w="6339279" h="627907">
                <a:moveTo>
                  <a:pt x="0" y="0"/>
                </a:moveTo>
                <a:lnTo>
                  <a:pt x="6339279" y="0"/>
                </a:lnTo>
                <a:lnTo>
                  <a:pt x="6339279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B2DFDC-5B81-062E-BEBD-FFFDFA250F91}"/>
              </a:ext>
            </a:extLst>
          </p:cNvPr>
          <p:cNvSpPr txBox="1"/>
          <p:nvPr/>
        </p:nvSpPr>
        <p:spPr>
          <a:xfrm rot="-5400000">
            <a:off x="-2035495" y="2822599"/>
            <a:ext cx="5988732" cy="766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743"/>
              </a:lnSpc>
            </a:pPr>
            <a:r>
              <a:rPr lang="en-US" sz="3200" b="1" dirty="0">
                <a:solidFill>
                  <a:srgbClr val="BF9F63"/>
                </a:solidFill>
                <a:latin typeface="Raleway Heavy"/>
                <a:ea typeface="Raleway Heavy"/>
                <a:cs typeface="Raleway Heavy"/>
                <a:sym typeface="Raleway Heavy"/>
              </a:rPr>
              <a:t>DE LOS PUEBLOS INDÍGENAS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B9E317-1D8B-33D9-7DE8-FC8C17E7D249}"/>
              </a:ext>
            </a:extLst>
          </p:cNvPr>
          <p:cNvSpPr txBox="1"/>
          <p:nvPr/>
        </p:nvSpPr>
        <p:spPr>
          <a:xfrm rot="-5400000">
            <a:off x="-2454955" y="3105706"/>
            <a:ext cx="5629888" cy="1028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971"/>
              </a:lnSpc>
            </a:pPr>
            <a:r>
              <a:rPr lang="en-US" sz="4000" b="1" dirty="0">
                <a:solidFill>
                  <a:srgbClr val="890736"/>
                </a:solidFill>
                <a:latin typeface="Raleway Heavy"/>
                <a:ea typeface="Raleway Heavy"/>
                <a:cs typeface="Raleway Heavy"/>
                <a:sym typeface="Raleway Heavy"/>
              </a:rPr>
              <a:t>INSTITUTO POBLANO</a:t>
            </a:r>
          </a:p>
        </p:txBody>
      </p:sp>
      <p:sp>
        <p:nvSpPr>
          <p:cNvPr id="13" name="Google Shape;127;p16">
            <a:extLst>
              <a:ext uri="{FF2B5EF4-FFF2-40B4-BE49-F238E27FC236}">
                <a16:creationId xmlns:a16="http://schemas.microsoft.com/office/drawing/2014/main" id="{8B92B760-0E44-84DB-2991-4F9D9752F2A7}"/>
              </a:ext>
            </a:extLst>
          </p:cNvPr>
          <p:cNvSpPr txBox="1"/>
          <p:nvPr/>
        </p:nvSpPr>
        <p:spPr>
          <a:xfrm>
            <a:off x="2566065" y="1247668"/>
            <a:ext cx="8565762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sz="4400" dirty="0">
                <a:sym typeface="Poppins"/>
              </a:rPr>
              <a:t>Tema 1: </a:t>
            </a:r>
            <a:r>
              <a:rPr lang="es-ES_tradnl" sz="4400" dirty="0">
                <a:solidFill>
                  <a:srgbClr val="CC965B"/>
                </a:solidFill>
                <a:sym typeface="Poppins"/>
              </a:rPr>
              <a:t>El lenguaje del calor</a:t>
            </a:r>
            <a:endParaRPr lang="es-ES_tradnl" sz="4400" dirty="0">
              <a:solidFill>
                <a:srgbClr val="CC965B"/>
              </a:solidFill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5DA3D29-F69D-4934-8C9C-E79B0F237ED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7163" r="35603"/>
          <a:stretch/>
        </p:blipFill>
        <p:spPr>
          <a:xfrm>
            <a:off x="5804452" y="2035292"/>
            <a:ext cx="2405983" cy="48188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1.1: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La radiación térmica de los cuerpos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¿Qué es la radiación infrarroja?</a:t>
            </a:r>
            <a:br>
              <a:rPr lang="es-MX" b="1" dirty="0">
                <a:latin typeface="Gilroy SemiBold" pitchFamily="2" charset="77"/>
              </a:rPr>
            </a:b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F0EE896-B927-4D0A-AC11-8053779E0955}"/>
              </a:ext>
            </a:extLst>
          </p:cNvPr>
          <p:cNvSpPr txBox="1"/>
          <p:nvPr/>
        </p:nvSpPr>
        <p:spPr>
          <a:xfrm>
            <a:off x="1343054" y="2586253"/>
            <a:ext cx="937994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El universo emite calor: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Cualquier objeto físico que tenga una temperatura superior al "cero absoluto" (es decir, que no esté totalmente congelado) emite energía hacia su entorno.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Mensajes invisibles: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Esta energía viaja a través del aire mediante ondas electromagnéticas que llamamos radiación infrarroja.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En resumen: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Todo lo que tiene temperatura, brilla con una "luz" de calor, aunque no podamos verla con nuestros propios ojos</a:t>
            </a:r>
          </a:p>
        </p:txBody>
      </p:sp>
    </p:spTree>
    <p:extLst>
      <p:ext uri="{BB962C8B-B14F-4D97-AF65-F5344CB8AC3E}">
        <p14:creationId xmlns:p14="http://schemas.microsoft.com/office/powerpoint/2010/main" val="10325972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1.1: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La radiación térmica de los cuerpos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¿Qué es la radiación infrarroja?</a:t>
            </a:r>
            <a:br>
              <a:rPr lang="es-MX" b="1" dirty="0">
                <a:latin typeface="Gilroy SemiBold" pitchFamily="2" charset="77"/>
              </a:rPr>
            </a:b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4CA983D-937D-4825-9E03-D23AED76010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8600"/>
          <a:stretch/>
        </p:blipFill>
        <p:spPr>
          <a:xfrm>
            <a:off x="1069174" y="2109972"/>
            <a:ext cx="10053652" cy="4564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6851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1.1: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La radiación térmica de los cuerpos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Rango de luz limitado</a:t>
            </a:r>
            <a:br>
              <a:rPr lang="es-MX" b="1" dirty="0">
                <a:latin typeface="Gilroy SemiBold" pitchFamily="2" charset="77"/>
              </a:rPr>
            </a:br>
            <a:endParaRPr lang="es-MX" b="1" dirty="0">
              <a:latin typeface="Gilroy SemiBold" pitchFamily="2" charset="77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30D6F54-27CB-4DAD-BEFD-BAED2D6CF6C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4565"/>
          <a:stretch/>
        </p:blipFill>
        <p:spPr>
          <a:xfrm>
            <a:off x="1402902" y="2016800"/>
            <a:ext cx="9763218" cy="465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6655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1.1: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La radiación térmica de los cuerpos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La luz que sentimos, pero no vemos</a:t>
            </a: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F0EE896-B927-4D0A-AC11-8053779E0955}"/>
              </a:ext>
            </a:extLst>
          </p:cNvPr>
          <p:cNvSpPr txBox="1"/>
          <p:nvPr/>
        </p:nvSpPr>
        <p:spPr>
          <a:xfrm>
            <a:off x="1343054" y="2586253"/>
            <a:ext cx="937994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Más allá del color rojo: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En la naturaleza existen muchos tipos de luz. El infrarrojo se encuentra justo al lado del color rojo en el "arcoíris" (espectro electromagnético).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Nuestros sentidos: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Aunque la radiación infrarroja es completamente invisible para el ojo humano, nuestro cuerpo está diseñado para sentirla en forma de calor cuando nos acercamos a algo caliente (como el sol o una fogata).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La magia del proyecto: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En este curso, le daremos a nuestra comunidad un "ojo electrónico" capaz de ver esa luz invisible</a:t>
            </a:r>
          </a:p>
        </p:txBody>
      </p:sp>
    </p:spTree>
    <p:extLst>
      <p:ext uri="{BB962C8B-B14F-4D97-AF65-F5344CB8AC3E}">
        <p14:creationId xmlns:p14="http://schemas.microsoft.com/office/powerpoint/2010/main" val="25181228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1.1: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La radiación térmica de los cuerpos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La luz que sentimos, pero no vemos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46E6652-B6BA-481E-A31E-2842A53F47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2590" y="1215664"/>
            <a:ext cx="9977314" cy="5564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6894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1.1: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La radiación térmica de los cuerpos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Cazando "rayos calóricos"</a:t>
            </a: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F0EE896-B927-4D0A-AC11-8053779E0955}"/>
              </a:ext>
            </a:extLst>
          </p:cNvPr>
          <p:cNvSpPr txBox="1"/>
          <p:nvPr/>
        </p:nvSpPr>
        <p:spPr>
          <a:xfrm>
            <a:off x="1343054" y="2586253"/>
            <a:ext cx="937994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El experimento: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Hace más de 200 años, el astrónomo William Herschel usó un prisma de cristal para separar la luz del sol en los colores del arcoíris.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Midiendo colores: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Colocó termómetros en cada color para medir su temperatura, pero dejó un termómetro extra en la zona oscura, justo al lado del color rojo.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La gran sorpresa: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El termómetro en la zona oscura se calentó más que los demás. Así se comprobó por primera vez que el calor viaja como una forma de luz invisible</a:t>
            </a:r>
          </a:p>
        </p:txBody>
      </p:sp>
    </p:spTree>
    <p:extLst>
      <p:ext uri="{BB962C8B-B14F-4D97-AF65-F5344CB8AC3E}">
        <p14:creationId xmlns:p14="http://schemas.microsoft.com/office/powerpoint/2010/main" val="6748828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1.1: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La radiación térmica de los cuerpos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Cazando "rayos calóricos"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327A322-E137-4D62-9686-DEA5BABC292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384" t="20693"/>
          <a:stretch/>
        </p:blipFill>
        <p:spPr>
          <a:xfrm>
            <a:off x="948858" y="2142209"/>
            <a:ext cx="10216890" cy="467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9831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1.1: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La radiación térmica de los cuerpos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Nuestra propia firma térmica</a:t>
            </a: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F0EE896-B927-4D0A-AC11-8053779E0955}"/>
              </a:ext>
            </a:extLst>
          </p:cNvPr>
          <p:cNvSpPr txBox="1"/>
          <p:nvPr/>
        </p:nvSpPr>
        <p:spPr>
          <a:xfrm>
            <a:off x="1343054" y="2586253"/>
            <a:ext cx="937994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El motor interno: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El cuerpo humano es una máquina térmica increíble que, gracias a nuestro metabolismo, mantiene una temperatura constante cercana a los 37 °C.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Radiadores caminantes: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Debido a este calor corporal, nuestra piel actúa como un radiador que emite energía infrarroja de forma constante hacia la habitación.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Nuestra potencia: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¡Una persona promedio emite en todo momento alrededor de 100 vatios (Watts) de energía en forma de calor hacia su entorno!</a:t>
            </a:r>
          </a:p>
        </p:txBody>
      </p:sp>
    </p:spTree>
    <p:extLst>
      <p:ext uri="{BB962C8B-B14F-4D97-AF65-F5344CB8AC3E}">
        <p14:creationId xmlns:p14="http://schemas.microsoft.com/office/powerpoint/2010/main" val="19884501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1.1: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La radiación térmica de los cuerpos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Firma térmica humana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87F5A6D-12A4-4BCC-86F6-3045B4EAD95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1422"/>
          <a:stretch/>
        </p:blipFill>
        <p:spPr>
          <a:xfrm>
            <a:off x="1090444" y="2089467"/>
            <a:ext cx="9737039" cy="4810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8407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1.1: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La radiación térmica de los cuerpos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¿Cómo interactuamos con el infrarrojo?</a:t>
            </a: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F0EE896-B927-4D0A-AC11-8053779E0955}"/>
              </a:ext>
            </a:extLst>
          </p:cNvPr>
          <p:cNvSpPr txBox="1"/>
          <p:nvPr/>
        </p:nvSpPr>
        <p:spPr>
          <a:xfrm>
            <a:off x="1343054" y="2586253"/>
            <a:ext cx="9379949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Ceguera visual: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El ojo humano no tiene la capacidad de ver longitudes de onda tan grandes, por lo que la radiación infrarroja nos resulta completamente invisible.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Percepción térmica: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Aunque no podemos verla, nuestra piel y nuestros sentidos están perfectamente diseñados para absorber esta energía y sentirla en forma de calor.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La conexión natural: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Es exactamente la misma energía reconfortante que sentimos cuando nos acercamos a una fogata o cuando la luz del sol nos calienta el rostro en una mañana fría.</a:t>
            </a:r>
          </a:p>
        </p:txBody>
      </p:sp>
    </p:spTree>
    <p:extLst>
      <p:ext uri="{BB962C8B-B14F-4D97-AF65-F5344CB8AC3E}">
        <p14:creationId xmlns:p14="http://schemas.microsoft.com/office/powerpoint/2010/main" val="32314652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1.1: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La radiación térmica de los cuerpos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¿Cómo interactuamos con el infrarrojo?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EA8DAD4-7382-4478-BAB0-12C2983B24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96" y="973248"/>
            <a:ext cx="10427604" cy="5815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9845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1.2: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El principio del Infrarrojo Pasivo (PIR)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¿Qué significa PIR?</a:t>
            </a: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F0EE896-B927-4D0A-AC11-8053779E0955}"/>
              </a:ext>
            </a:extLst>
          </p:cNvPr>
          <p:cNvSpPr txBox="1"/>
          <p:nvPr/>
        </p:nvSpPr>
        <p:spPr>
          <a:xfrm>
            <a:off x="1343054" y="2463203"/>
            <a:ext cx="937994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El concepto: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Las siglas PIR significan Infrarrojo Pasivo (por sus siglas en inglés).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¿Por qué es "Pasivo"?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A diferencia de un radar o un sensor ultrasónico que "disparan" señales de sonido o luz para rebotar en los objetos, nuestro sensor no emite absolutamente ninguna energía.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A la espera: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Se le llama pasivo porque simplemente funciona como un receptor; se sienta en silencio a "escuchar" y absorber la radiación térmica que ya existe naturalmente en el ambiente</a:t>
            </a:r>
          </a:p>
        </p:txBody>
      </p:sp>
    </p:spTree>
    <p:extLst>
      <p:ext uri="{BB962C8B-B14F-4D97-AF65-F5344CB8AC3E}">
        <p14:creationId xmlns:p14="http://schemas.microsoft.com/office/powerpoint/2010/main" val="24203239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1.2: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El principio del Infrarrojo Pasivo (PIR)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¿Qué significa PIR?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F14E785-BC0F-4EF9-88EA-B44D9D7ADAB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3172"/>
          <a:stretch/>
        </p:blipFill>
        <p:spPr>
          <a:xfrm>
            <a:off x="1362215" y="1939400"/>
            <a:ext cx="9779768" cy="4735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5399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1.2: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El principio del Infrarrojo Pasivo (PIR)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 El Efecto Piroeléctrico </a:t>
            </a: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F0EE896-B927-4D0A-AC11-8053779E0955}"/>
              </a:ext>
            </a:extLst>
          </p:cNvPr>
          <p:cNvSpPr txBox="1"/>
          <p:nvPr/>
        </p:nvSpPr>
        <p:spPr>
          <a:xfrm>
            <a:off x="1343054" y="2463203"/>
            <a:ext cx="9379949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El corazón del sistema: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La magia detrás del sensor es el "efecto piroeléctrico".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¿Cómo funciona?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El núcleo del sensor contiene un material cristalino especial que reacciona a los cambios térmicos. Cuando absorbe calor (radiación infrarroja), altera su equilibrio eléctrico y genera una pequeñísima carga de voltaje.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Traductor de energía: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Gracias a este material, el calor invisible de nuestro cuerpo se transforma directamente en un "pulso eléctrico" que nuestras máquinas pueden entender</a:t>
            </a: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10251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1.2: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El principio del Infrarrojo Pasivo (PIR)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 El Efecto Piroeléctrico 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34B6BB0-E16C-4838-B2FE-7D048A2ED7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9742" y="1416849"/>
            <a:ext cx="9301691" cy="5187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0471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1.2: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El principio del Infrarrojo Pasivo (PIR)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 El Secreto de la Detección</a:t>
            </a: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F0EE896-B927-4D0A-AC11-8053779E0955}"/>
              </a:ext>
            </a:extLst>
          </p:cNvPr>
          <p:cNvSpPr txBox="1"/>
          <p:nvPr/>
        </p:nvSpPr>
        <p:spPr>
          <a:xfrm>
            <a:off x="1343054" y="2463203"/>
            <a:ext cx="9379949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El problema del clima: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Si el núcleo piroeléctrico solo midiera calor, el sensor dispararía una falsa alarma cada vez que saliera el sol o subiera la temperatura de la habitación.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La solución: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Para evitar esto, el elemento receptor está dividido en dos mitades conectadas en sentido opuesto.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Cancelación de ruido: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Si el cuarto se calienta poco a poco, ambas mitades reciben el mismo calor y la señal se cancela (se mantiene en cero). El sensor ignora los cambios de clima</a:t>
            </a: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7215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1.2: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El principio del Infrarrojo Pasivo (PIR)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 El Secreto de la Detección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E1BAC09-F426-4D8F-A93F-D7AE389698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7739" y="1338360"/>
            <a:ext cx="9567978" cy="533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1814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1.2: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El principio del Infrarrojo Pasivo (PIR)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 El Secreto de la Detección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628FDFC-B9D8-44B6-9ECC-FD39CE4320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6761" y="1523441"/>
            <a:ext cx="8910677" cy="4969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4226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1.2: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El principio del Infrarrojo Pasivo (PIR)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 Rompiendo el Equilibrio</a:t>
            </a: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F0EE896-B927-4D0A-AC11-8053779E0955}"/>
              </a:ext>
            </a:extLst>
          </p:cNvPr>
          <p:cNvSpPr txBox="1"/>
          <p:nvPr/>
        </p:nvSpPr>
        <p:spPr>
          <a:xfrm>
            <a:off x="1343054" y="2463203"/>
            <a:ext cx="9379949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El contraste térmico: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El sistema detecta movimiento basándose en el contraste entre el fondo (una pared fría) y un objeto caliente cruzando.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El disparo: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Cuando una persona camina frente al sensor, su calor corporal "golpea" primero una de las mitades del sensor y una fracción de segundo después, golpea la otra mitad.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Detección exitosa: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Este "choque" escalonado rompe el equilibrio de las dos mitades. El sensor registra un pico de energía positivo seguido de uno negativo, lo que el sistema decodifica con seguridad como: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¡Movimiento humano!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31702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1.2: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El principio del Infrarrojo Pasivo (PIR)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 Rompiendo el Equilibrio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937AC17-2428-4DB1-AADB-C497E388E7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9724" y="1224829"/>
            <a:ext cx="9806609" cy="5469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0120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162050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1.2: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El principio del Infrarrojo Pasivo (PIR)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 Zonas de Vigilancia</a:t>
            </a: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F0EE896-B927-4D0A-AC11-8053779E0955}"/>
              </a:ext>
            </a:extLst>
          </p:cNvPr>
          <p:cNvSpPr txBox="1"/>
          <p:nvPr/>
        </p:nvSpPr>
        <p:spPr>
          <a:xfrm>
            <a:off x="1343054" y="2463203"/>
            <a:ext cx="9379949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Ampliando la visión: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Para detectar a una persona a varios metros de distancia, el sensor cuenta con un truco óptico que divide su campo de visión.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Una red de rayos: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El espacio frente al sensor se fragmenta en múltiples "zonas" o "dedos de detección".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El recorrido: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Al caminar por la habitación, cruzamos repetidamente estas zonas (entrando a puntos ciegos y volviendo a puntos activos). Esta intermitencia constante de calor garantiza que la señal diferencial sea clara y fuerte</a:t>
            </a: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s-MX" sz="2000" kern="0" dirty="0">
              <a:solidFill>
                <a:srgbClr val="143934"/>
              </a:solidFill>
              <a:effectLst/>
              <a:latin typeface="Gilroy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6673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162050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1.2: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El principio del Infrarrojo Pasivo (PIR)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 Zonas de Vigilancia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1ECBC7A-6CA7-4B2D-B901-53957AEB4B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9081" y="1378898"/>
            <a:ext cx="9346636" cy="5212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7903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162050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1.2: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El principio del Infrarrojo Pasivo (PIR)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 Zonas de Vigilancia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E5E2E5C-58C0-453B-B5EB-6D655AE45C1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435" t="14834" r="7777"/>
          <a:stretch/>
        </p:blipFill>
        <p:spPr>
          <a:xfrm>
            <a:off x="1553753" y="1962898"/>
            <a:ext cx="8944304" cy="489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0430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162050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1.2: </a:t>
            </a:r>
            <a:r>
              <a:rPr lang="es-MX" sz="2000" b="1" dirty="0">
                <a:solidFill>
                  <a:srgbClr val="890736"/>
                </a:solidFill>
                <a:latin typeface="Montserrat" pitchFamily="2" charset="77"/>
              </a:rPr>
              <a:t>El principio del Infrarrojo Pasivo (PIR)</a:t>
            </a:r>
            <a:endParaRPr lang="es-ES" sz="2000" b="1" dirty="0">
              <a:solidFill>
                <a:srgbClr val="890736"/>
              </a:solidFill>
              <a:latin typeface="Montserrat" pitchFamily="2" charset="77"/>
            </a:endParaRP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dirty="0">
                <a:solidFill>
                  <a:srgbClr val="CC965B"/>
                </a:solidFill>
                <a:effectLst/>
                <a:latin typeface="Gilroy Bold" panose="00000800000000000000" charset="0"/>
              </a:rPr>
              <a:t> Zonas de Vigilancia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B34DE84-5DE9-431D-877D-348A2ED0B05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7567"/>
          <a:stretch/>
        </p:blipFill>
        <p:spPr>
          <a:xfrm>
            <a:off x="1166283" y="2160036"/>
            <a:ext cx="10157199" cy="4669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2763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85447" y="527411"/>
            <a:ext cx="331077" cy="6330589"/>
            <a:chOff x="0" y="0"/>
            <a:chExt cx="130796" cy="25009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796" cy="2500973"/>
            </a:xfrm>
            <a:custGeom>
              <a:avLst/>
              <a:gdLst/>
              <a:ahLst/>
              <a:cxnLst/>
              <a:rect l="l" t="t" r="r" b="b"/>
              <a:pathLst>
                <a:path w="130796" h="2500973">
                  <a:moveTo>
                    <a:pt x="0" y="0"/>
                  </a:moveTo>
                  <a:lnTo>
                    <a:pt x="130796" y="0"/>
                  </a:lnTo>
                  <a:lnTo>
                    <a:pt x="130796" y="2500973"/>
                  </a:lnTo>
                  <a:lnTo>
                    <a:pt x="0" y="2500973"/>
                  </a:lnTo>
                  <a:close/>
                </a:path>
              </a:pathLst>
            </a:custGeom>
            <a:solidFill>
              <a:srgbClr val="731F3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30796" cy="255812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239"/>
                </a:lnSpc>
              </a:pPr>
              <a:endParaRPr sz="933"/>
            </a:p>
          </p:txBody>
        </p:sp>
      </p:grpSp>
      <p:sp>
        <p:nvSpPr>
          <p:cNvPr id="5" name="Freeform 5"/>
          <p:cNvSpPr/>
          <p:nvPr/>
        </p:nvSpPr>
        <p:spPr>
          <a:xfrm>
            <a:off x="2926249" y="66200"/>
            <a:ext cx="6339502" cy="83168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Freeform 6"/>
          <p:cNvSpPr/>
          <p:nvPr/>
        </p:nvSpPr>
        <p:spPr>
          <a:xfrm rot="-5400000">
            <a:off x="-622415" y="2230297"/>
            <a:ext cx="4746799" cy="418605"/>
          </a:xfrm>
          <a:custGeom>
            <a:avLst/>
            <a:gdLst/>
            <a:ahLst/>
            <a:cxnLst/>
            <a:rect l="l" t="t" r="r" b="b"/>
            <a:pathLst>
              <a:path w="7120198" h="627907">
                <a:moveTo>
                  <a:pt x="0" y="0"/>
                </a:moveTo>
                <a:lnTo>
                  <a:pt x="7120197" y="0"/>
                </a:lnTo>
                <a:lnTo>
                  <a:pt x="7120197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159" b="-6159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/>
          <p:cNvSpPr/>
          <p:nvPr/>
        </p:nvSpPr>
        <p:spPr>
          <a:xfrm rot="-5400000">
            <a:off x="-362108" y="6716790"/>
            <a:ext cx="4226186" cy="418605"/>
          </a:xfrm>
          <a:custGeom>
            <a:avLst/>
            <a:gdLst/>
            <a:ahLst/>
            <a:cxnLst/>
            <a:rect l="l" t="t" r="r" b="b"/>
            <a:pathLst>
              <a:path w="6339279" h="627907">
                <a:moveTo>
                  <a:pt x="0" y="0"/>
                </a:moveTo>
                <a:lnTo>
                  <a:pt x="6339279" y="0"/>
                </a:lnTo>
                <a:lnTo>
                  <a:pt x="6339279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B2DFDC-5B81-062E-BEBD-FFFDFA250F91}"/>
              </a:ext>
            </a:extLst>
          </p:cNvPr>
          <p:cNvSpPr txBox="1"/>
          <p:nvPr/>
        </p:nvSpPr>
        <p:spPr>
          <a:xfrm rot="-5400000">
            <a:off x="-2035495" y="2822599"/>
            <a:ext cx="5988732" cy="766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743"/>
              </a:lnSpc>
            </a:pPr>
            <a:r>
              <a:rPr lang="en-US" sz="3200" b="1" dirty="0">
                <a:solidFill>
                  <a:srgbClr val="BF9F63"/>
                </a:solidFill>
                <a:latin typeface="Raleway Heavy"/>
                <a:ea typeface="Raleway Heavy"/>
                <a:cs typeface="Raleway Heavy"/>
                <a:sym typeface="Raleway Heavy"/>
              </a:rPr>
              <a:t>DE LOS PUEBLOS INDÍGENAS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B9E317-1D8B-33D9-7DE8-FC8C17E7D249}"/>
              </a:ext>
            </a:extLst>
          </p:cNvPr>
          <p:cNvSpPr txBox="1"/>
          <p:nvPr/>
        </p:nvSpPr>
        <p:spPr>
          <a:xfrm rot="-5400000">
            <a:off x="-2454955" y="3105706"/>
            <a:ext cx="5629888" cy="1028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971"/>
              </a:lnSpc>
            </a:pPr>
            <a:r>
              <a:rPr lang="en-US" sz="4000" b="1" dirty="0">
                <a:solidFill>
                  <a:srgbClr val="890736"/>
                </a:solidFill>
                <a:latin typeface="Raleway Heavy"/>
                <a:ea typeface="Raleway Heavy"/>
                <a:cs typeface="Raleway Heavy"/>
                <a:sym typeface="Raleway Heavy"/>
              </a:rPr>
              <a:t>INSTITUTO POBLANO</a:t>
            </a:r>
          </a:p>
        </p:txBody>
      </p:sp>
      <p:sp>
        <p:nvSpPr>
          <p:cNvPr id="13" name="Google Shape;127;p16">
            <a:extLst>
              <a:ext uri="{FF2B5EF4-FFF2-40B4-BE49-F238E27FC236}">
                <a16:creationId xmlns:a16="http://schemas.microsoft.com/office/drawing/2014/main" id="{8B92B760-0E44-84DB-2991-4F9D9752F2A7}"/>
              </a:ext>
            </a:extLst>
          </p:cNvPr>
          <p:cNvSpPr txBox="1"/>
          <p:nvPr/>
        </p:nvSpPr>
        <p:spPr>
          <a:xfrm>
            <a:off x="2566064" y="1247668"/>
            <a:ext cx="8814509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dirty="0">
                <a:sym typeface="Poppins"/>
              </a:rPr>
              <a:t>Tema 2: </a:t>
            </a:r>
            <a:r>
              <a:rPr lang="es-ES_tradnl" dirty="0">
                <a:solidFill>
                  <a:srgbClr val="CC965B"/>
                </a:solidFill>
                <a:sym typeface="Poppins"/>
              </a:rPr>
              <a:t>Decodificando el sexto sentido</a:t>
            </a:r>
            <a:endParaRPr lang="es-ES_tradnl" dirty="0">
              <a:solidFill>
                <a:srgbClr val="CC965B"/>
              </a:solidFill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0B75D1C-78E2-49A3-ACE6-480787246E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7181" y="1623487"/>
            <a:ext cx="9784819" cy="5461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234715"/>
      </p:ext>
    </p:extLst>
  </p:cSld>
  <p:clrMapOvr>
    <a:masterClrMapping/>
  </p:clrMapOvr>
  <p:transition spd="slow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2.1: ¿De que esta hecho el sensor?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Partes del centinela</a:t>
            </a: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F0EE896-B927-4D0A-AC11-8053779E0955}"/>
              </a:ext>
            </a:extLst>
          </p:cNvPr>
          <p:cNvSpPr txBox="1"/>
          <p:nvPr/>
        </p:nvSpPr>
        <p:spPr>
          <a:xfrm>
            <a:off x="1343054" y="2586253"/>
            <a:ext cx="937994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¿De qué está hecho nuestro proyecto?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Para construir un sistema autónomo, necesitamos dos piezas clave que trabajarán en equipo.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El Cerebro (Módulo HC-SR501):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Es el sensor infrarrojo que se encarga de vigilar, "sentir" el calor humano y tomar la decisión de actuar.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El Músculo (Módulo Relevador):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Es el interruptor de fuerza que recibe la orden del sensor y se encarga de dejar pasar la corriente eléctrica pesada (127V) para encender el foco o la alarma</a:t>
            </a:r>
          </a:p>
        </p:txBody>
      </p:sp>
    </p:spTree>
    <p:extLst>
      <p:ext uri="{BB962C8B-B14F-4D97-AF65-F5344CB8AC3E}">
        <p14:creationId xmlns:p14="http://schemas.microsoft.com/office/powerpoint/2010/main" val="9535479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2.1: ¿De que esta hecho el sensor?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Partes del sensor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9FD7839-9594-4E2F-B944-5837C1C8EF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6621" y="1215664"/>
            <a:ext cx="10497101" cy="585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753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2.1: ¿De que esta hecho el sensor?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La Anatomía del Sensor PIR (HC-SR501)</a:t>
            </a: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F0EE896-B927-4D0A-AC11-8053779E0955}"/>
              </a:ext>
            </a:extLst>
          </p:cNvPr>
          <p:cNvSpPr txBox="1"/>
          <p:nvPr/>
        </p:nvSpPr>
        <p:spPr>
          <a:xfrm>
            <a:off x="1333909" y="2299969"/>
            <a:ext cx="937994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¿El Lente de Fresnel (La cúpula blanca):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No es solo un plástico protector. Por dentro está tallado con múltiples "pequeños lentes" que actúan como lupas para recolectar el calor de la habitación y enfocarlo hacia el centro, ampliando su visión hasta 110 grados.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El Sensor Piroeléctrico (El verdadero ojo):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Si quitamos la cúpula blanca, veremos un pequeño cilindro metálico con un cristal en el centro (modelo RE200B o LHI778).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Doble visión: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Ese cristal está dividido en dos mitades. Cuando el calor cruza de una mitad a otra, el sensor sabe que hay "movimiento" y no solo un cambio en el clima</a:t>
            </a:r>
          </a:p>
        </p:txBody>
      </p:sp>
    </p:spTree>
    <p:extLst>
      <p:ext uri="{BB962C8B-B14F-4D97-AF65-F5344CB8AC3E}">
        <p14:creationId xmlns:p14="http://schemas.microsoft.com/office/powerpoint/2010/main" val="42853643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2.1: ¿De que esta hecho el sensor?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La Anatomía del Sensor PIR (HC-SR501)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68C6CB0-AACF-45BB-B6B3-17D089EF97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2926" y="2008626"/>
            <a:ext cx="9019631" cy="503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5228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2.1: ¿De que esta hecho el sensor?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 El Procesador y sus "Nervios"</a:t>
            </a: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F0EE896-B927-4D0A-AC11-8053779E0955}"/>
              </a:ext>
            </a:extLst>
          </p:cNvPr>
          <p:cNvSpPr txBox="1"/>
          <p:nvPr/>
        </p:nvSpPr>
        <p:spPr>
          <a:xfrm>
            <a:off x="1333909" y="2299969"/>
            <a:ext cx="937994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El Chip BISS0001 (El procesador):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En la parte trasera de la placa verde hay un chip negro con muchas "patitas". Este circuito integrado es el encargado de limpiar la débil señal de calor y convertirla en un pulso eléctrico digital claro y fuerte.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Los 3 Pines de Conexión: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En un borde de la placa tenemos tres puntas de metal que son las vías de comunicación del sensor:</a:t>
            </a:r>
          </a:p>
          <a:p>
            <a:pPr algn="just"/>
            <a:endParaRPr lang="es-MX" sz="20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VCC: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Entrada de energía (recibe los 5 voltios para despertar).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GND: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La tierra o polo negativo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20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OUT (Salida): </a:t>
            </a:r>
            <a:r>
              <a:rPr lang="es-MX" sz="20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Es el cable de señal. Cuando detecta a alguien, envía un pulso de 3.3 voltios por aquí para avisarle al relevador.</a:t>
            </a:r>
          </a:p>
        </p:txBody>
      </p:sp>
    </p:spTree>
    <p:extLst>
      <p:ext uri="{BB962C8B-B14F-4D97-AF65-F5344CB8AC3E}">
        <p14:creationId xmlns:p14="http://schemas.microsoft.com/office/powerpoint/2010/main" val="28817300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2.1: ¿De que esta hecho el sensor?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 El Procesador 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B301C80-C0C3-4CFF-9CA0-526EAF25FE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381" y="954704"/>
            <a:ext cx="10537797" cy="587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0167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2.1: ¿De que esta hecho el sensor?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 Pines de salida 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89500B5-2E60-449D-BAE2-00810E1E00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96" y="1066375"/>
            <a:ext cx="10343789" cy="576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4740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2.1: ¿De que esta hecho el sensor?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 El Módulo Relevador (</a:t>
            </a:r>
            <a:r>
              <a:rPr lang="es-MX" sz="2800" b="1" dirty="0" err="1">
                <a:solidFill>
                  <a:srgbClr val="CC965B"/>
                </a:solidFill>
                <a:latin typeface="Gilroy Bold" panose="00000800000000000000" charset="0"/>
              </a:rPr>
              <a:t>Relay</a:t>
            </a: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)</a:t>
            </a: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F0EE896-B927-4D0A-AC11-8053779E0955}"/>
              </a:ext>
            </a:extLst>
          </p:cNvPr>
          <p:cNvSpPr txBox="1"/>
          <p:nvPr/>
        </p:nvSpPr>
        <p:spPr>
          <a:xfrm>
            <a:off x="1228720" y="2402072"/>
            <a:ext cx="9796997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9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¿Qué es físicamente? </a:t>
            </a:r>
            <a:r>
              <a:rPr lang="es-MX" sz="19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Es una placa que contiene un cubo de plástico (generalmente azul o negro). Por dentro tiene un electroimán y un interruptor mecánico de metal.</a:t>
            </a:r>
          </a:p>
          <a:p>
            <a:pPr algn="just"/>
            <a:endParaRPr lang="es-MX" sz="1900" kern="0" dirty="0">
              <a:solidFill>
                <a:srgbClr val="143934"/>
              </a:solidFill>
              <a:effectLst/>
              <a:latin typeface="Gilroy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19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Los Pines de Control (Bajo Voltaje)</a:t>
            </a:r>
            <a:r>
              <a:rPr lang="es-MX" sz="19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: De un lado tiene pines (VCC, GND e IN). Aquí es donde se conectará el cable "OUT" de nuestro sensor PIR para darle la orden de activarse con 5 voltios.</a:t>
            </a:r>
          </a:p>
          <a:p>
            <a:pPr algn="just"/>
            <a:endParaRPr lang="es-MX" sz="1900" kern="0" dirty="0">
              <a:solidFill>
                <a:srgbClr val="143934"/>
              </a:solidFill>
              <a:effectLst/>
              <a:latin typeface="Gilroy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19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Las Clemas con Tornillos (Alto Voltaje): </a:t>
            </a:r>
            <a:r>
              <a:rPr lang="es-MX" sz="19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Del otro lado tiene bloques de plástico con tornillos (Normalmente Abierto, Común y Normalmente Cerrado). Aquí es donde conectaremos los cables gruesos del foco o la alarma de nuestra casa (127V).</a:t>
            </a:r>
          </a:p>
          <a:p>
            <a:pPr algn="just"/>
            <a:endParaRPr lang="es-MX" sz="1900" kern="0" dirty="0">
              <a:solidFill>
                <a:srgbClr val="143934"/>
              </a:solidFill>
              <a:effectLst/>
              <a:latin typeface="Gilroy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19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El "Clic" mágico</a:t>
            </a:r>
            <a:r>
              <a:rPr lang="es-MX" sz="19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: El relevador separa físicamente el voltaje bajo del voltaje alto. Cuando el sensor manda su señal, escucharemos un "clic": es el imán cerrando el circuito de 127V de forma totalmente segura.</a:t>
            </a:r>
          </a:p>
        </p:txBody>
      </p:sp>
    </p:spTree>
    <p:extLst>
      <p:ext uri="{BB962C8B-B14F-4D97-AF65-F5344CB8AC3E}">
        <p14:creationId xmlns:p14="http://schemas.microsoft.com/office/powerpoint/2010/main" val="39625147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2.1: ¿De que esta hecho el sensor?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 El Módulo Relevador (</a:t>
            </a:r>
            <a:r>
              <a:rPr lang="es-MX" sz="2800" b="1" dirty="0" err="1">
                <a:solidFill>
                  <a:srgbClr val="CC965B"/>
                </a:solidFill>
                <a:latin typeface="Gilroy Bold" panose="00000800000000000000" charset="0"/>
              </a:rPr>
              <a:t>Relay</a:t>
            </a: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)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6A03D0A-4EA9-447F-9D79-E018CC902C9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044" t="15985" r="5387" b="6205"/>
          <a:stretch/>
        </p:blipFill>
        <p:spPr>
          <a:xfrm>
            <a:off x="1413015" y="2109972"/>
            <a:ext cx="9433232" cy="4621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6591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2.2: ¿Cómo lo configuramos a la medida?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 El Tablero de Control del Sensor</a:t>
            </a:r>
            <a:endParaRPr lang="es-MX" b="1" dirty="0">
              <a:latin typeface="Gilroy SemiBold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F0EE896-B927-4D0A-AC11-8053779E0955}"/>
              </a:ext>
            </a:extLst>
          </p:cNvPr>
          <p:cNvSpPr txBox="1"/>
          <p:nvPr/>
        </p:nvSpPr>
        <p:spPr>
          <a:xfrm>
            <a:off x="1228720" y="2402072"/>
            <a:ext cx="9796997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9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En la parte trasera, el sensor tiene controles manuales que nos permiten personalizar su trabajo sin usar </a:t>
            </a:r>
            <a:r>
              <a:rPr lang="es-MX" sz="1900" kern="0" dirty="0" err="1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computadoras.</a:t>
            </a:r>
            <a:r>
              <a:rPr lang="es-MX" sz="1900" kern="0" dirty="0" err="1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Los</a:t>
            </a:r>
            <a:r>
              <a:rPr lang="es-MX" sz="19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 dos Potenciómetros (Las perillas naranjas):</a:t>
            </a:r>
          </a:p>
          <a:p>
            <a:pPr algn="just"/>
            <a:endParaRPr lang="es-MX" sz="19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19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Una perilla ajusta la Sensibilidad / Distancia (para que vigile desde 3 hasta 7 metros).</a:t>
            </a:r>
          </a:p>
          <a:p>
            <a:pPr algn="just"/>
            <a:endParaRPr lang="es-MX" sz="1900" kern="0" dirty="0">
              <a:solidFill>
                <a:srgbClr val="143934"/>
              </a:solidFill>
              <a:effectLst/>
              <a:latin typeface="Gilroy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19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La otra perilla ajusta el Tiempo de Retardo (para decidir cuántos segundos o minutos se quedará encendida la luz).</a:t>
            </a:r>
          </a:p>
          <a:p>
            <a:pPr algn="just"/>
            <a:endParaRPr lang="es-MX" sz="1900" kern="0" dirty="0">
              <a:solidFill>
                <a:srgbClr val="143934"/>
              </a:solidFill>
              <a:effectLst/>
              <a:latin typeface="Gilroy Bold" panose="000008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MX" sz="1900" kern="0" dirty="0">
                <a:solidFill>
                  <a:srgbClr val="143934"/>
                </a:solidFill>
                <a:effectLst/>
                <a:latin typeface="Gilroy Bold" panose="000008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El Jumper (Puente de disparo): </a:t>
            </a:r>
            <a:r>
              <a:rPr lang="es-MX" sz="1900" kern="0" dirty="0">
                <a:solidFill>
                  <a:srgbClr val="143934"/>
                </a:solidFill>
                <a:effectLst/>
                <a:latin typeface="Gilroy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Un pequeño bloque amarillo o negro que une dos pines metálicos. Sirve para elegir si queremos que la luz se apague de golpe (Disparo simple - L) o si queremos que se quede encendida mientras sigamos moviéndonos bajo el sensor (Disparo repetitivo - H)</a:t>
            </a:r>
          </a:p>
        </p:txBody>
      </p:sp>
    </p:spTree>
    <p:extLst>
      <p:ext uri="{BB962C8B-B14F-4D97-AF65-F5344CB8AC3E}">
        <p14:creationId xmlns:p14="http://schemas.microsoft.com/office/powerpoint/2010/main" val="36487296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2.2: ¿Cómo lo configuramos a la medida?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 El Tablero de Control del Sensor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C6909F3-3A75-41C4-98CF-72A654C2EA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2790" y="1287887"/>
            <a:ext cx="9580477" cy="534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826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B75563-9BA2-391E-72D9-0ABB7B8E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1B3959-3F74-68AE-1CB0-99D2CCDC688D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3382DD-3300-8C33-BFBB-DFF082D7506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FCB8E9-B568-C3E6-B793-99DEF0C777A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3C50475-04D7-C550-8DB2-0A86CBC4C962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2BDD661-CC22-18CA-3094-DD4A255B26F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77DAC57-2DC3-D3BA-8859-0244E873AD2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119F9D8-971B-1DFD-0E72-9B4867A3E1E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CEC87993-EBFF-9AB5-A287-8FF23943671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C7F542B-A2D8-DB4F-6488-09325392D91D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BD905D60-45BF-ABC9-808E-D178392A6B7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96CC1C6-9010-A7B4-2FA3-E583CA65237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A069576-C847-B59E-9AFC-FB04B933A61D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Tema 2.2: ¿Cómo lo configuramos a la medida?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48AF6B1-D267-6E0F-BC5F-A86BD9F2A85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0DF097-D157-CC00-EE43-6A0F2B9FC35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55E61BB4-FCCA-2CFF-98DA-407F065FF93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C983C9C-B256-84E4-CE1E-50DEA72B6691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5EEAA0-5E1A-4DFB-9E21-D3C36CE27950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 El Tablero de Control del Sensor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6027C52-B412-4C8F-AC52-086CC93B447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7232"/>
          <a:stretch/>
        </p:blipFill>
        <p:spPr>
          <a:xfrm>
            <a:off x="258930" y="1932699"/>
            <a:ext cx="10939994" cy="5049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6801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>
          <a:extLst>
            <a:ext uri="{FF2B5EF4-FFF2-40B4-BE49-F238E27FC236}">
              <a16:creationId xmlns:a16="http://schemas.microsoft.com/office/drawing/2014/main" id="{F15A2F98-055D-1985-2F34-8E2D47B33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>
            <a:extLst>
              <a:ext uri="{FF2B5EF4-FFF2-40B4-BE49-F238E27FC236}">
                <a16:creationId xmlns:a16="http://schemas.microsoft.com/office/drawing/2014/main" id="{435F0131-5BBB-4118-EC0B-E18DD98DBA52}"/>
              </a:ext>
            </a:extLst>
          </p:cNvPr>
          <p:cNvSpPr txBox="1"/>
          <p:nvPr/>
        </p:nvSpPr>
        <p:spPr>
          <a:xfrm>
            <a:off x="476498" y="3263020"/>
            <a:ext cx="116014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sz="5400" dirty="0">
                <a:sym typeface="Poppins"/>
              </a:rPr>
              <a:t>Evaluación Formativa</a:t>
            </a:r>
            <a:endParaRPr lang="es-ES_tradnl" sz="5400" dirty="0"/>
          </a:p>
        </p:txBody>
      </p:sp>
      <p:sp>
        <p:nvSpPr>
          <p:cNvPr id="4" name="Freeform 9">
            <a:extLst>
              <a:ext uri="{FF2B5EF4-FFF2-40B4-BE49-F238E27FC236}">
                <a16:creationId xmlns:a16="http://schemas.microsoft.com/office/drawing/2014/main" id="{331EBC5A-17D2-152E-6AF2-B235C1AD9B72}"/>
              </a:ext>
            </a:extLst>
          </p:cNvPr>
          <p:cNvSpPr/>
          <p:nvPr/>
        </p:nvSpPr>
        <p:spPr>
          <a:xfrm>
            <a:off x="476498" y="937618"/>
            <a:ext cx="2181499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F501B163-80FC-0A40-3BE7-6C39EC018537}"/>
              </a:ext>
            </a:extLst>
          </p:cNvPr>
          <p:cNvSpPr/>
          <p:nvPr/>
        </p:nvSpPr>
        <p:spPr>
          <a:xfrm flipH="1">
            <a:off x="9900920" y="937618"/>
            <a:ext cx="1944541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2F2CDC73-C564-7F86-9DF0-9D4D609946BA}"/>
              </a:ext>
            </a:extLst>
          </p:cNvPr>
          <p:cNvSpPr/>
          <p:nvPr/>
        </p:nvSpPr>
        <p:spPr>
          <a:xfrm>
            <a:off x="2726267" y="217683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698876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5B853-1A0E-3E66-2AED-6101EF21C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E746238-9A48-ABDE-084D-880381569443}"/>
              </a:ext>
            </a:extLst>
          </p:cNvPr>
          <p:cNvGrpSpPr/>
          <p:nvPr/>
        </p:nvGrpSpPr>
        <p:grpSpPr>
          <a:xfrm>
            <a:off x="1585447" y="527411"/>
            <a:ext cx="331077" cy="6330589"/>
            <a:chOff x="0" y="0"/>
            <a:chExt cx="130796" cy="25009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57607A2-AAA1-81C1-05FD-37F223E31F96}"/>
                </a:ext>
              </a:extLst>
            </p:cNvPr>
            <p:cNvSpPr/>
            <p:nvPr/>
          </p:nvSpPr>
          <p:spPr>
            <a:xfrm>
              <a:off x="0" y="0"/>
              <a:ext cx="130796" cy="2500973"/>
            </a:xfrm>
            <a:custGeom>
              <a:avLst/>
              <a:gdLst/>
              <a:ahLst/>
              <a:cxnLst/>
              <a:rect l="l" t="t" r="r" b="b"/>
              <a:pathLst>
                <a:path w="130796" h="2500973">
                  <a:moveTo>
                    <a:pt x="0" y="0"/>
                  </a:moveTo>
                  <a:lnTo>
                    <a:pt x="130796" y="0"/>
                  </a:lnTo>
                  <a:lnTo>
                    <a:pt x="130796" y="2500973"/>
                  </a:lnTo>
                  <a:lnTo>
                    <a:pt x="0" y="2500973"/>
                  </a:lnTo>
                  <a:close/>
                </a:path>
              </a:pathLst>
            </a:custGeom>
            <a:solidFill>
              <a:srgbClr val="731F3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70E2EC1-FBAB-BFC0-4042-2267E05E1271}"/>
                </a:ext>
              </a:extLst>
            </p:cNvPr>
            <p:cNvSpPr txBox="1"/>
            <p:nvPr/>
          </p:nvSpPr>
          <p:spPr>
            <a:xfrm>
              <a:off x="0" y="-57150"/>
              <a:ext cx="130796" cy="255812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239"/>
                </a:lnSpc>
              </a:pPr>
              <a:endParaRPr sz="933"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454006D6-A234-5CD6-4EEB-E2009CB5B401}"/>
              </a:ext>
            </a:extLst>
          </p:cNvPr>
          <p:cNvSpPr/>
          <p:nvPr/>
        </p:nvSpPr>
        <p:spPr>
          <a:xfrm>
            <a:off x="2926249" y="66200"/>
            <a:ext cx="6339502" cy="83168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A1940635-F4CB-A95D-7702-B94D60E077D4}"/>
              </a:ext>
            </a:extLst>
          </p:cNvPr>
          <p:cNvSpPr/>
          <p:nvPr/>
        </p:nvSpPr>
        <p:spPr>
          <a:xfrm rot="-5400000">
            <a:off x="-622415" y="2230297"/>
            <a:ext cx="4746799" cy="418605"/>
          </a:xfrm>
          <a:custGeom>
            <a:avLst/>
            <a:gdLst/>
            <a:ahLst/>
            <a:cxnLst/>
            <a:rect l="l" t="t" r="r" b="b"/>
            <a:pathLst>
              <a:path w="7120198" h="627907">
                <a:moveTo>
                  <a:pt x="0" y="0"/>
                </a:moveTo>
                <a:lnTo>
                  <a:pt x="7120197" y="0"/>
                </a:lnTo>
                <a:lnTo>
                  <a:pt x="7120197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159" b="-6159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A9D7CA99-0870-2372-09CE-C8F249C39969}"/>
              </a:ext>
            </a:extLst>
          </p:cNvPr>
          <p:cNvSpPr/>
          <p:nvPr/>
        </p:nvSpPr>
        <p:spPr>
          <a:xfrm rot="-5400000">
            <a:off x="-362108" y="6716790"/>
            <a:ext cx="4226186" cy="418605"/>
          </a:xfrm>
          <a:custGeom>
            <a:avLst/>
            <a:gdLst/>
            <a:ahLst/>
            <a:cxnLst/>
            <a:rect l="l" t="t" r="r" b="b"/>
            <a:pathLst>
              <a:path w="6339279" h="627907">
                <a:moveTo>
                  <a:pt x="0" y="0"/>
                </a:moveTo>
                <a:lnTo>
                  <a:pt x="6339279" y="0"/>
                </a:lnTo>
                <a:lnTo>
                  <a:pt x="6339279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6BF5AD-8B68-4566-8D3C-01ED102A9030}"/>
              </a:ext>
            </a:extLst>
          </p:cNvPr>
          <p:cNvSpPr txBox="1"/>
          <p:nvPr/>
        </p:nvSpPr>
        <p:spPr>
          <a:xfrm rot="-5400000">
            <a:off x="-2035495" y="2822599"/>
            <a:ext cx="5988732" cy="766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743"/>
              </a:lnSpc>
            </a:pPr>
            <a:r>
              <a:rPr lang="en-US" sz="3200" b="1" dirty="0">
                <a:solidFill>
                  <a:srgbClr val="BF9F63"/>
                </a:solidFill>
                <a:latin typeface="Raleway Heavy"/>
                <a:ea typeface="Raleway Heavy"/>
                <a:cs typeface="Raleway Heavy"/>
                <a:sym typeface="Raleway Heavy"/>
              </a:rPr>
              <a:t>DE LOS PUEBLOS INDÍGENAS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C56D9B-54BA-16DC-BED5-71988168867D}"/>
              </a:ext>
            </a:extLst>
          </p:cNvPr>
          <p:cNvSpPr txBox="1"/>
          <p:nvPr/>
        </p:nvSpPr>
        <p:spPr>
          <a:xfrm rot="-5400000">
            <a:off x="-2454955" y="3105706"/>
            <a:ext cx="5629888" cy="1028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971"/>
              </a:lnSpc>
            </a:pPr>
            <a:r>
              <a:rPr lang="en-US" sz="4000" b="1" dirty="0">
                <a:solidFill>
                  <a:srgbClr val="890736"/>
                </a:solidFill>
                <a:latin typeface="Raleway Heavy"/>
                <a:ea typeface="Raleway Heavy"/>
                <a:cs typeface="Raleway Heavy"/>
                <a:sym typeface="Raleway Heavy"/>
              </a:rPr>
              <a:t>INSTITUTO POBLANO</a:t>
            </a:r>
          </a:p>
        </p:txBody>
      </p:sp>
      <p:sp>
        <p:nvSpPr>
          <p:cNvPr id="13" name="Google Shape;127;p16">
            <a:extLst>
              <a:ext uri="{FF2B5EF4-FFF2-40B4-BE49-F238E27FC236}">
                <a16:creationId xmlns:a16="http://schemas.microsoft.com/office/drawing/2014/main" id="{92491D04-2B58-F0DF-62A6-EF30B73CEB5D}"/>
              </a:ext>
            </a:extLst>
          </p:cNvPr>
          <p:cNvSpPr txBox="1"/>
          <p:nvPr/>
        </p:nvSpPr>
        <p:spPr>
          <a:xfrm>
            <a:off x="1342022" y="1160748"/>
            <a:ext cx="11663237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sz="4400" dirty="0">
                <a:sym typeface="Poppins"/>
              </a:rPr>
              <a:t>Tema 3: </a:t>
            </a:r>
            <a:r>
              <a:rPr lang="es-ES_tradnl" sz="4400" dirty="0">
                <a:solidFill>
                  <a:srgbClr val="CC965B"/>
                </a:solidFill>
                <a:sym typeface="Poppins"/>
              </a:rPr>
              <a:t>Ensamblaje del centinela</a:t>
            </a:r>
            <a:endParaRPr lang="es-ES_tradnl" sz="4400" dirty="0">
              <a:solidFill>
                <a:srgbClr val="CC965B"/>
              </a:solidFill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A468F72-6ABF-D981-BE4D-11F3A2B8A0E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823" t="9086" r="9817"/>
          <a:stretch>
            <a:fillRect/>
          </a:stretch>
        </p:blipFill>
        <p:spPr>
          <a:xfrm>
            <a:off x="3583710" y="1847245"/>
            <a:ext cx="6197600" cy="576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565924"/>
      </p:ext>
    </p:extLst>
  </p:cSld>
  <p:clrMapOvr>
    <a:masterClrMapping/>
  </p:clrMapOvr>
  <p:transition spd="slow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1F3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E68800-0039-E269-61C5-614D54461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8DC75D1-0A44-4C16-0F6F-352C7030126A}"/>
              </a:ext>
            </a:extLst>
          </p:cNvPr>
          <p:cNvSpPr/>
          <p:nvPr/>
        </p:nvSpPr>
        <p:spPr>
          <a:xfrm>
            <a:off x="2301320" y="269860"/>
            <a:ext cx="6796529" cy="831882"/>
          </a:xfrm>
          <a:custGeom>
            <a:avLst/>
            <a:gdLst/>
            <a:ahLst/>
            <a:cxnLst/>
            <a:rect l="l" t="t" r="r" b="b"/>
            <a:pathLst>
              <a:path w="10194793" h="1247823">
                <a:moveTo>
                  <a:pt x="0" y="0"/>
                </a:moveTo>
                <a:lnTo>
                  <a:pt x="10194793" y="0"/>
                </a:lnTo>
                <a:lnTo>
                  <a:pt x="10194793" y="1247822"/>
                </a:lnTo>
                <a:lnTo>
                  <a:pt x="0" y="12478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D4A15BE-075C-2A4D-5E07-9180E159E6B8}"/>
              </a:ext>
            </a:extLst>
          </p:cNvPr>
          <p:cNvSpPr/>
          <p:nvPr/>
        </p:nvSpPr>
        <p:spPr>
          <a:xfrm>
            <a:off x="-112145" y="4891033"/>
            <a:ext cx="2861265" cy="1966967"/>
          </a:xfrm>
          <a:custGeom>
            <a:avLst/>
            <a:gdLst/>
            <a:ahLst/>
            <a:cxnLst/>
            <a:rect l="l" t="t" r="r" b="b"/>
            <a:pathLst>
              <a:path w="4291897" h="2950450">
                <a:moveTo>
                  <a:pt x="0" y="0"/>
                </a:moveTo>
                <a:lnTo>
                  <a:pt x="4291897" y="0"/>
                </a:lnTo>
                <a:lnTo>
                  <a:pt x="4291897" y="2950450"/>
                </a:lnTo>
                <a:lnTo>
                  <a:pt x="0" y="2950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E418674-CCCB-F64C-0DA8-4BA4BFD3561C}"/>
              </a:ext>
            </a:extLst>
          </p:cNvPr>
          <p:cNvSpPr/>
          <p:nvPr/>
        </p:nvSpPr>
        <p:spPr>
          <a:xfrm rot="-5400000">
            <a:off x="-1893408" y="2014976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C5C0BE36-5BEE-F1E1-CE6F-AA1C5A856A39}"/>
              </a:ext>
            </a:extLst>
          </p:cNvPr>
          <p:cNvSpPr txBox="1"/>
          <p:nvPr/>
        </p:nvSpPr>
        <p:spPr>
          <a:xfrm>
            <a:off x="6092826" y="3290359"/>
            <a:ext cx="6350" cy="223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1867"/>
              </a:lnSpc>
              <a:buClrTx/>
            </a:pPr>
            <a:endParaRPr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21B2C328-0965-CE44-822B-40053535F90C}"/>
              </a:ext>
            </a:extLst>
          </p:cNvPr>
          <p:cNvSpPr/>
          <p:nvPr/>
        </p:nvSpPr>
        <p:spPr>
          <a:xfrm rot="-5400000">
            <a:off x="-979008" y="1089081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Google Shape;213;p23">
            <a:extLst>
              <a:ext uri="{FF2B5EF4-FFF2-40B4-BE49-F238E27FC236}">
                <a16:creationId xmlns:a16="http://schemas.microsoft.com/office/drawing/2014/main" id="{C851BD14-D3B0-C36B-228C-A7D76A79F40C}"/>
              </a:ext>
            </a:extLst>
          </p:cNvPr>
          <p:cNvSpPr txBox="1"/>
          <p:nvPr/>
        </p:nvSpPr>
        <p:spPr>
          <a:xfrm>
            <a:off x="3406721" y="3155802"/>
            <a:ext cx="928489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s-ES" sz="3200" b="1" dirty="0">
                <a:solidFill>
                  <a:srgbClr val="CC965B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3.1 Preparación de componentes y materiales.</a:t>
            </a:r>
          </a:p>
          <a:p>
            <a:pPr marR="0" lvl="0" rtl="0">
              <a:spcBef>
                <a:spcPts val="0"/>
              </a:spcBef>
              <a:spcAft>
                <a:spcPts val="0"/>
              </a:spcAft>
            </a:pPr>
            <a:endParaRPr lang="es-ES" sz="3200" b="1" dirty="0">
              <a:solidFill>
                <a:srgbClr val="CC965B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5828599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2478073-A5FE-8B80-D6D3-2939DC1E5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517FB064-871D-8779-7074-08DE7D34E923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B6C8C22-F819-798F-15AF-8C48FDBFCF55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07E6B9E-AC86-7ACA-EE3D-E590F9D01D25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501142EA-1B9F-ECE3-D05C-D40E658A56EB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92492ED-5253-8F34-A967-AA7B01992F7C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B34861AA-8F66-94C0-89AE-F52426FD7705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2D3ADC10-51E8-34CB-BE6F-139F9163F484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162E25D3-F54C-81F7-44E9-327220CF7E81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5B8377D5-47E4-81A8-8D5E-87D6F2152C40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F1C846C7-56FC-2F04-2492-A0833E965CE9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779500D2-A408-D4EA-0E27-0007D4053420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FAE5B6A1-284F-34BC-3C2E-F3F3D19D2A76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3.1 Preparación de componentes y materiales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A64B2CD5-F17C-9C90-A7BC-071D0269DC05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298DE87-1E86-6902-9B63-011593DDC7BA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87BBAEDB-29CB-D566-683F-4CBB6543C4EF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F7FE0041-8931-15F1-82A5-5067A3D8ED18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475EE1CB-7C82-AB93-F619-8E707A248475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 Modulo  HC-SR501 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1FE4DF1-FBE2-0FDE-2AB6-0D060C601F4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315" b="23448"/>
          <a:stretch>
            <a:fillRect/>
          </a:stretch>
        </p:blipFill>
        <p:spPr>
          <a:xfrm>
            <a:off x="3215752" y="2299969"/>
            <a:ext cx="5550057" cy="393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90702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51C53366-1AD6-BE03-936A-FDF34FE90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BE0867E2-1767-73B8-9D3F-8444C8020D92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0ADA3E8-1993-69DC-4719-8F52296D4E01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5B5DFFF-F3F1-343E-0371-5A25CCAA99C5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F200975-604F-8022-8C53-D8D2D2FCB420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A4935E7E-DEBD-C2D0-46C6-B2AB2F6BAEBB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45437B1D-EEE4-2B01-D87D-A1028C976A8A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0D7EAEE6-624F-1DB0-7A37-6C1076E894B7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B9F80F04-850B-8E6D-4D0E-DBFBD0B146F4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0A39A02-B849-E45F-BD47-3DFCC8CAD8F9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8D85BCFD-E3A1-29D8-5249-27450CE79814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2BDBE7B6-ED07-29F8-C778-6A9486952C0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182B5AFA-8774-1D63-415F-602490E0C37B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3.1 Preparación de componentes y materiales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C1C6D65C-220F-5AD6-C085-3C414F5BF075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A4C1E32-CC0F-F8C0-6888-DDE379EDD4DE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8D71D107-6AE1-338D-DD21-BA29F5BD7D89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132765E1-F6B6-3076-38F9-4C39DFBBCE24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C0BAB60F-BA1F-7C3F-248A-181DE69ECAD5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 Modulo  Relevador 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7793F1D-3A00-4389-B628-8980EBCCFDB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448" t="9394" r="8387"/>
          <a:stretch>
            <a:fillRect/>
          </a:stretch>
        </p:blipFill>
        <p:spPr>
          <a:xfrm>
            <a:off x="2992571" y="2197679"/>
            <a:ext cx="6481166" cy="413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0908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29F12D0-5423-3B16-EB79-CB7F463ED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93243133-4E0E-6D2E-008A-27157FC630EE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FB84901-90FA-DA59-AFC3-7DB69F17350F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4606797-EF98-68E9-F597-B8A3E4D274C1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6F0B0DE3-853A-C62E-C2F3-075BC3944201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CBB99D89-7957-A631-A820-622BF02E8243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36285879-92DB-1C04-5D0B-1C5A03350FA2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D0AAB945-9CF4-0E79-7012-1147D0D6C93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D594EF3D-4F53-97C0-A149-F685C7250F0F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CB41F940-3828-9707-F2B6-6D8846B93C7C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AD6DE5A-B73C-8D8A-04A9-971F478A7AB6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3026E712-1668-EB12-AF9A-4050B85EA251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D20024BF-9C2F-CC33-F7C0-C82167CD7C2F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3.1 Preparación de componentes y materiales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FA5D424B-C9F1-AD5A-F5E4-D188ABC99A2E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A3B127B7-0FAF-3F14-F1A3-972DEDD3664C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C08149B5-BAF1-1A6E-DEFE-A3995A64D2D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CCE9B1EA-C552-0B06-7983-938EDAC96B4B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05587ADC-1A84-AAFE-A235-46BA928E4336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 Fuente de voltaje 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2791207-D55E-FF7C-DD98-C40DB4DCC26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880" t="21581" r="31813" b="16952"/>
          <a:stretch>
            <a:fillRect/>
          </a:stretch>
        </p:blipFill>
        <p:spPr>
          <a:xfrm rot="16200000">
            <a:off x="3836436" y="795020"/>
            <a:ext cx="4393186" cy="7304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86625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3691DD09-92F3-5E90-43FC-61AD43351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E30D0949-61C4-2708-E685-F818639D428C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D958100-C2AE-3D3D-67F7-240E7E3A44E6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7F82FAE-946E-94C8-1AAE-AB176846A6C3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31CFB929-3673-2A2A-7219-C5597CC0716E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4F008A73-D6C1-C622-AFEB-9686BAAEB97F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24E271F-E6EB-4B27-E290-5313FFE5486D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7D2BF9A7-7D11-EC4F-2005-190731514FFC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7FD35F9A-54AD-D7EE-2A90-71453B521F2E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0B7D1AF7-869F-A473-1A21-5FC0DD85D6CE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C4B0A0D6-A425-57DD-5C32-789C155FF815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4D9FE505-7A5A-369C-1A09-122A44F0040D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BC18FE07-5EED-3848-79EF-B9585BECEFF3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3.1 Preparación de componentes y materiales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B86860C-645C-23E5-7C7F-F610E9C94702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FD8C6A4-A481-D65F-4EC3-57E8EA9AE6A6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C39825B3-865B-D62C-184A-493D71B033B6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69F72BF4-8B85-DCD6-FEB3-1407CC6C96E7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BE28B488-79F4-7771-33FF-D28F982560E1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 Cables </a:t>
            </a:r>
            <a:r>
              <a:rPr lang="es-MX" sz="2800" b="1" dirty="0" err="1">
                <a:solidFill>
                  <a:srgbClr val="CC965B"/>
                </a:solidFill>
                <a:latin typeface="Gilroy Bold" panose="00000800000000000000" charset="0"/>
              </a:rPr>
              <a:t>dupont</a:t>
            </a: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 (jumpers) 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72286AD-151B-7FBC-F19D-173D8EACB6E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445" t="16057" b="19395"/>
          <a:stretch>
            <a:fillRect/>
          </a:stretch>
        </p:blipFill>
        <p:spPr>
          <a:xfrm>
            <a:off x="2821978" y="2230352"/>
            <a:ext cx="7046085" cy="389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18954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6DE954C6-EF10-93BA-B52D-40F7CE8B3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A028C94B-DBF1-06D0-5316-5B4F2A129B6C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7A64259-3DD7-0A18-5C6A-4B518992CDC9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7441789-6822-66BB-FE35-1A8E815EFE0D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CB655439-973B-B859-425E-2E5EC2B187DD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2CEB1DCB-7EBD-5528-96BC-62847DCF89EE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916C7CF2-5273-CABD-E900-DBFD443D6BD6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D7BA518E-9696-3E48-0D86-597021D968C1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082CD85B-5AE0-0E82-CE28-0A34B3163ABA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E2F47774-3F9C-B2F4-01F3-48D0FD67FD8A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F52C0DC2-69F2-BC91-B5AB-823A7017D644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C7C81B4A-8449-40F1-EC33-7DE14B68C8E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9CD82E19-B309-A9F2-A19F-3686B22FE834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3.1 Preparación de componentes y materiales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9831AF7-7DD4-67AD-1BCC-F8B470F93690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43619850-DC54-A176-4A45-9127731E2498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8C2EB530-B842-C242-1B71-8D7FEFFF2254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6B90DDDE-DF79-8C14-6F8F-1E832F81838B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F11F20B1-A48D-97A9-E733-234D6FFE3D03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 Caja 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019356C-7DA0-BA55-BF69-4887F0F6D5F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9091" b="23315"/>
          <a:stretch>
            <a:fillRect/>
          </a:stretch>
        </p:blipFill>
        <p:spPr>
          <a:xfrm>
            <a:off x="3332156" y="2122170"/>
            <a:ext cx="5545111" cy="4252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76210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10839469-16D9-E30D-E8F2-C7BBCFF0A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DABD0C8E-1F59-F84C-0009-B5001A466826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D4BEFB1-7FA0-6127-E88F-48ABE0A1E632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76F3F89-C276-BA11-B53D-483180E32183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A23E736-10A0-36B1-C3D8-5FA00B6FB73D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7B09B6DE-C5CC-9E53-F72F-D6AAE479DA7D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ECFE95A5-5F85-CFEA-05B5-F908D6A80CA7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028857E9-07E8-5405-7632-182D24E41A5A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05565264-18DA-1FFE-81A7-A358AB280A31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DF7CB324-DF03-BE89-622D-C03A0DD4F28C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3F1B74C3-42EB-7058-EF81-0BE472C83216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7B20517F-46E5-C1A5-DB19-5D980CD24A31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D1DA4121-56C3-5515-A4FB-3DFF3002B40C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3.1 Preparación de componentes y materiales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7D15CEA-1A75-3FAF-FDA1-F39FB21C46F2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EA902760-34D5-F3D7-DBD7-729A0E8A9A56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059ACBB5-A872-AA79-15EE-3E9721B4044F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C3C31469-E8F5-AFD3-606D-7A5C3F441C9A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844803EA-CA0B-24A3-07A0-BB25DDC8E26A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 Foco 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A72677A-442C-8E97-2D90-893985D9A26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847" t="15133" r="2922" b="17726"/>
          <a:stretch>
            <a:fillRect/>
          </a:stretch>
        </p:blipFill>
        <p:spPr>
          <a:xfrm>
            <a:off x="2663296" y="2299969"/>
            <a:ext cx="6796263" cy="411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2774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A72ED5DE-1F25-6388-13ED-596CC099B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FD51C7FB-BBB2-3A05-8ABE-CE0460BD8422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C01803E-C50D-52D7-A3A5-789E7412D2FB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71DE76D-173E-E630-E1FC-430922C12BAB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0CA7AC2D-6817-0587-44D0-CCE4A0F50E8C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EDCDBF66-DB12-60D7-86D3-53F98DF40F33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39DF4394-C6A2-4B55-B79E-99DF6D328A83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6B1AC23A-517D-0DFE-B1EC-4EA2A9BE034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113C6B13-52E7-07F2-442D-BAF0402A53FE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669218DC-A94B-5F47-65FC-07CFED2C7B9A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A20B5C9E-B7EC-831F-A689-70DAF77498FA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3D913569-9151-D8DB-F3D3-72F2BC47E57C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9D04BDA7-D280-187D-447F-AEF613894B32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3.1 Preparación de componentes y materiales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3A9D7EA6-2F62-91FB-50C2-4851AD570FD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952D546E-3593-968C-F7E1-680ABE5A837D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33AE9DFB-EAEE-4F59-95E1-E1EDC467F6FB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3236F6CE-8542-5096-D0BD-EFEE6D88B39E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BD6B2CB2-B2A3-2165-C9C6-62850E5AD18D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 Fuente de alimentación de 9v 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55CF5ED-3371-D9C6-3BE9-E73120062D0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505" t="13030" r="6285" b="15303"/>
          <a:stretch>
            <a:fillRect/>
          </a:stretch>
        </p:blipFill>
        <p:spPr>
          <a:xfrm>
            <a:off x="3192135" y="2432141"/>
            <a:ext cx="5825153" cy="3951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51066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FEE008E7-BB21-2D84-DC0F-06423E3CF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681572A0-6915-FDE2-4BE7-DD7BAD55042C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65D0FFB-49E6-2BE9-518B-2FBB2019608A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9727F3D-7EE4-4C94-BC15-D87A9E591B53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8FF2581D-1F5C-F97C-20E5-D2B8798796DA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3C00E366-11D2-9304-499A-00F6CF317137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CCC3503F-E8E7-709E-809C-09462CDCBFD8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F51106ED-12D0-7195-878D-7F4ECE77B4D6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8F8DBA93-99A1-FB43-07DA-7DE29F9423FF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4CEEFA7-216A-F0BC-A339-2AF9CDEE0CD0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CF85D38E-DB76-F160-2379-FB87A8925896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2676D8DB-E136-37C6-8783-F14D4DCE94D8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B68C7A37-D4F7-9D9F-B630-07B311750BC7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3.1 Preparación de componentes y materiales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6258289A-B0F4-75D2-B270-F345CA6AA416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EB98D65C-EB17-7B5F-A236-6D10852A673D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7DDC76E2-5F76-B9F0-966F-0D826262622C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C71F693F-9391-0F4C-97E9-0D2B46A24A96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4B3C3402-A036-0B63-1A3D-338BA8EED6D4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 Clavija monofásica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971CFEB-DCDC-79E9-87F3-8EE5DFD6D57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681" t="13636" r="6390" b="12727"/>
          <a:stretch>
            <a:fillRect/>
          </a:stretch>
        </p:blipFill>
        <p:spPr>
          <a:xfrm>
            <a:off x="2805862" y="2197679"/>
            <a:ext cx="6514377" cy="4234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26494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BE2D647F-A459-3BAB-907A-CE88414A3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FED48FA-64E3-D4AE-D7D0-5231F1B06790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6C823E-6BA9-F3DD-433C-1135FEB53557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E183F55-FE37-24EA-B568-9DCA385F2EC0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D993FF18-E7F3-6FA3-C88C-25EE7EFDD395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F79530C2-1706-506F-5B85-2D1EEBD96409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2A37546-7A57-7A75-A14E-208CD04D29E8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0D93CB29-F365-44F6-E504-41E14ACE38C9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276069BB-8AE1-E410-F9A3-B97021CF9C7E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5E964622-498B-740A-5407-156DF1AFEC1B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0E304F42-D3C1-F1A0-1A93-2BFC3F68E946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0BC8B3E8-ECB8-AB84-3A0A-24BC9CE9E482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DEFA7CBA-7EE7-FEC5-616D-09C678736225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3.1 Preparación de componentes y materiales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2FC73300-B4E7-5853-CC19-C7B3F1809638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C595AD5-FA0A-FE4B-DA29-B0A1303B55F3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C261A03B-1837-CD57-F6F0-5D597A09AAFA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AFCAA629-E708-7ED1-3BAF-AD58F0E29FCB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3F67CFFB-2C55-A1FB-DC0F-BDB9FBD476FB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 Socket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5F825C2-C578-6526-F6BE-A5D1BB47D85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661" t="16601" r="9134" b="25818"/>
          <a:stretch>
            <a:fillRect/>
          </a:stretch>
        </p:blipFill>
        <p:spPr>
          <a:xfrm>
            <a:off x="2494514" y="2298795"/>
            <a:ext cx="7422789" cy="4097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61257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6EC0CA5A-51E1-2CE5-E52B-61E14CE12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4D6AABC9-D1B4-C85E-E4B7-EDA9FA057678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C68C2FB-E6A4-C6BD-3A56-7E739D7A7C4E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065CFA3-FB9A-AB62-98BA-36D5272593BA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43F5A8B5-F320-8CDE-CBC1-624904DFC18E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C75768AB-D6D4-62EC-49EA-E444970D7610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841258A3-5C55-F8C7-C72F-491CEC0FA3AE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08D68FE0-8AE2-EC91-A03D-8A41EDDD660F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76B821ED-ED2D-A74A-3B95-DC0A4A412AE2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58AEF858-5BA8-74FF-052C-C8210CDB3F5E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01058E44-B6C2-4C10-C82C-81F8C1435E5D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75F2413A-DDD5-BE27-B6A0-37A76F6951C2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B6EDBC91-441F-11EA-1789-20F11E317EE0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3.1 Preparación de componentes y materiales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429ACAD3-1E15-8F8A-E856-A243CD43655F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4B0712E5-11BC-75C3-17DC-FE714A832136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250B08EA-F66F-6643-F8F9-307F50C70956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9AB88A76-3E51-6425-0692-8A6BDA91110F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68C7F0C2-7841-FC52-0327-7327602B0A18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 Inversor hecho a partir de un transistor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D52389B-36B5-4D34-90D0-678B72FBD00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8046" r="26545" b="16363"/>
          <a:stretch>
            <a:fillRect/>
          </a:stretch>
        </p:blipFill>
        <p:spPr>
          <a:xfrm>
            <a:off x="3243974" y="2441964"/>
            <a:ext cx="5704052" cy="3679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50731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1F3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D089D2-70BF-F166-B7E9-3A5FF1273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7E3E866-F762-6B20-4B34-6D4D524E4960}"/>
              </a:ext>
            </a:extLst>
          </p:cNvPr>
          <p:cNvSpPr/>
          <p:nvPr/>
        </p:nvSpPr>
        <p:spPr>
          <a:xfrm>
            <a:off x="2301320" y="269860"/>
            <a:ext cx="6796529" cy="831882"/>
          </a:xfrm>
          <a:custGeom>
            <a:avLst/>
            <a:gdLst/>
            <a:ahLst/>
            <a:cxnLst/>
            <a:rect l="l" t="t" r="r" b="b"/>
            <a:pathLst>
              <a:path w="10194793" h="1247823">
                <a:moveTo>
                  <a:pt x="0" y="0"/>
                </a:moveTo>
                <a:lnTo>
                  <a:pt x="10194793" y="0"/>
                </a:lnTo>
                <a:lnTo>
                  <a:pt x="10194793" y="1247822"/>
                </a:lnTo>
                <a:lnTo>
                  <a:pt x="0" y="12478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33A4BC2-A55B-A28F-53E5-0BC0D66FFE50}"/>
              </a:ext>
            </a:extLst>
          </p:cNvPr>
          <p:cNvSpPr/>
          <p:nvPr/>
        </p:nvSpPr>
        <p:spPr>
          <a:xfrm>
            <a:off x="-112145" y="4891033"/>
            <a:ext cx="2861265" cy="1966967"/>
          </a:xfrm>
          <a:custGeom>
            <a:avLst/>
            <a:gdLst/>
            <a:ahLst/>
            <a:cxnLst/>
            <a:rect l="l" t="t" r="r" b="b"/>
            <a:pathLst>
              <a:path w="4291897" h="2950450">
                <a:moveTo>
                  <a:pt x="0" y="0"/>
                </a:moveTo>
                <a:lnTo>
                  <a:pt x="4291897" y="0"/>
                </a:lnTo>
                <a:lnTo>
                  <a:pt x="4291897" y="2950450"/>
                </a:lnTo>
                <a:lnTo>
                  <a:pt x="0" y="2950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85984CB-AC17-0C04-F079-5B85AA8CD380}"/>
              </a:ext>
            </a:extLst>
          </p:cNvPr>
          <p:cNvSpPr/>
          <p:nvPr/>
        </p:nvSpPr>
        <p:spPr>
          <a:xfrm rot="-5400000">
            <a:off x="-1893408" y="2014976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A531BC72-DAEB-6C8D-06E4-C23918B1F925}"/>
              </a:ext>
            </a:extLst>
          </p:cNvPr>
          <p:cNvSpPr txBox="1"/>
          <p:nvPr/>
        </p:nvSpPr>
        <p:spPr>
          <a:xfrm>
            <a:off x="6092826" y="3290359"/>
            <a:ext cx="6350" cy="223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1867"/>
              </a:lnSpc>
              <a:buClrTx/>
            </a:pPr>
            <a:endParaRPr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C20D848F-8442-71D6-3E88-C14C7051E50B}"/>
              </a:ext>
            </a:extLst>
          </p:cNvPr>
          <p:cNvSpPr/>
          <p:nvPr/>
        </p:nvSpPr>
        <p:spPr>
          <a:xfrm rot="-5400000">
            <a:off x="-979008" y="1089081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Google Shape;213;p23">
            <a:extLst>
              <a:ext uri="{FF2B5EF4-FFF2-40B4-BE49-F238E27FC236}">
                <a16:creationId xmlns:a16="http://schemas.microsoft.com/office/drawing/2014/main" id="{D59DB291-B1C8-4C39-0734-D5B18D0258FB}"/>
              </a:ext>
            </a:extLst>
          </p:cNvPr>
          <p:cNvSpPr txBox="1"/>
          <p:nvPr/>
        </p:nvSpPr>
        <p:spPr>
          <a:xfrm>
            <a:off x="3406722" y="3155802"/>
            <a:ext cx="5691128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s-ES" sz="3200" b="1" dirty="0">
                <a:solidFill>
                  <a:srgbClr val="CC965B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3.2 Elaboración del centinela.</a:t>
            </a:r>
          </a:p>
        </p:txBody>
      </p:sp>
    </p:spTree>
    <p:extLst>
      <p:ext uri="{BB962C8B-B14F-4D97-AF65-F5344CB8AC3E}">
        <p14:creationId xmlns:p14="http://schemas.microsoft.com/office/powerpoint/2010/main" val="275413674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AFF957F8-EE24-86AB-192C-79956DC7C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2CB61E36-9DB1-C026-A21E-CD23817F58B3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9569181-7A3F-75F5-B09E-F17E94EB78FF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721246C-BB8E-FA51-A214-3EE77E180C42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70124F34-1B50-83DE-BAEA-8914AB14A858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7936F0EF-94C6-3C1B-19A0-12D9406E1471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8E9B8334-67B5-2178-A9C8-17F0922EC121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3051B17E-F5AC-0C2B-27F4-B582BC9A5BED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F1709551-AFC4-29D7-9895-2EBE83DC76CB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C9969317-8444-B7C2-7819-4C55FC01FAE1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98940A6C-6C38-B783-D5E1-0EF7BF21DB56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1261C5F4-DD99-5C82-57D7-B2FA174319B0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B668BBB4-12A0-BFA7-35ED-8C9301AFDDC4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3.2 Elaboración del centinela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BCFBC253-A8B3-C7A8-DFC8-79E69D339EFE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20C20D9F-FA1A-4AEA-39BA-08D8EA629781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0390721A-2920-F79C-4223-4E0F81157C3E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DDE30B3A-4866-A174-6E5D-6C3E2AF8F7A5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11C33B98-2475-0B9F-2024-8FBAC48FAFA1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 Lógica detrás del centinela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1E78485-976D-F839-1953-BCE3668C60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2926" y="2141628"/>
            <a:ext cx="9109172" cy="4429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02635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A817A397-DA2D-FFE0-7DB3-6BFFA3713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22EF50CB-A9A6-A98F-181A-851179D38184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792CA23-691B-1B04-CA1C-E9B93C818980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8E13B6F-2BF6-0308-DE7C-B7B72F86250A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118B91AD-09BE-0799-85C4-69F38BB87367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0C188C1-B4CA-1973-2EF8-46B5C0F3D217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7A58FF89-01FE-D731-BA91-2D257AB90A35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2CE9FC9D-C837-8004-22BC-95151D0E5ED8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B2611C9A-E058-DD98-B081-A3650DDA4068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2E5794D2-ECAF-AAA9-9B0E-535CDB667106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9986627A-6204-06BB-A5EC-DD04EFB190AD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6C8D3B2E-1745-61F3-B5E8-3505A4871793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09B82DEC-911D-F014-656B-F8C93512F9EE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3.2 Elaboración del centinela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589A5A95-8773-916F-EC03-595F5288B6EC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E8393F59-CF9F-3AA6-56E9-459A145EAF46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6DC23737-7AD4-89ED-8CB6-5D2A887E67EE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63C24C23-ECA0-815C-D4E2-CFB2E7179E78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13E8E5F2-CB08-DC1B-D6A2-9554725DE382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Armado del centinela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6402D56-38C6-0406-ACD3-5DFBCBAF6C4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110" t="11970" b="21432"/>
          <a:stretch>
            <a:fillRect/>
          </a:stretch>
        </p:blipFill>
        <p:spPr>
          <a:xfrm>
            <a:off x="2137463" y="2402072"/>
            <a:ext cx="7265299" cy="404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97357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8E0F8A2A-5C28-76BE-96D2-5BCD6E9E4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E3E0EB2B-805B-E42A-71B6-19262D9C6D47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8038CFB-1216-76CB-FBA8-BD0DA8BEC8F7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B4E5B47-B682-D984-E0C4-A9BD6FCC15B6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93070B44-5435-2E6A-8BDF-604E25DE88BC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A91BEDAB-88CD-B918-B784-F02DEA7B358B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526FFE93-F637-DBFD-928C-7C765D42B956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575D71D-DC53-3E40-CEAC-768DED728A21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FE77C839-2C7C-FAEC-7580-C81143B7BDC6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140962F5-F917-7899-75A9-A68FC11924A5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0C9DF009-D9D2-D562-CECF-F097BD74E6A0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25FC3946-7118-08D6-BDB9-0E722B8E180F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DD026E94-C2B9-E605-F55C-E25E9D5B3940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3.2 Elaboración del centinela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3F7BF83F-2C51-DE7F-7188-05BFD3A90B7C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695C768-BCBB-C661-1FF7-A51D98A770EE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A24BFCE8-0878-3220-6725-7E5F23815C87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7BF08F23-D94E-055A-68E5-D6A8197826BF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A941107A-272A-BF10-7CE4-DD01F510E50C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Armado del centinela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47826EE-964D-6F9A-BA59-AA4F1DA55C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9983" y="2246637"/>
            <a:ext cx="5434665" cy="408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44962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B92CE8FB-A641-71BB-AAF0-8B6F08F27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44D2FD9-90D5-F5C4-F3C6-2D224488F826}"/>
              </a:ext>
            </a:extLst>
          </p:cNvPr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1DBF13B-D40B-6E53-F958-5AD6868DBBE9}"/>
              </a:ext>
            </a:extLst>
          </p:cNvPr>
          <p:cNvSpPr/>
          <p:nvPr/>
        </p:nvSpPr>
        <p:spPr>
          <a:xfrm>
            <a:off x="3255208" y="2109972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C1763CB-6175-A788-3266-8D6DFD0575A3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044C3493-94C7-B210-9E20-74EB33D08A3D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F7701638-8FCE-5F08-486A-15199FDDD2F5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0994861E-0D22-E5F2-CB00-5009D9C339BB}"/>
              </a:ext>
            </a:extLst>
          </p:cNvPr>
          <p:cNvGrpSpPr/>
          <p:nvPr/>
        </p:nvGrpSpPr>
        <p:grpSpPr>
          <a:xfrm>
            <a:off x="165501" y="-19539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655570C2-3568-A61B-9A05-6BCE8C9A26E1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BC252EAA-1FAB-D76C-8D18-5A0241D8AE26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31C00588-B475-229E-AE5A-1F86589CCDA8}"/>
              </a:ext>
            </a:extLst>
          </p:cNvPr>
          <p:cNvGrpSpPr/>
          <p:nvPr/>
        </p:nvGrpSpPr>
        <p:grpSpPr>
          <a:xfrm>
            <a:off x="11857723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539997F7-5400-C688-1D09-39314794CD7E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04F38D3A-91A0-28AA-3958-446D5E19E90E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5428712F-212B-9B84-FADA-6BA276088EF3}"/>
              </a:ext>
            </a:extLst>
          </p:cNvPr>
          <p:cNvSpPr txBox="1"/>
          <p:nvPr/>
        </p:nvSpPr>
        <p:spPr>
          <a:xfrm>
            <a:off x="762096" y="1215664"/>
            <a:ext cx="108876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890736"/>
                </a:solidFill>
                <a:latin typeface="Montserrat" pitchFamily="2" charset="77"/>
              </a:rPr>
              <a:t>3.2 Elaboración del centinela</a:t>
            </a:r>
          </a:p>
        </p:txBody>
      </p:sp>
      <p:sp>
        <p:nvSpPr>
          <p:cNvPr id="27" name="Google Shape;95;p14">
            <a:extLst>
              <a:ext uri="{FF2B5EF4-FFF2-40B4-BE49-F238E27FC236}">
                <a16:creationId xmlns:a16="http://schemas.microsoft.com/office/drawing/2014/main" id="{E7E09CCD-1FF7-BD3B-8324-D30F193F98E5}"/>
              </a:ext>
            </a:extLst>
          </p:cNvPr>
          <p:cNvSpPr txBox="1"/>
          <p:nvPr/>
        </p:nvSpPr>
        <p:spPr>
          <a:xfrm>
            <a:off x="1583331" y="5610156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87A7F19F-CDCF-0F71-41E0-A9A48CED2216}"/>
              </a:ext>
            </a:extLst>
          </p:cNvPr>
          <p:cNvSpPr/>
          <p:nvPr/>
        </p:nvSpPr>
        <p:spPr>
          <a:xfrm>
            <a:off x="1312926" y="46849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C9FA496C-D561-44DB-FEE1-E574C1CA4F48}"/>
              </a:ext>
            </a:extLst>
          </p:cNvPr>
          <p:cNvSpPr/>
          <p:nvPr/>
        </p:nvSpPr>
        <p:spPr>
          <a:xfrm>
            <a:off x="-99770" y="3959421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C4BBCB27-93AB-01E9-DC40-A46831F3C677}"/>
              </a:ext>
            </a:extLst>
          </p:cNvPr>
          <p:cNvSpPr txBox="1"/>
          <p:nvPr/>
        </p:nvSpPr>
        <p:spPr>
          <a:xfrm>
            <a:off x="13074162" y="-237392"/>
            <a:ext cx="18473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A5973503-033D-C420-8ED1-2884FC2F6C15}"/>
              </a:ext>
            </a:extLst>
          </p:cNvPr>
          <p:cNvSpPr txBox="1"/>
          <p:nvPr/>
        </p:nvSpPr>
        <p:spPr>
          <a:xfrm>
            <a:off x="2663296" y="1598950"/>
            <a:ext cx="69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800" b="1" dirty="0">
                <a:solidFill>
                  <a:srgbClr val="CC965B"/>
                </a:solidFill>
                <a:latin typeface="Gilroy Bold" panose="00000800000000000000" charset="0"/>
              </a:rPr>
              <a:t>Armado del centinela</a:t>
            </a:r>
            <a:endParaRPr lang="es-MX" b="1" dirty="0">
              <a:latin typeface="Gilroy SemiBold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FE6882F-A48C-C9AA-6BF3-FD3F80D1A43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7726" b="17726"/>
          <a:stretch>
            <a:fillRect/>
          </a:stretch>
        </p:blipFill>
        <p:spPr>
          <a:xfrm>
            <a:off x="3412873" y="2174125"/>
            <a:ext cx="5142065" cy="442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65157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1F3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62437F-4B31-10CD-C034-CDE6F3D83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3CBDD46-45B9-5666-9DF5-3B054F85A791}"/>
              </a:ext>
            </a:extLst>
          </p:cNvPr>
          <p:cNvSpPr/>
          <p:nvPr/>
        </p:nvSpPr>
        <p:spPr>
          <a:xfrm>
            <a:off x="2301320" y="269860"/>
            <a:ext cx="6796529" cy="831882"/>
          </a:xfrm>
          <a:custGeom>
            <a:avLst/>
            <a:gdLst/>
            <a:ahLst/>
            <a:cxnLst/>
            <a:rect l="l" t="t" r="r" b="b"/>
            <a:pathLst>
              <a:path w="10194793" h="1247823">
                <a:moveTo>
                  <a:pt x="0" y="0"/>
                </a:moveTo>
                <a:lnTo>
                  <a:pt x="10194793" y="0"/>
                </a:lnTo>
                <a:lnTo>
                  <a:pt x="10194793" y="1247822"/>
                </a:lnTo>
                <a:lnTo>
                  <a:pt x="0" y="12478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5DE8F40-8B2B-7AD8-F433-ACDBCE75461B}"/>
              </a:ext>
            </a:extLst>
          </p:cNvPr>
          <p:cNvSpPr/>
          <p:nvPr/>
        </p:nvSpPr>
        <p:spPr>
          <a:xfrm>
            <a:off x="-112145" y="4891033"/>
            <a:ext cx="2861265" cy="1966967"/>
          </a:xfrm>
          <a:custGeom>
            <a:avLst/>
            <a:gdLst/>
            <a:ahLst/>
            <a:cxnLst/>
            <a:rect l="l" t="t" r="r" b="b"/>
            <a:pathLst>
              <a:path w="4291897" h="2950450">
                <a:moveTo>
                  <a:pt x="0" y="0"/>
                </a:moveTo>
                <a:lnTo>
                  <a:pt x="4291897" y="0"/>
                </a:lnTo>
                <a:lnTo>
                  <a:pt x="4291897" y="2950450"/>
                </a:lnTo>
                <a:lnTo>
                  <a:pt x="0" y="2950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30E0A16-11AF-413D-F811-CD03BCF96FA8}"/>
              </a:ext>
            </a:extLst>
          </p:cNvPr>
          <p:cNvSpPr/>
          <p:nvPr/>
        </p:nvSpPr>
        <p:spPr>
          <a:xfrm rot="-5400000">
            <a:off x="-1893408" y="2014976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94E50EAB-2F6B-9A54-EEC4-499EBE14ACCB}"/>
              </a:ext>
            </a:extLst>
          </p:cNvPr>
          <p:cNvSpPr txBox="1"/>
          <p:nvPr/>
        </p:nvSpPr>
        <p:spPr>
          <a:xfrm>
            <a:off x="6092826" y="3290359"/>
            <a:ext cx="6350" cy="223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1867"/>
              </a:lnSpc>
              <a:buClrTx/>
            </a:pPr>
            <a:endParaRPr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197DE0A8-ED61-E33C-2BD4-39F149C924C8}"/>
              </a:ext>
            </a:extLst>
          </p:cNvPr>
          <p:cNvSpPr/>
          <p:nvPr/>
        </p:nvSpPr>
        <p:spPr>
          <a:xfrm rot="-5400000">
            <a:off x="-979008" y="1089081"/>
            <a:ext cx="4594991" cy="565039"/>
          </a:xfrm>
          <a:custGeom>
            <a:avLst/>
            <a:gdLst/>
            <a:ahLst/>
            <a:cxnLst/>
            <a:rect l="l" t="t" r="r" b="b"/>
            <a:pathLst>
              <a:path w="6892486" h="847558">
                <a:moveTo>
                  <a:pt x="0" y="0"/>
                </a:moveTo>
                <a:lnTo>
                  <a:pt x="6892486" y="0"/>
                </a:lnTo>
                <a:lnTo>
                  <a:pt x="6892486" y="847558"/>
                </a:lnTo>
                <a:lnTo>
                  <a:pt x="0" y="847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73" r="-1207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Google Shape;213;p23">
            <a:extLst>
              <a:ext uri="{FF2B5EF4-FFF2-40B4-BE49-F238E27FC236}">
                <a16:creationId xmlns:a16="http://schemas.microsoft.com/office/drawing/2014/main" id="{607B3995-8ECE-E618-58C7-841DB1DF4972}"/>
              </a:ext>
            </a:extLst>
          </p:cNvPr>
          <p:cNvSpPr txBox="1"/>
          <p:nvPr/>
        </p:nvSpPr>
        <p:spPr>
          <a:xfrm>
            <a:off x="3406722" y="3155802"/>
            <a:ext cx="5691128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s-ES" sz="3200" b="1" dirty="0">
                <a:solidFill>
                  <a:srgbClr val="CC965B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3.4 Conexión y prueba operativa.</a:t>
            </a:r>
          </a:p>
        </p:txBody>
      </p:sp>
    </p:spTree>
    <p:extLst>
      <p:ext uri="{BB962C8B-B14F-4D97-AF65-F5344CB8AC3E}">
        <p14:creationId xmlns:p14="http://schemas.microsoft.com/office/powerpoint/2010/main" val="309265088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B09C2-D79E-F581-A371-B5FC70343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EB4C395-37F4-0C86-B14A-B91FC36014AE}"/>
              </a:ext>
            </a:extLst>
          </p:cNvPr>
          <p:cNvGrpSpPr/>
          <p:nvPr/>
        </p:nvGrpSpPr>
        <p:grpSpPr>
          <a:xfrm>
            <a:off x="955362" y="527411"/>
            <a:ext cx="331077" cy="6330589"/>
            <a:chOff x="0" y="0"/>
            <a:chExt cx="130796" cy="25009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99B2EC0-A0A9-9107-F8CE-34DCA58FDE98}"/>
                </a:ext>
              </a:extLst>
            </p:cNvPr>
            <p:cNvSpPr/>
            <p:nvPr/>
          </p:nvSpPr>
          <p:spPr>
            <a:xfrm>
              <a:off x="0" y="0"/>
              <a:ext cx="130796" cy="2500973"/>
            </a:xfrm>
            <a:custGeom>
              <a:avLst/>
              <a:gdLst/>
              <a:ahLst/>
              <a:cxnLst/>
              <a:rect l="l" t="t" r="r" b="b"/>
              <a:pathLst>
                <a:path w="130796" h="2500973">
                  <a:moveTo>
                    <a:pt x="0" y="0"/>
                  </a:moveTo>
                  <a:lnTo>
                    <a:pt x="130796" y="0"/>
                  </a:lnTo>
                  <a:lnTo>
                    <a:pt x="130796" y="2500973"/>
                  </a:lnTo>
                  <a:lnTo>
                    <a:pt x="0" y="2500973"/>
                  </a:lnTo>
                  <a:close/>
                </a:path>
              </a:pathLst>
            </a:custGeom>
            <a:solidFill>
              <a:srgbClr val="731F3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DD0224C-946C-B0B7-303B-CD60EDAD3E73}"/>
                </a:ext>
              </a:extLst>
            </p:cNvPr>
            <p:cNvSpPr txBox="1"/>
            <p:nvPr/>
          </p:nvSpPr>
          <p:spPr>
            <a:xfrm>
              <a:off x="0" y="-57150"/>
              <a:ext cx="130796" cy="255812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239"/>
                </a:lnSpc>
              </a:pPr>
              <a:endParaRPr sz="933"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A82705EA-2E95-5920-9C83-A9B64E9E1E75}"/>
              </a:ext>
            </a:extLst>
          </p:cNvPr>
          <p:cNvSpPr/>
          <p:nvPr/>
        </p:nvSpPr>
        <p:spPr>
          <a:xfrm>
            <a:off x="2926249" y="0"/>
            <a:ext cx="6339502" cy="83168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888671FF-26FD-D9A4-5A8B-D7815F1D8850}"/>
              </a:ext>
            </a:extLst>
          </p:cNvPr>
          <p:cNvSpPr/>
          <p:nvPr/>
        </p:nvSpPr>
        <p:spPr>
          <a:xfrm rot="-5400000">
            <a:off x="-1216339" y="2247388"/>
            <a:ext cx="4746799" cy="418605"/>
          </a:xfrm>
          <a:custGeom>
            <a:avLst/>
            <a:gdLst/>
            <a:ahLst/>
            <a:cxnLst/>
            <a:rect l="l" t="t" r="r" b="b"/>
            <a:pathLst>
              <a:path w="7120198" h="627907">
                <a:moveTo>
                  <a:pt x="0" y="0"/>
                </a:moveTo>
                <a:lnTo>
                  <a:pt x="7120197" y="0"/>
                </a:lnTo>
                <a:lnTo>
                  <a:pt x="7120197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159" b="-6159"/>
            </a:stretch>
          </a:blipFill>
        </p:spPr>
        <p:txBody>
          <a:bodyPr/>
          <a:lstStyle/>
          <a:p>
            <a:endParaRPr lang="es-MX" dirty="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FEE265B-4F6A-2A5D-E7D2-A67F942828AF}"/>
              </a:ext>
            </a:extLst>
          </p:cNvPr>
          <p:cNvSpPr/>
          <p:nvPr/>
        </p:nvSpPr>
        <p:spPr>
          <a:xfrm rot="-5400000">
            <a:off x="-956032" y="6733881"/>
            <a:ext cx="4226186" cy="418605"/>
          </a:xfrm>
          <a:custGeom>
            <a:avLst/>
            <a:gdLst/>
            <a:ahLst/>
            <a:cxnLst/>
            <a:rect l="l" t="t" r="r" b="b"/>
            <a:pathLst>
              <a:path w="6339279" h="627907">
                <a:moveTo>
                  <a:pt x="0" y="0"/>
                </a:moveTo>
                <a:lnTo>
                  <a:pt x="6339279" y="0"/>
                </a:lnTo>
                <a:lnTo>
                  <a:pt x="6339279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976A67-BB26-3943-0A54-C71CFA2DDD11}"/>
              </a:ext>
            </a:extLst>
          </p:cNvPr>
          <p:cNvSpPr txBox="1"/>
          <p:nvPr/>
        </p:nvSpPr>
        <p:spPr>
          <a:xfrm rot="-5400000">
            <a:off x="-2383049" y="2822599"/>
            <a:ext cx="5988732" cy="766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743"/>
              </a:lnSpc>
            </a:pPr>
            <a:r>
              <a:rPr lang="en-US" sz="3200" b="1" dirty="0">
                <a:solidFill>
                  <a:srgbClr val="BF9F63"/>
                </a:solidFill>
                <a:latin typeface="Raleway Heavy"/>
                <a:ea typeface="Raleway Heavy"/>
                <a:cs typeface="Raleway Heavy"/>
                <a:sym typeface="Raleway Heavy"/>
              </a:rPr>
              <a:t>DE LOS PUEBLOS INDÍGENAS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C36DEF-1D31-B1CC-1632-320C8BB72DA3}"/>
              </a:ext>
            </a:extLst>
          </p:cNvPr>
          <p:cNvSpPr txBox="1"/>
          <p:nvPr/>
        </p:nvSpPr>
        <p:spPr>
          <a:xfrm rot="-5400000">
            <a:off x="-2691133" y="3106324"/>
            <a:ext cx="5629888" cy="1028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971"/>
              </a:lnSpc>
            </a:pPr>
            <a:r>
              <a:rPr lang="en-US" sz="4000" b="1" dirty="0">
                <a:solidFill>
                  <a:srgbClr val="890736"/>
                </a:solidFill>
                <a:latin typeface="Raleway Heavy"/>
                <a:ea typeface="Raleway Heavy"/>
                <a:cs typeface="Raleway Heavy"/>
                <a:sym typeface="Raleway Heavy"/>
              </a:rPr>
              <a:t>INSTITUTO POBLANO</a:t>
            </a:r>
          </a:p>
        </p:txBody>
      </p:sp>
      <p:sp>
        <p:nvSpPr>
          <p:cNvPr id="13" name="Google Shape;127;p16">
            <a:extLst>
              <a:ext uri="{FF2B5EF4-FFF2-40B4-BE49-F238E27FC236}">
                <a16:creationId xmlns:a16="http://schemas.microsoft.com/office/drawing/2014/main" id="{6C93BAC7-6A4A-E3AC-6B9D-1E7EFCDEF63D}"/>
              </a:ext>
            </a:extLst>
          </p:cNvPr>
          <p:cNvSpPr txBox="1"/>
          <p:nvPr/>
        </p:nvSpPr>
        <p:spPr>
          <a:xfrm>
            <a:off x="707246" y="884917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dirty="0">
                <a:sym typeface="Poppins"/>
              </a:rPr>
              <a:t>Resumen del Curso</a:t>
            </a:r>
            <a:endParaRPr lang="es-ES_tradnl" dirty="0"/>
          </a:p>
        </p:txBody>
      </p:sp>
      <p:sp>
        <p:nvSpPr>
          <p:cNvPr id="20" name="Google Shape;127;p16">
            <a:extLst>
              <a:ext uri="{FF2B5EF4-FFF2-40B4-BE49-F238E27FC236}">
                <a16:creationId xmlns:a16="http://schemas.microsoft.com/office/drawing/2014/main" id="{64B69C33-DC3A-FDC1-1424-3064DF8E9920}"/>
              </a:ext>
            </a:extLst>
          </p:cNvPr>
          <p:cNvSpPr txBox="1"/>
          <p:nvPr/>
        </p:nvSpPr>
        <p:spPr>
          <a:xfrm>
            <a:off x="2491837" y="4584051"/>
            <a:ext cx="2005963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dirty="0">
                <a:solidFill>
                  <a:schemeClr val="bg1"/>
                </a:solidFill>
                <a:sym typeface="Poppins"/>
              </a:rPr>
              <a:t>Mujeres</a:t>
            </a:r>
            <a:endParaRPr lang="es-ES_tradnl" dirty="0">
              <a:solidFill>
                <a:schemeClr val="bg1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3863C7F-0830-C820-3A45-5CD5D69E02C9}"/>
              </a:ext>
            </a:extLst>
          </p:cNvPr>
          <p:cNvSpPr txBox="1"/>
          <p:nvPr/>
        </p:nvSpPr>
        <p:spPr>
          <a:xfrm>
            <a:off x="1638333" y="1657767"/>
            <a:ext cx="6237976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endParaRPr lang="es-MX" b="1" dirty="0">
              <a:solidFill>
                <a:srgbClr val="143934"/>
              </a:solidFill>
              <a:latin typeface="Gilroy Bold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r>
              <a:rPr lang="es-ES" sz="1600" dirty="0">
                <a:solidFill>
                  <a:srgbClr val="334155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Comprendimos cómo la energía térmica (calor corporal) se emite como radiación infrarroja y cómo estos cambios de temperatura se traducen en detección a través del principio del Infrarrojo Pasivo (PIR)</a:t>
            </a:r>
            <a:endParaRPr lang="es-MX" sz="1600" dirty="0">
              <a:solidFill>
                <a:srgbClr val="334155"/>
              </a:solidFill>
              <a:effectLst/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36197415-8120-04A5-1A55-73B693B3EC0E}"/>
              </a:ext>
            </a:extLst>
          </p:cNvPr>
          <p:cNvSpPr txBox="1"/>
          <p:nvPr/>
        </p:nvSpPr>
        <p:spPr>
          <a:xfrm>
            <a:off x="1606875" y="1460520"/>
            <a:ext cx="516151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MX" sz="2200" b="1" dirty="0">
                <a:solidFill>
                  <a:srgbClr val="334155"/>
                </a:solidFill>
                <a:effectLst/>
                <a:latin typeface="Gilroy Bold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Tema 1:  El Lenguaje del Calor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69BD459-7EA1-AD75-C7BE-CA7094165185}"/>
              </a:ext>
            </a:extLst>
          </p:cNvPr>
          <p:cNvSpPr txBox="1"/>
          <p:nvPr/>
        </p:nvSpPr>
        <p:spPr>
          <a:xfrm>
            <a:off x="1638331" y="3106170"/>
            <a:ext cx="623797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MX" sz="2200" b="1" dirty="0">
                <a:solidFill>
                  <a:srgbClr val="334155"/>
                </a:solidFill>
                <a:effectLst/>
                <a:latin typeface="Gilroy Bold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Tema 2: Decodificando el sexto sentido</a:t>
            </a:r>
          </a:p>
          <a:p>
            <a:pPr lvl="0" algn="just">
              <a:buSzPts val="1000"/>
              <a:tabLst>
                <a:tab pos="457200" algn="l"/>
              </a:tabLst>
            </a:pPr>
            <a:endParaRPr lang="es-MX" sz="2000" b="1" dirty="0">
              <a:solidFill>
                <a:srgbClr val="143934"/>
              </a:solidFill>
              <a:effectLst/>
              <a:latin typeface="Gilroy Bold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D323581-52D6-7886-919D-27C572C2CC2F}"/>
              </a:ext>
            </a:extLst>
          </p:cNvPr>
          <p:cNvSpPr txBox="1"/>
          <p:nvPr/>
        </p:nvSpPr>
        <p:spPr>
          <a:xfrm>
            <a:off x="1638332" y="3286683"/>
            <a:ext cx="6237975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endParaRPr lang="es-MX" b="1" dirty="0">
              <a:solidFill>
                <a:srgbClr val="143934"/>
              </a:solidFill>
              <a:latin typeface="Gilroy Bold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r>
              <a:rPr lang="es-ES" sz="1600" dirty="0">
                <a:solidFill>
                  <a:srgbClr val="334155"/>
                </a:solidFill>
                <a:effectLst/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Analizamos la arquitectura interna del sensor infrarrojo (HC-SR501) y el módulo relevador, y cómo los ajustes de calibración (sensibilidad y tiempo), la señal digital y la conmutación de energía trabajan en conjunto en nuestro ecosistema de automatización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AF9645D-A798-E02A-0717-BFE4EA30AA4A}"/>
              </a:ext>
            </a:extLst>
          </p:cNvPr>
          <p:cNvSpPr txBox="1"/>
          <p:nvPr/>
        </p:nvSpPr>
        <p:spPr>
          <a:xfrm>
            <a:off x="1606873" y="4904561"/>
            <a:ext cx="476795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MX" sz="2200" b="1" dirty="0">
                <a:solidFill>
                  <a:srgbClr val="334155"/>
                </a:solidFill>
                <a:effectLst/>
                <a:latin typeface="Gilroy Bold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Tema 3:  Ensamblaje </a:t>
            </a:r>
            <a:r>
              <a:rPr lang="es-MX" sz="2200" b="1" dirty="0">
                <a:solidFill>
                  <a:srgbClr val="334155"/>
                </a:solidFill>
                <a:latin typeface="Gilroy Bold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del centinela</a:t>
            </a:r>
            <a:endParaRPr lang="es-MX" sz="2200" b="1" dirty="0">
              <a:solidFill>
                <a:srgbClr val="334155"/>
              </a:solidFill>
              <a:effectLst/>
              <a:latin typeface="Gilroy Bold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endParaRPr lang="es-MX" sz="2000" b="1" dirty="0">
              <a:solidFill>
                <a:srgbClr val="143934"/>
              </a:solidFill>
              <a:effectLst/>
              <a:latin typeface="Gilroy Bold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AE15626-94BF-556E-536D-2B4B69D82FAA}"/>
              </a:ext>
            </a:extLst>
          </p:cNvPr>
          <p:cNvSpPr txBox="1"/>
          <p:nvPr/>
        </p:nvSpPr>
        <p:spPr>
          <a:xfrm>
            <a:off x="1606873" y="5311363"/>
            <a:ext cx="626943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ES" sz="1600" dirty="0">
                <a:solidFill>
                  <a:srgbClr val="334155"/>
                </a:solidFill>
                <a:latin typeface="Gilroy-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Aplicamos la teoría construyendo paso a paso nuestro propio sistema autónomo ('El Centinela'), dominando las técnicas de conexión electrónica, calibración manual de potenciómetros, configuración del puente de disparo y realizando la prueba operativa de detección y encendido.</a:t>
            </a:r>
            <a:endParaRPr lang="es-MX" sz="1600" dirty="0">
              <a:solidFill>
                <a:srgbClr val="334155"/>
              </a:solidFill>
              <a:latin typeface="Gilroy-Medium" panose="000006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7D480EB-3AF4-8432-2681-684A5A45C7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1728" y="-47016"/>
            <a:ext cx="1051482" cy="7045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528348"/>
      </p:ext>
    </p:extLst>
  </p:cSld>
  <p:clrMapOvr>
    <a:masterClrMapping/>
  </p:clrMapOvr>
  <p:transition spd="slow">
    <p:fad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F9FF9-8FA9-076A-E641-90B77A0D4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A782548-9676-7BF4-E93D-F6E55E652CB9}"/>
              </a:ext>
            </a:extLst>
          </p:cNvPr>
          <p:cNvGrpSpPr/>
          <p:nvPr/>
        </p:nvGrpSpPr>
        <p:grpSpPr>
          <a:xfrm>
            <a:off x="955362" y="527411"/>
            <a:ext cx="331077" cy="6330589"/>
            <a:chOff x="0" y="0"/>
            <a:chExt cx="130796" cy="25009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BCBF336-9CCD-B09D-2D09-55C519BF0D74}"/>
                </a:ext>
              </a:extLst>
            </p:cNvPr>
            <p:cNvSpPr/>
            <p:nvPr/>
          </p:nvSpPr>
          <p:spPr>
            <a:xfrm>
              <a:off x="0" y="0"/>
              <a:ext cx="130796" cy="2500973"/>
            </a:xfrm>
            <a:custGeom>
              <a:avLst/>
              <a:gdLst/>
              <a:ahLst/>
              <a:cxnLst/>
              <a:rect l="l" t="t" r="r" b="b"/>
              <a:pathLst>
                <a:path w="130796" h="2500973">
                  <a:moveTo>
                    <a:pt x="0" y="0"/>
                  </a:moveTo>
                  <a:lnTo>
                    <a:pt x="130796" y="0"/>
                  </a:lnTo>
                  <a:lnTo>
                    <a:pt x="130796" y="2500973"/>
                  </a:lnTo>
                  <a:lnTo>
                    <a:pt x="0" y="2500973"/>
                  </a:lnTo>
                  <a:close/>
                </a:path>
              </a:pathLst>
            </a:custGeom>
            <a:solidFill>
              <a:srgbClr val="731F3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52733F2-5710-0229-5378-44F8BEF2110B}"/>
                </a:ext>
              </a:extLst>
            </p:cNvPr>
            <p:cNvSpPr txBox="1"/>
            <p:nvPr/>
          </p:nvSpPr>
          <p:spPr>
            <a:xfrm>
              <a:off x="0" y="-57150"/>
              <a:ext cx="130796" cy="255812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239"/>
                </a:lnSpc>
              </a:pPr>
              <a:endParaRPr sz="933"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921BA36C-94CA-488D-960B-364BFC91395F}"/>
              </a:ext>
            </a:extLst>
          </p:cNvPr>
          <p:cNvSpPr/>
          <p:nvPr/>
        </p:nvSpPr>
        <p:spPr>
          <a:xfrm>
            <a:off x="2926249" y="0"/>
            <a:ext cx="6339502" cy="83168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60B57E6-3CDC-EC6C-950F-0636C01F8AAD}"/>
              </a:ext>
            </a:extLst>
          </p:cNvPr>
          <p:cNvSpPr/>
          <p:nvPr/>
        </p:nvSpPr>
        <p:spPr>
          <a:xfrm rot="-5400000">
            <a:off x="-1216339" y="2247388"/>
            <a:ext cx="4746799" cy="418605"/>
          </a:xfrm>
          <a:custGeom>
            <a:avLst/>
            <a:gdLst/>
            <a:ahLst/>
            <a:cxnLst/>
            <a:rect l="l" t="t" r="r" b="b"/>
            <a:pathLst>
              <a:path w="7120198" h="627907">
                <a:moveTo>
                  <a:pt x="0" y="0"/>
                </a:moveTo>
                <a:lnTo>
                  <a:pt x="7120197" y="0"/>
                </a:lnTo>
                <a:lnTo>
                  <a:pt x="7120197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159" b="-6159"/>
            </a:stretch>
          </a:blipFill>
        </p:spPr>
        <p:txBody>
          <a:bodyPr/>
          <a:lstStyle/>
          <a:p>
            <a:endParaRPr lang="es-MX" dirty="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A716450B-AA71-AD80-CA69-9235A6DB1EE0}"/>
              </a:ext>
            </a:extLst>
          </p:cNvPr>
          <p:cNvSpPr/>
          <p:nvPr/>
        </p:nvSpPr>
        <p:spPr>
          <a:xfrm rot="-5400000">
            <a:off x="-956032" y="6733881"/>
            <a:ext cx="4226186" cy="418605"/>
          </a:xfrm>
          <a:custGeom>
            <a:avLst/>
            <a:gdLst/>
            <a:ahLst/>
            <a:cxnLst/>
            <a:rect l="l" t="t" r="r" b="b"/>
            <a:pathLst>
              <a:path w="6339279" h="627907">
                <a:moveTo>
                  <a:pt x="0" y="0"/>
                </a:moveTo>
                <a:lnTo>
                  <a:pt x="6339279" y="0"/>
                </a:lnTo>
                <a:lnTo>
                  <a:pt x="6339279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F0CC9B-DC80-A787-BE33-C96A2F5EEDCB}"/>
              </a:ext>
            </a:extLst>
          </p:cNvPr>
          <p:cNvSpPr txBox="1"/>
          <p:nvPr/>
        </p:nvSpPr>
        <p:spPr>
          <a:xfrm rot="-5400000">
            <a:off x="-2383049" y="2822599"/>
            <a:ext cx="5988732" cy="766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743"/>
              </a:lnSpc>
            </a:pPr>
            <a:r>
              <a:rPr lang="en-US" sz="3200" b="1" dirty="0">
                <a:solidFill>
                  <a:srgbClr val="BF9F63"/>
                </a:solidFill>
                <a:latin typeface="Raleway Heavy"/>
                <a:ea typeface="Raleway Heavy"/>
                <a:cs typeface="Raleway Heavy"/>
                <a:sym typeface="Raleway Heavy"/>
              </a:rPr>
              <a:t>DE LOS PUEBLOS INDÍGENAS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4CE451-0AE2-4131-7202-F98395ACF082}"/>
              </a:ext>
            </a:extLst>
          </p:cNvPr>
          <p:cNvSpPr txBox="1"/>
          <p:nvPr/>
        </p:nvSpPr>
        <p:spPr>
          <a:xfrm rot="-5400000">
            <a:off x="-2691133" y="3106324"/>
            <a:ext cx="5629888" cy="1028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971"/>
              </a:lnSpc>
            </a:pPr>
            <a:r>
              <a:rPr lang="en-US" sz="4000" b="1" dirty="0">
                <a:solidFill>
                  <a:srgbClr val="890736"/>
                </a:solidFill>
                <a:latin typeface="Raleway Heavy"/>
                <a:ea typeface="Raleway Heavy"/>
                <a:cs typeface="Raleway Heavy"/>
                <a:sym typeface="Raleway Heavy"/>
              </a:rPr>
              <a:t>INSTITUTO POBLANO</a:t>
            </a:r>
          </a:p>
        </p:txBody>
      </p:sp>
      <p:sp>
        <p:nvSpPr>
          <p:cNvPr id="13" name="Google Shape;127;p16">
            <a:extLst>
              <a:ext uri="{FF2B5EF4-FFF2-40B4-BE49-F238E27FC236}">
                <a16:creationId xmlns:a16="http://schemas.microsoft.com/office/drawing/2014/main" id="{9F27020F-CDB5-E9B7-A1C2-A4F7AFA0FDBE}"/>
              </a:ext>
            </a:extLst>
          </p:cNvPr>
          <p:cNvSpPr txBox="1"/>
          <p:nvPr/>
        </p:nvSpPr>
        <p:spPr>
          <a:xfrm>
            <a:off x="707246" y="884917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dirty="0">
                <a:sym typeface="Poppins"/>
              </a:rPr>
              <a:t>Objetivos y Expectativas</a:t>
            </a:r>
            <a:endParaRPr lang="es-ES_tradnl" dirty="0"/>
          </a:p>
        </p:txBody>
      </p:sp>
      <p:sp>
        <p:nvSpPr>
          <p:cNvPr id="20" name="Google Shape;127;p16">
            <a:extLst>
              <a:ext uri="{FF2B5EF4-FFF2-40B4-BE49-F238E27FC236}">
                <a16:creationId xmlns:a16="http://schemas.microsoft.com/office/drawing/2014/main" id="{F36C17EB-151E-085B-4AB9-FA2EED6C0D74}"/>
              </a:ext>
            </a:extLst>
          </p:cNvPr>
          <p:cNvSpPr txBox="1"/>
          <p:nvPr/>
        </p:nvSpPr>
        <p:spPr>
          <a:xfrm>
            <a:off x="2491837" y="4584051"/>
            <a:ext cx="2005963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dirty="0">
                <a:solidFill>
                  <a:schemeClr val="bg1"/>
                </a:solidFill>
                <a:sym typeface="Poppins"/>
              </a:rPr>
              <a:t>Mujeres</a:t>
            </a:r>
            <a:endParaRPr lang="es-ES_tradnl" dirty="0">
              <a:solidFill>
                <a:schemeClr val="bg1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CE6257B-DA6C-138F-3034-408FC9D6FD17}"/>
              </a:ext>
            </a:extLst>
          </p:cNvPr>
          <p:cNvSpPr txBox="1"/>
          <p:nvPr/>
        </p:nvSpPr>
        <p:spPr>
          <a:xfrm>
            <a:off x="2773188" y="2160663"/>
            <a:ext cx="77246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ES" sz="2400" dirty="0">
                <a:solidFill>
                  <a:srgbClr val="143934"/>
                </a:solidFill>
                <a:latin typeface="Gilroy SemiBold Italic" panose="000007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Volviendo a las ideas que compartimos al inicio: ¿El taller logró brindarles las herramientas, la práctica y los conocimientos que buscaban al inscribirse?</a:t>
            </a:r>
            <a:endParaRPr lang="es-MX" sz="2800" dirty="0">
              <a:solidFill>
                <a:srgbClr val="143934"/>
              </a:solidFill>
              <a:effectLst/>
              <a:latin typeface="Gilroy SemiBold Italic" panose="000007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3D0AD0E-30E3-2985-5844-DED5334441D2}"/>
              </a:ext>
            </a:extLst>
          </p:cNvPr>
          <p:cNvSpPr txBox="1"/>
          <p:nvPr/>
        </p:nvSpPr>
        <p:spPr>
          <a:xfrm>
            <a:off x="2773188" y="3906760"/>
            <a:ext cx="772462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ES" sz="2400" dirty="0">
                <a:solidFill>
                  <a:srgbClr val="334155"/>
                </a:solidFill>
                <a:latin typeface="Gilroy SemiBold Italic" panose="000007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A partir de los ensambles realizados hoy: ¿Cuáles son las reflexiones finales o descubrimientos clave que nos llevamos sobre el uso de sensores infrarrojos (PIR) y módulos relevadores?</a:t>
            </a:r>
            <a:endParaRPr lang="es-MX" sz="2800" dirty="0">
              <a:solidFill>
                <a:srgbClr val="334155"/>
              </a:solidFill>
              <a:effectLst/>
              <a:latin typeface="Gilroy SemiBold Italic" panose="000007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5576550"/>
      </p:ext>
    </p:extLst>
  </p:cSld>
  <p:clrMapOvr>
    <a:masterClrMapping/>
  </p:clrMapOvr>
  <p:transition spd="slow">
    <p:fad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/>
        </p:nvSpPr>
        <p:spPr>
          <a:xfrm>
            <a:off x="1581150" y="3060501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0220325" y="3959423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C7BD640-4975-6C7C-4707-B0924B8F244C}"/>
              </a:ext>
            </a:extLst>
          </p:cNvPr>
          <p:cNvSpPr/>
          <p:nvPr/>
        </p:nvSpPr>
        <p:spPr>
          <a:xfrm>
            <a:off x="1337733" y="2065867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D344DBF-4D4C-D7EB-4FD6-5F25DBA0887C}"/>
              </a:ext>
            </a:extLst>
          </p:cNvPr>
          <p:cNvSpPr/>
          <p:nvPr/>
        </p:nvSpPr>
        <p:spPr>
          <a:xfrm>
            <a:off x="10094383" y="3197423"/>
            <a:ext cx="931334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08ADA9B3-9729-77D0-2F16-1A5BEF31D298}"/>
              </a:ext>
            </a:extLst>
          </p:cNvPr>
          <p:cNvSpPr/>
          <p:nvPr/>
        </p:nvSpPr>
        <p:spPr>
          <a:xfrm>
            <a:off x="2663296" y="183545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6" name="Freeform 9">
            <a:extLst>
              <a:ext uri="{FF2B5EF4-FFF2-40B4-BE49-F238E27FC236}">
                <a16:creationId xmlns:a16="http://schemas.microsoft.com/office/drawing/2014/main" id="{E00B7A1C-790C-E03E-F01B-3D6D441310F7}"/>
              </a:ext>
            </a:extLst>
          </p:cNvPr>
          <p:cNvSpPr/>
          <p:nvPr/>
        </p:nvSpPr>
        <p:spPr>
          <a:xfrm>
            <a:off x="-133102" y="3959423"/>
            <a:ext cx="3929320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3872FB28-9BA4-586C-6439-55430D25447C}"/>
              </a:ext>
            </a:extLst>
          </p:cNvPr>
          <p:cNvSpPr/>
          <p:nvPr/>
        </p:nvSpPr>
        <p:spPr>
          <a:xfrm flipH="1">
            <a:off x="8674648" y="3959422"/>
            <a:ext cx="3770803" cy="2898577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4FE8EBB4-80A5-DE14-28EA-8C1F3BBF84A4}"/>
              </a:ext>
            </a:extLst>
          </p:cNvPr>
          <p:cNvGrpSpPr/>
          <p:nvPr/>
        </p:nvGrpSpPr>
        <p:grpSpPr>
          <a:xfrm>
            <a:off x="506106" y="0"/>
            <a:ext cx="186199" cy="3563001"/>
            <a:chOff x="0" y="0"/>
            <a:chExt cx="206317" cy="2315462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30CD6FC5-B451-4186-B145-8FE8F0605F6A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E9281277-164D-85EF-75C3-73AC91A1F369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849EB7ED-A4C3-DC24-3905-5B7EA6A8FC8B}"/>
              </a:ext>
            </a:extLst>
          </p:cNvPr>
          <p:cNvGrpSpPr/>
          <p:nvPr/>
        </p:nvGrpSpPr>
        <p:grpSpPr>
          <a:xfrm>
            <a:off x="11374828" y="-19539"/>
            <a:ext cx="186199" cy="3563001"/>
            <a:chOff x="0" y="0"/>
            <a:chExt cx="206317" cy="231546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9A9B0FA9-CE1C-5A36-7044-F48BE650A524}"/>
                </a:ext>
              </a:extLst>
            </p:cNvPr>
            <p:cNvSpPr/>
            <p:nvPr/>
          </p:nvSpPr>
          <p:spPr>
            <a:xfrm>
              <a:off x="0" y="0"/>
              <a:ext cx="206317" cy="2315462"/>
            </a:xfrm>
            <a:custGeom>
              <a:avLst/>
              <a:gdLst/>
              <a:ahLst/>
              <a:cxnLst/>
              <a:rect l="l" t="t" r="r" b="b"/>
              <a:pathLst>
                <a:path w="206317" h="2315462">
                  <a:moveTo>
                    <a:pt x="0" y="0"/>
                  </a:moveTo>
                  <a:lnTo>
                    <a:pt x="206317" y="0"/>
                  </a:lnTo>
                  <a:lnTo>
                    <a:pt x="206317" y="2315462"/>
                  </a:lnTo>
                  <a:lnTo>
                    <a:pt x="0" y="2315462"/>
                  </a:lnTo>
                  <a:close/>
                </a:path>
              </a:pathLst>
            </a:custGeom>
            <a:solidFill>
              <a:srgbClr val="BF9F6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FBB862A2-19B7-29DA-D97B-46D5B36A6A69}"/>
                </a:ext>
              </a:extLst>
            </p:cNvPr>
            <p:cNvSpPr txBox="1"/>
            <p:nvPr/>
          </p:nvSpPr>
          <p:spPr>
            <a:xfrm>
              <a:off x="0" y="-57150"/>
              <a:ext cx="206317" cy="237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800"/>
            </a:p>
          </p:txBody>
        </p:sp>
      </p:grpSp>
      <p:sp>
        <p:nvSpPr>
          <p:cNvPr id="3" name="Google Shape;93;p14">
            <a:extLst>
              <a:ext uri="{FF2B5EF4-FFF2-40B4-BE49-F238E27FC236}">
                <a16:creationId xmlns:a16="http://schemas.microsoft.com/office/drawing/2014/main" id="{A2E9931E-BCC6-F28A-010F-FF020D737DCA}"/>
              </a:ext>
            </a:extLst>
          </p:cNvPr>
          <p:cNvSpPr txBox="1"/>
          <p:nvPr/>
        </p:nvSpPr>
        <p:spPr>
          <a:xfrm>
            <a:off x="1704729" y="3046489"/>
            <a:ext cx="865659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rgbClr val="890736"/>
                </a:solidFill>
                <a:latin typeface="Montserrat" pitchFamily="2" charset="77"/>
              </a:rPr>
              <a:t>Síntesis Final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DBB23-E915-AC22-C19C-7F72B6F34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5AB9DA4-A335-9B7C-5165-5A07ACE691B9}"/>
              </a:ext>
            </a:extLst>
          </p:cNvPr>
          <p:cNvGrpSpPr/>
          <p:nvPr/>
        </p:nvGrpSpPr>
        <p:grpSpPr>
          <a:xfrm>
            <a:off x="955362" y="527411"/>
            <a:ext cx="331077" cy="6330589"/>
            <a:chOff x="0" y="0"/>
            <a:chExt cx="130796" cy="25009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D061581-7568-9545-1917-C680F99BC172}"/>
                </a:ext>
              </a:extLst>
            </p:cNvPr>
            <p:cNvSpPr/>
            <p:nvPr/>
          </p:nvSpPr>
          <p:spPr>
            <a:xfrm>
              <a:off x="0" y="0"/>
              <a:ext cx="130796" cy="2500973"/>
            </a:xfrm>
            <a:custGeom>
              <a:avLst/>
              <a:gdLst/>
              <a:ahLst/>
              <a:cxnLst/>
              <a:rect l="l" t="t" r="r" b="b"/>
              <a:pathLst>
                <a:path w="130796" h="2500973">
                  <a:moveTo>
                    <a:pt x="0" y="0"/>
                  </a:moveTo>
                  <a:lnTo>
                    <a:pt x="130796" y="0"/>
                  </a:lnTo>
                  <a:lnTo>
                    <a:pt x="130796" y="2500973"/>
                  </a:lnTo>
                  <a:lnTo>
                    <a:pt x="0" y="2500973"/>
                  </a:lnTo>
                  <a:close/>
                </a:path>
              </a:pathLst>
            </a:custGeom>
            <a:solidFill>
              <a:srgbClr val="731F3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599F357-3FBE-49A9-438B-6BEF0162573E}"/>
                </a:ext>
              </a:extLst>
            </p:cNvPr>
            <p:cNvSpPr txBox="1"/>
            <p:nvPr/>
          </p:nvSpPr>
          <p:spPr>
            <a:xfrm>
              <a:off x="0" y="-57150"/>
              <a:ext cx="130796" cy="255812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239"/>
                </a:lnSpc>
              </a:pPr>
              <a:endParaRPr sz="933"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0012249A-1C9C-B841-C983-DC5C0BC2200F}"/>
              </a:ext>
            </a:extLst>
          </p:cNvPr>
          <p:cNvSpPr/>
          <p:nvPr/>
        </p:nvSpPr>
        <p:spPr>
          <a:xfrm>
            <a:off x="2926249" y="0"/>
            <a:ext cx="6339502" cy="83168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C7EB311-8A17-3ADA-1F1D-AC2A9E3E69A9}"/>
              </a:ext>
            </a:extLst>
          </p:cNvPr>
          <p:cNvSpPr/>
          <p:nvPr/>
        </p:nvSpPr>
        <p:spPr>
          <a:xfrm rot="-5400000">
            <a:off x="-1216339" y="2247388"/>
            <a:ext cx="4746799" cy="418605"/>
          </a:xfrm>
          <a:custGeom>
            <a:avLst/>
            <a:gdLst/>
            <a:ahLst/>
            <a:cxnLst/>
            <a:rect l="l" t="t" r="r" b="b"/>
            <a:pathLst>
              <a:path w="7120198" h="627907">
                <a:moveTo>
                  <a:pt x="0" y="0"/>
                </a:moveTo>
                <a:lnTo>
                  <a:pt x="7120197" y="0"/>
                </a:lnTo>
                <a:lnTo>
                  <a:pt x="7120197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159" b="-6159"/>
            </a:stretch>
          </a:blipFill>
        </p:spPr>
        <p:txBody>
          <a:bodyPr/>
          <a:lstStyle/>
          <a:p>
            <a:endParaRPr lang="es-MX" dirty="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15F0952-109F-7860-D4B4-211CD109B30C}"/>
              </a:ext>
            </a:extLst>
          </p:cNvPr>
          <p:cNvSpPr/>
          <p:nvPr/>
        </p:nvSpPr>
        <p:spPr>
          <a:xfrm rot="-5400000">
            <a:off x="-956032" y="6733881"/>
            <a:ext cx="4226186" cy="418605"/>
          </a:xfrm>
          <a:custGeom>
            <a:avLst/>
            <a:gdLst/>
            <a:ahLst/>
            <a:cxnLst/>
            <a:rect l="l" t="t" r="r" b="b"/>
            <a:pathLst>
              <a:path w="6339279" h="627907">
                <a:moveTo>
                  <a:pt x="0" y="0"/>
                </a:moveTo>
                <a:lnTo>
                  <a:pt x="6339279" y="0"/>
                </a:lnTo>
                <a:lnTo>
                  <a:pt x="6339279" y="627907"/>
                </a:lnTo>
                <a:lnTo>
                  <a:pt x="0" y="6279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BC21DD-8331-B3CC-301E-D6A0286D85E4}"/>
              </a:ext>
            </a:extLst>
          </p:cNvPr>
          <p:cNvSpPr txBox="1"/>
          <p:nvPr/>
        </p:nvSpPr>
        <p:spPr>
          <a:xfrm rot="-5400000">
            <a:off x="-2383049" y="2822599"/>
            <a:ext cx="5988732" cy="766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743"/>
              </a:lnSpc>
            </a:pPr>
            <a:r>
              <a:rPr lang="en-US" sz="3200" b="1" dirty="0">
                <a:solidFill>
                  <a:srgbClr val="BF9F63"/>
                </a:solidFill>
                <a:latin typeface="Raleway Heavy"/>
                <a:ea typeface="Raleway Heavy"/>
                <a:cs typeface="Raleway Heavy"/>
                <a:sym typeface="Raleway Heavy"/>
              </a:rPr>
              <a:t>DE LOS PUEBLOS INDÍGENAS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7D83ED-6133-5B10-276E-DE06966003E3}"/>
              </a:ext>
            </a:extLst>
          </p:cNvPr>
          <p:cNvSpPr txBox="1"/>
          <p:nvPr/>
        </p:nvSpPr>
        <p:spPr>
          <a:xfrm rot="-5400000">
            <a:off x="-2691133" y="3106324"/>
            <a:ext cx="5629888" cy="1028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971"/>
              </a:lnSpc>
            </a:pPr>
            <a:r>
              <a:rPr lang="en-US" sz="4000" b="1" dirty="0">
                <a:solidFill>
                  <a:srgbClr val="890736"/>
                </a:solidFill>
                <a:latin typeface="Raleway Heavy"/>
                <a:ea typeface="Raleway Heavy"/>
                <a:cs typeface="Raleway Heavy"/>
                <a:sym typeface="Raleway Heavy"/>
              </a:rPr>
              <a:t>INSTITUTO POBLANO</a:t>
            </a:r>
          </a:p>
        </p:txBody>
      </p:sp>
      <p:sp>
        <p:nvSpPr>
          <p:cNvPr id="13" name="Google Shape;127;p16">
            <a:extLst>
              <a:ext uri="{FF2B5EF4-FFF2-40B4-BE49-F238E27FC236}">
                <a16:creationId xmlns:a16="http://schemas.microsoft.com/office/drawing/2014/main" id="{DB394735-8696-86FC-B5F1-CF7885D9B3A6}"/>
              </a:ext>
            </a:extLst>
          </p:cNvPr>
          <p:cNvSpPr txBox="1"/>
          <p:nvPr/>
        </p:nvSpPr>
        <p:spPr>
          <a:xfrm>
            <a:off x="707246" y="884917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dirty="0"/>
              <a:t>Compromisos y Continuidad</a:t>
            </a:r>
          </a:p>
        </p:txBody>
      </p:sp>
      <p:sp>
        <p:nvSpPr>
          <p:cNvPr id="20" name="Google Shape;127;p16">
            <a:extLst>
              <a:ext uri="{FF2B5EF4-FFF2-40B4-BE49-F238E27FC236}">
                <a16:creationId xmlns:a16="http://schemas.microsoft.com/office/drawing/2014/main" id="{E8FD68CD-AC65-B5D6-5FB1-C93BB58934F6}"/>
              </a:ext>
            </a:extLst>
          </p:cNvPr>
          <p:cNvSpPr txBox="1"/>
          <p:nvPr/>
        </p:nvSpPr>
        <p:spPr>
          <a:xfrm>
            <a:off x="2491837" y="4584051"/>
            <a:ext cx="2005963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dirty="0">
                <a:solidFill>
                  <a:schemeClr val="bg1"/>
                </a:solidFill>
                <a:sym typeface="Poppins"/>
              </a:rPr>
              <a:t>Mujeres</a:t>
            </a:r>
            <a:endParaRPr lang="es-ES_tradnl" dirty="0">
              <a:solidFill>
                <a:schemeClr val="bg1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DACAABB-0E9C-D9F3-92D3-F72F2A3E0AA5}"/>
              </a:ext>
            </a:extLst>
          </p:cNvPr>
          <p:cNvSpPr txBox="1"/>
          <p:nvPr/>
        </p:nvSpPr>
        <p:spPr>
          <a:xfrm>
            <a:off x="2645658" y="1628823"/>
            <a:ext cx="807236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ES" sz="1800" dirty="0">
                <a:solidFill>
                  <a:srgbClr val="143934"/>
                </a:solidFill>
                <a:latin typeface="Gilroy SemiBold Italic" panose="000007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200" dirty="0">
                <a:solidFill>
                  <a:srgbClr val="143934"/>
                </a:solidFill>
                <a:latin typeface="Gilroy SemiBold Italic" panose="000007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Qué sigue ahora? Los invito a seguir investigando sobre sistemas de automatización y probar diferentes módulos de sensores o relevadores de mayor capacidad para proyectos más grandes</a:t>
            </a:r>
            <a:endParaRPr lang="es-MX" sz="2200" dirty="0">
              <a:solidFill>
                <a:srgbClr val="143934"/>
              </a:solidFill>
              <a:effectLst/>
              <a:latin typeface="Gilroy SemiBold Italic" panose="000007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FC7050E-8D89-3E42-290C-B5DB9F71FB0E}"/>
              </a:ext>
            </a:extLst>
          </p:cNvPr>
          <p:cNvSpPr txBox="1"/>
          <p:nvPr/>
        </p:nvSpPr>
        <p:spPr>
          <a:xfrm>
            <a:off x="2603321" y="3501812"/>
            <a:ext cx="811470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ES" sz="2200" dirty="0">
                <a:solidFill>
                  <a:srgbClr val="334155"/>
                </a:solidFill>
                <a:latin typeface="Gilroy SemiBold Italic" panose="000007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¿Cómo aplicaremos el sistema autónomo ('Centinela') que analizamos hoy? (Ej. automatizar la luz de un pasillo o patio, crear una alarma vecinal de seguridad, o encender automáticamente un ventilador/extractor)</a:t>
            </a:r>
            <a:endParaRPr lang="es-MX" sz="2200" dirty="0">
              <a:solidFill>
                <a:srgbClr val="334155"/>
              </a:solidFill>
              <a:effectLst/>
              <a:latin typeface="Gilroy SemiBold Italic" panose="000007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D54EC77-C769-6AB7-1B85-CAE862050FE0}"/>
              </a:ext>
            </a:extLst>
          </p:cNvPr>
          <p:cNvSpPr txBox="1"/>
          <p:nvPr/>
        </p:nvSpPr>
        <p:spPr>
          <a:xfrm>
            <a:off x="2645658" y="5191703"/>
            <a:ext cx="811470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ES" sz="2200" dirty="0">
                <a:solidFill>
                  <a:srgbClr val="464644"/>
                </a:solidFill>
                <a:latin typeface="Gilroy SemiBold Italic" panose="000007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Acción "</a:t>
            </a:r>
            <a:r>
              <a:rPr lang="es-ES" sz="2200" dirty="0" err="1">
                <a:solidFill>
                  <a:srgbClr val="464644"/>
                </a:solidFill>
                <a:latin typeface="Gilroy-Bold" panose="000008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Tekitl</a:t>
            </a:r>
            <a:r>
              <a:rPr lang="es-ES" sz="2200" dirty="0">
                <a:solidFill>
                  <a:srgbClr val="464644"/>
                </a:solidFill>
                <a:latin typeface="Gilroy SemiBold Italic" panose="000007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": El conocimiento crece cuando se comparte. Nuestro último compromiso es transmitir lo aprendido hoy a un familiar o miembro de la comunidad.</a:t>
            </a:r>
            <a:endParaRPr lang="es-MX" sz="2200" dirty="0">
              <a:solidFill>
                <a:srgbClr val="464644"/>
              </a:solidFill>
              <a:effectLst/>
              <a:latin typeface="Gilroy SemiBold Italic" panose="0000070000000000000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9413255"/>
      </p:ext>
    </p:extLst>
  </p:cSld>
  <p:clrMapOvr>
    <a:masterClrMapping/>
  </p:clrMapOvr>
  <p:transition spd="slow">
    <p:fade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>
          <a:extLst>
            <a:ext uri="{FF2B5EF4-FFF2-40B4-BE49-F238E27FC236}">
              <a16:creationId xmlns:a16="http://schemas.microsoft.com/office/drawing/2014/main" id="{CDCD9A02-A2F9-24ED-D945-64D69BD6A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>
            <a:extLst>
              <a:ext uri="{FF2B5EF4-FFF2-40B4-BE49-F238E27FC236}">
                <a16:creationId xmlns:a16="http://schemas.microsoft.com/office/drawing/2014/main" id="{6FFF666A-AE91-1612-FC2D-60C122DF7326}"/>
              </a:ext>
            </a:extLst>
          </p:cNvPr>
          <p:cNvSpPr txBox="1"/>
          <p:nvPr/>
        </p:nvSpPr>
        <p:spPr>
          <a:xfrm>
            <a:off x="476498" y="3263020"/>
            <a:ext cx="116014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sz="5400" dirty="0">
                <a:sym typeface="Poppins"/>
              </a:rPr>
              <a:t>Evaluación Final</a:t>
            </a:r>
            <a:endParaRPr lang="es-ES_tradnl" sz="5400" dirty="0"/>
          </a:p>
        </p:txBody>
      </p:sp>
      <p:sp>
        <p:nvSpPr>
          <p:cNvPr id="4" name="Freeform 9">
            <a:extLst>
              <a:ext uri="{FF2B5EF4-FFF2-40B4-BE49-F238E27FC236}">
                <a16:creationId xmlns:a16="http://schemas.microsoft.com/office/drawing/2014/main" id="{828524E3-66BA-1391-AABD-89DD73DD151E}"/>
              </a:ext>
            </a:extLst>
          </p:cNvPr>
          <p:cNvSpPr/>
          <p:nvPr/>
        </p:nvSpPr>
        <p:spPr>
          <a:xfrm>
            <a:off x="476498" y="937618"/>
            <a:ext cx="2181499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38268E27-D89E-9E47-6F20-C14C95077A72}"/>
              </a:ext>
            </a:extLst>
          </p:cNvPr>
          <p:cNvSpPr/>
          <p:nvPr/>
        </p:nvSpPr>
        <p:spPr>
          <a:xfrm flipH="1">
            <a:off x="9900920" y="937618"/>
            <a:ext cx="1944541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BB6DA418-6A94-BC15-2957-3D4BF139BB8C}"/>
              </a:ext>
            </a:extLst>
          </p:cNvPr>
          <p:cNvSpPr/>
          <p:nvPr/>
        </p:nvSpPr>
        <p:spPr>
          <a:xfrm>
            <a:off x="2726267" y="217683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5841106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/>
          <p:nvPr/>
        </p:nvSpPr>
        <p:spPr>
          <a:xfrm>
            <a:off x="476498" y="3263020"/>
            <a:ext cx="116014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3200" b="1">
                <a:solidFill>
                  <a:srgbClr val="890736"/>
                </a:solidFill>
                <a:latin typeface="Montserrat" pitchFamily="2" charset="77"/>
                <a:ea typeface="Lato"/>
                <a:cs typeface="Lato"/>
              </a:defRPr>
            </a:lvl1pPr>
          </a:lstStyle>
          <a:p>
            <a:r>
              <a:rPr lang="es-ES_tradnl" sz="5400" dirty="0">
                <a:sym typeface="Poppins"/>
              </a:rPr>
              <a:t>Encuesta de Satisfacción </a:t>
            </a:r>
            <a:endParaRPr lang="es-ES_tradnl" sz="5400" dirty="0"/>
          </a:p>
        </p:txBody>
      </p:sp>
      <p:sp>
        <p:nvSpPr>
          <p:cNvPr id="4" name="Freeform 9">
            <a:extLst>
              <a:ext uri="{FF2B5EF4-FFF2-40B4-BE49-F238E27FC236}">
                <a16:creationId xmlns:a16="http://schemas.microsoft.com/office/drawing/2014/main" id="{BF0230B9-B41D-0171-2383-FF1A3EDF6350}"/>
              </a:ext>
            </a:extLst>
          </p:cNvPr>
          <p:cNvSpPr/>
          <p:nvPr/>
        </p:nvSpPr>
        <p:spPr>
          <a:xfrm>
            <a:off x="476498" y="937618"/>
            <a:ext cx="2181499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44DB5B59-812F-3F92-CFE6-A7B86DE51ED2}"/>
              </a:ext>
            </a:extLst>
          </p:cNvPr>
          <p:cNvSpPr/>
          <p:nvPr/>
        </p:nvSpPr>
        <p:spPr>
          <a:xfrm flipH="1">
            <a:off x="9900920" y="937618"/>
            <a:ext cx="1944541" cy="1605880"/>
          </a:xfrm>
          <a:custGeom>
            <a:avLst/>
            <a:gdLst/>
            <a:ahLst/>
            <a:cxnLst/>
            <a:rect l="l" t="t" r="r" b="b"/>
            <a:pathLst>
              <a:path w="3499145" h="2405476">
                <a:moveTo>
                  <a:pt x="0" y="0"/>
                </a:moveTo>
                <a:lnTo>
                  <a:pt x="3499146" y="0"/>
                </a:lnTo>
                <a:lnTo>
                  <a:pt x="3499146" y="2405476"/>
                </a:lnTo>
                <a:lnTo>
                  <a:pt x="0" y="240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FB78C028-ED25-77B2-4AB0-2A3ECFE9866E}"/>
              </a:ext>
            </a:extLst>
          </p:cNvPr>
          <p:cNvSpPr/>
          <p:nvPr/>
        </p:nvSpPr>
        <p:spPr>
          <a:xfrm>
            <a:off x="2726267" y="217683"/>
            <a:ext cx="6739466" cy="854320"/>
          </a:xfrm>
          <a:custGeom>
            <a:avLst/>
            <a:gdLst/>
            <a:ahLst/>
            <a:cxnLst/>
            <a:rect l="l" t="t" r="r" b="b"/>
            <a:pathLst>
              <a:path w="9509253" h="1247520">
                <a:moveTo>
                  <a:pt x="0" y="0"/>
                </a:moveTo>
                <a:lnTo>
                  <a:pt x="9509254" y="0"/>
                </a:lnTo>
                <a:lnTo>
                  <a:pt x="9509254" y="1247520"/>
                </a:lnTo>
                <a:lnTo>
                  <a:pt x="0" y="1247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97736" y="269860"/>
            <a:ext cx="6796529" cy="831882"/>
          </a:xfrm>
          <a:custGeom>
            <a:avLst/>
            <a:gdLst/>
            <a:ahLst/>
            <a:cxnLst/>
            <a:rect l="l" t="t" r="r" b="b"/>
            <a:pathLst>
              <a:path w="10194793" h="1247823">
                <a:moveTo>
                  <a:pt x="0" y="0"/>
                </a:moveTo>
                <a:lnTo>
                  <a:pt x="10194794" y="0"/>
                </a:lnTo>
                <a:lnTo>
                  <a:pt x="10194794" y="1247822"/>
                </a:lnTo>
                <a:lnTo>
                  <a:pt x="0" y="12478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TextBox 3"/>
          <p:cNvSpPr txBox="1"/>
          <p:nvPr/>
        </p:nvSpPr>
        <p:spPr>
          <a:xfrm rot="-5400000">
            <a:off x="-1281896" y="3850123"/>
            <a:ext cx="5150005" cy="86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defTabSz="609630">
              <a:lnSpc>
                <a:spcPts val="7164"/>
              </a:lnSpc>
              <a:buClrTx/>
            </a:pPr>
            <a:r>
              <a:rPr lang="en-US" sz="5118" b="1" kern="1200">
                <a:solidFill>
                  <a:srgbClr val="F2F2F2"/>
                </a:solidFill>
                <a:latin typeface="Raleway Heavy"/>
                <a:ea typeface="Raleway Heavy"/>
                <a:cs typeface="Raleway Heavy"/>
                <a:sym typeface="Raleway Heavy"/>
              </a:rPr>
              <a:t>INDÍGENAS</a:t>
            </a:r>
          </a:p>
        </p:txBody>
      </p:sp>
      <p:sp>
        <p:nvSpPr>
          <p:cNvPr id="4" name="Freeform 4"/>
          <p:cNvSpPr/>
          <p:nvPr/>
        </p:nvSpPr>
        <p:spPr>
          <a:xfrm rot="-5400000">
            <a:off x="-6231" y="835580"/>
            <a:ext cx="1924242" cy="1322814"/>
          </a:xfrm>
          <a:custGeom>
            <a:avLst/>
            <a:gdLst/>
            <a:ahLst/>
            <a:cxnLst/>
            <a:rect l="l" t="t" r="r" b="b"/>
            <a:pathLst>
              <a:path w="2886363" h="1984221">
                <a:moveTo>
                  <a:pt x="0" y="0"/>
                </a:moveTo>
                <a:lnTo>
                  <a:pt x="2886363" y="0"/>
                </a:lnTo>
                <a:lnTo>
                  <a:pt x="2886363" y="1984221"/>
                </a:lnTo>
                <a:lnTo>
                  <a:pt x="0" y="19842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TextBox 5"/>
          <p:cNvSpPr txBox="1"/>
          <p:nvPr/>
        </p:nvSpPr>
        <p:spPr>
          <a:xfrm rot="-5400000">
            <a:off x="-2057931" y="3850123"/>
            <a:ext cx="5150005" cy="86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defTabSz="609630">
              <a:lnSpc>
                <a:spcPts val="7164"/>
              </a:lnSpc>
              <a:buClrTx/>
            </a:pPr>
            <a:r>
              <a:rPr lang="en-US" sz="5118" b="1" kern="1200">
                <a:solidFill>
                  <a:srgbClr val="BF9F63"/>
                </a:solidFill>
                <a:latin typeface="Raleway Heavy"/>
                <a:ea typeface="Raleway Heavy"/>
                <a:cs typeface="Raleway Heavy"/>
                <a:sym typeface="Raleway Heavy"/>
              </a:rPr>
              <a:t>PUEBLOS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285378" y="3194094"/>
            <a:ext cx="5513597" cy="820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6911"/>
              </a:lnSpc>
              <a:buClrTx/>
            </a:pPr>
            <a:r>
              <a:rPr lang="en-US" sz="4936" b="1" kern="1200" dirty="0">
                <a:solidFill>
                  <a:srgbClr val="F2F2F2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Gracias</a:t>
            </a:r>
          </a:p>
        </p:txBody>
      </p:sp>
      <p:sp>
        <p:nvSpPr>
          <p:cNvPr id="8" name="TextBox 8"/>
          <p:cNvSpPr txBox="1"/>
          <p:nvPr/>
        </p:nvSpPr>
        <p:spPr>
          <a:xfrm rot="5400000">
            <a:off x="8281539" y="2185518"/>
            <a:ext cx="5249737" cy="878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defTabSz="609630">
              <a:lnSpc>
                <a:spcPts val="7303"/>
              </a:lnSpc>
              <a:buClrTx/>
            </a:pPr>
            <a:r>
              <a:rPr lang="en-US" sz="5216" b="1" kern="1200">
                <a:solidFill>
                  <a:srgbClr val="F2F2F2"/>
                </a:solidFill>
                <a:latin typeface="Raleway Heavy"/>
                <a:ea typeface="Raleway Heavy"/>
                <a:cs typeface="Raleway Heavy"/>
                <a:sym typeface="Raleway Heavy"/>
              </a:rPr>
              <a:t>INDÍGENAS</a:t>
            </a:r>
          </a:p>
        </p:txBody>
      </p:sp>
      <p:sp>
        <p:nvSpPr>
          <p:cNvPr id="9" name="TextBox 9"/>
          <p:cNvSpPr txBox="1"/>
          <p:nvPr/>
        </p:nvSpPr>
        <p:spPr>
          <a:xfrm rot="5400000">
            <a:off x="9072602" y="2185518"/>
            <a:ext cx="5249737" cy="878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defTabSz="609630">
              <a:lnSpc>
                <a:spcPts val="7303"/>
              </a:lnSpc>
              <a:buClrTx/>
            </a:pPr>
            <a:r>
              <a:rPr lang="en-US" sz="5216" b="1" kern="1200">
                <a:solidFill>
                  <a:srgbClr val="BF9F63"/>
                </a:solidFill>
                <a:latin typeface="Raleway Heavy"/>
                <a:ea typeface="Raleway Heavy"/>
                <a:cs typeface="Raleway Heavy"/>
                <a:sym typeface="Raleway Heavy"/>
              </a:rPr>
              <a:t>PUEBLOS</a:t>
            </a:r>
          </a:p>
        </p:txBody>
      </p:sp>
      <p:sp>
        <p:nvSpPr>
          <p:cNvPr id="10" name="Freeform 10"/>
          <p:cNvSpPr/>
          <p:nvPr/>
        </p:nvSpPr>
        <p:spPr>
          <a:xfrm rot="5400000">
            <a:off x="10289018" y="4741962"/>
            <a:ext cx="1924242" cy="1322814"/>
          </a:xfrm>
          <a:custGeom>
            <a:avLst/>
            <a:gdLst/>
            <a:ahLst/>
            <a:cxnLst/>
            <a:rect l="l" t="t" r="r" b="b"/>
            <a:pathLst>
              <a:path w="2886363" h="1984221">
                <a:moveTo>
                  <a:pt x="0" y="0"/>
                </a:moveTo>
                <a:lnTo>
                  <a:pt x="2886363" y="0"/>
                </a:lnTo>
                <a:lnTo>
                  <a:pt x="2886363" y="1984221"/>
                </a:lnTo>
                <a:lnTo>
                  <a:pt x="0" y="19842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7634</TotalTime>
  <Words>3607</Words>
  <Application>Microsoft Office PowerPoint</Application>
  <PresentationFormat>Panorámica</PresentationFormat>
  <Paragraphs>428</Paragraphs>
  <Slides>79</Slides>
  <Notes>75</Notes>
  <HiddenSlides>0</HiddenSlides>
  <MMClips>0</MMClips>
  <ScaleCrop>false</ScaleCrop>
  <HeadingPairs>
    <vt:vector size="6" baseType="variant">
      <vt:variant>
        <vt:lpstr>Fuentes usadas</vt:lpstr>
      </vt:variant>
      <vt:variant>
        <vt:i4>12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79</vt:i4>
      </vt:variant>
    </vt:vector>
  </HeadingPairs>
  <TitlesOfParts>
    <vt:vector size="93" baseType="lpstr">
      <vt:lpstr>Gilroy-Bold</vt:lpstr>
      <vt:lpstr>Gilroy SemiBold Italic</vt:lpstr>
      <vt:lpstr>Montserrat</vt:lpstr>
      <vt:lpstr>Calibri</vt:lpstr>
      <vt:lpstr>Gilroy</vt:lpstr>
      <vt:lpstr>Gilroy Bold</vt:lpstr>
      <vt:lpstr>Montserrat Heavy</vt:lpstr>
      <vt:lpstr>Poppins</vt:lpstr>
      <vt:lpstr>Raleway Heavy</vt:lpstr>
      <vt:lpstr>Arial</vt:lpstr>
      <vt:lpstr>Gilroy SemiBold</vt:lpstr>
      <vt:lpstr>Gilroy-Medium</vt:lpstr>
      <vt:lpstr>Office Theme</vt:lpstr>
      <vt:lpstr>1_Office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STAFF-UDTI</dc:creator>
  <cp:lastModifiedBy>STAFFTI</cp:lastModifiedBy>
  <cp:revision>99</cp:revision>
  <cp:lastPrinted>2026-01-28T20:03:15Z</cp:lastPrinted>
  <dcterms:modified xsi:type="dcterms:W3CDTF">2026-05-06T18:16:49Z</dcterms:modified>
</cp:coreProperties>
</file>