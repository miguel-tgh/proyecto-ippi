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97"/>
  </p:notesMasterIdLst>
  <p:sldIdLst>
    <p:sldId id="256" r:id="rId3"/>
    <p:sldId id="290" r:id="rId4"/>
    <p:sldId id="291" r:id="rId5"/>
    <p:sldId id="308" r:id="rId6"/>
    <p:sldId id="309" r:id="rId7"/>
    <p:sldId id="296" r:id="rId8"/>
    <p:sldId id="311" r:id="rId9"/>
    <p:sldId id="302" r:id="rId10"/>
    <p:sldId id="313" r:id="rId11"/>
    <p:sldId id="297" r:id="rId12"/>
    <p:sldId id="379" r:id="rId13"/>
    <p:sldId id="382" r:id="rId14"/>
    <p:sldId id="380" r:id="rId15"/>
    <p:sldId id="314" r:id="rId16"/>
    <p:sldId id="315" r:id="rId17"/>
    <p:sldId id="316" r:id="rId18"/>
    <p:sldId id="265" r:id="rId19"/>
    <p:sldId id="383" r:id="rId20"/>
    <p:sldId id="447" r:id="rId21"/>
    <p:sldId id="451" r:id="rId22"/>
    <p:sldId id="443" r:id="rId23"/>
    <p:sldId id="453" r:id="rId24"/>
    <p:sldId id="454" r:id="rId25"/>
    <p:sldId id="444" r:id="rId26"/>
    <p:sldId id="455" r:id="rId27"/>
    <p:sldId id="456" r:id="rId28"/>
    <p:sldId id="462" r:id="rId29"/>
    <p:sldId id="445" r:id="rId30"/>
    <p:sldId id="448" r:id="rId31"/>
    <p:sldId id="461" r:id="rId32"/>
    <p:sldId id="446" r:id="rId33"/>
    <p:sldId id="449" r:id="rId34"/>
    <p:sldId id="450" r:id="rId35"/>
    <p:sldId id="460" r:id="rId36"/>
    <p:sldId id="457" r:id="rId37"/>
    <p:sldId id="463" r:id="rId38"/>
    <p:sldId id="464" r:id="rId39"/>
    <p:sldId id="458" r:id="rId40"/>
    <p:sldId id="465" r:id="rId41"/>
    <p:sldId id="459" r:id="rId42"/>
    <p:sldId id="466" r:id="rId43"/>
    <p:sldId id="467" r:id="rId44"/>
    <p:sldId id="468" r:id="rId45"/>
    <p:sldId id="469" r:id="rId46"/>
    <p:sldId id="471" r:id="rId47"/>
    <p:sldId id="476" r:id="rId48"/>
    <p:sldId id="473" r:id="rId49"/>
    <p:sldId id="477" r:id="rId50"/>
    <p:sldId id="474" r:id="rId51"/>
    <p:sldId id="478" r:id="rId52"/>
    <p:sldId id="479" r:id="rId53"/>
    <p:sldId id="475" r:id="rId54"/>
    <p:sldId id="480" r:id="rId55"/>
    <p:sldId id="481" r:id="rId56"/>
    <p:sldId id="470" r:id="rId57"/>
    <p:sldId id="487" r:id="rId58"/>
    <p:sldId id="488" r:id="rId59"/>
    <p:sldId id="491" r:id="rId60"/>
    <p:sldId id="492" r:id="rId61"/>
    <p:sldId id="482" r:id="rId62"/>
    <p:sldId id="489" r:id="rId63"/>
    <p:sldId id="490" r:id="rId64"/>
    <p:sldId id="493" r:id="rId65"/>
    <p:sldId id="483" r:id="rId66"/>
    <p:sldId id="494" r:id="rId67"/>
    <p:sldId id="484" r:id="rId68"/>
    <p:sldId id="495" r:id="rId69"/>
    <p:sldId id="485" r:id="rId70"/>
    <p:sldId id="496" r:id="rId71"/>
    <p:sldId id="497" r:id="rId72"/>
    <p:sldId id="505" r:id="rId73"/>
    <p:sldId id="506" r:id="rId74"/>
    <p:sldId id="507" r:id="rId75"/>
    <p:sldId id="508" r:id="rId76"/>
    <p:sldId id="486" r:id="rId77"/>
    <p:sldId id="498" r:id="rId78"/>
    <p:sldId id="499" r:id="rId79"/>
    <p:sldId id="500" r:id="rId80"/>
    <p:sldId id="502" r:id="rId81"/>
    <p:sldId id="501" r:id="rId82"/>
    <p:sldId id="503" r:id="rId83"/>
    <p:sldId id="504" r:id="rId84"/>
    <p:sldId id="374" r:id="rId85"/>
    <p:sldId id="472" r:id="rId86"/>
    <p:sldId id="370" r:id="rId87"/>
    <p:sldId id="371" r:id="rId88"/>
    <p:sldId id="372" r:id="rId89"/>
    <p:sldId id="375" r:id="rId90"/>
    <p:sldId id="376" r:id="rId91"/>
    <p:sldId id="257" r:id="rId92"/>
    <p:sldId id="378" r:id="rId93"/>
    <p:sldId id="377" r:id="rId94"/>
    <p:sldId id="259" r:id="rId95"/>
    <p:sldId id="277" r:id="rId96"/>
  </p:sldIdLst>
  <p:sldSz cx="12192000" cy="6858000"/>
  <p:notesSz cx="6858000" cy="9144000"/>
  <p:embeddedFontLst>
    <p:embeddedFont>
      <p:font typeface="Calibri" panose="020F0502020204030204" pitchFamily="34" charset="0"/>
      <p:regular r:id="rId98"/>
      <p:bold r:id="rId99"/>
      <p:italic r:id="rId100"/>
      <p:boldItalic r:id="rId101"/>
    </p:embeddedFont>
    <p:embeddedFont>
      <p:font typeface="Gilroy" panose="020B0604020202020204" charset="0"/>
      <p:regular r:id="rId102"/>
    </p:embeddedFont>
    <p:embeddedFont>
      <p:font typeface="Gilroy Bold" panose="00000800000000000000" charset="0"/>
      <p:bold r:id="rId103"/>
    </p:embeddedFont>
    <p:embeddedFont>
      <p:font typeface="Gilroy SemiBold" panose="00000700000000000000" charset="0"/>
      <p:regular r:id="rId104"/>
      <p:bold r:id="rId105"/>
    </p:embeddedFont>
    <p:embeddedFont>
      <p:font typeface="Gilroy SemiBold Italic" panose="00000700000000000000" charset="0"/>
      <p:bold r:id="rId106"/>
      <p:italic r:id="rId107"/>
      <p:boldItalic r:id="rId108"/>
    </p:embeddedFont>
    <p:embeddedFont>
      <p:font typeface="Gilroy-Bold" panose="00000800000000000000" charset="0"/>
      <p:regular r:id="rId109"/>
      <p:bold r:id="rId110"/>
      <p:italic r:id="rId111"/>
      <p:boldItalic r:id="rId112"/>
    </p:embeddedFont>
    <p:embeddedFont>
      <p:font typeface="Gilroy-Medium" panose="00000600000000000000" pitchFamily="2" charset="0"/>
      <p:regular r:id="rId113"/>
      <p:italic r:id="rId114"/>
    </p:embeddedFont>
    <p:embeddedFont>
      <p:font typeface="Montserrat" panose="00000500000000000000" pitchFamily="2" charset="0"/>
      <p:regular r:id="rId115"/>
      <p:bold r:id="rId116"/>
      <p:italic r:id="rId117"/>
      <p:boldItalic r:id="rId118"/>
    </p:embeddedFont>
    <p:embeddedFont>
      <p:font typeface="Montserrat Heavy" panose="020B0604020202020204" charset="0"/>
      <p:regular r:id="rId119"/>
      <p:bold r:id="rId120"/>
      <p:italic r:id="rId121"/>
      <p:boldItalic r:id="rId122"/>
    </p:embeddedFont>
    <p:embeddedFont>
      <p:font typeface="Poppins" panose="00000500000000000000" pitchFamily="2" charset="0"/>
      <p:regular r:id="rId123"/>
      <p:bold r:id="rId124"/>
      <p:italic r:id="rId125"/>
      <p:boldItalic r:id="rId126"/>
    </p:embeddedFont>
    <p:embeddedFont>
      <p:font typeface="Raleway Heavy" panose="020B0604020202020204" charset="0"/>
      <p:regular r:id="rId127"/>
      <p:bold r:id="rId128"/>
      <p:italic r:id="rId129"/>
      <p:boldItalic r:id="rId1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25A"/>
    <a:srgbClr val="143934"/>
    <a:srgbClr val="464644"/>
    <a:srgbClr val="334155"/>
    <a:srgbClr val="890736"/>
    <a:srgbClr val="CC965B"/>
    <a:srgbClr val="BF9F63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D09364-3DE2-4920-9D95-F2A5C7149E87}">
  <a:tblStyle styleId="{D2D09364-3DE2-4920-9D95-F2A5C7149E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09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20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font" Target="fonts/font10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5.fntdata"/><Relationship Id="rId123" Type="http://schemas.openxmlformats.org/officeDocument/2006/relationships/font" Target="fonts/font26.fntdata"/><Relationship Id="rId128" Type="http://schemas.openxmlformats.org/officeDocument/2006/relationships/font" Target="fonts/font31.fntdata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16.fntdata"/><Relationship Id="rId118" Type="http://schemas.openxmlformats.org/officeDocument/2006/relationships/font" Target="fonts/font21.fntdata"/><Relationship Id="rId134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6.fntdata"/><Relationship Id="rId108" Type="http://schemas.openxmlformats.org/officeDocument/2006/relationships/font" Target="fonts/font11.fntdata"/><Relationship Id="rId124" Type="http://schemas.openxmlformats.org/officeDocument/2006/relationships/font" Target="fonts/font27.fntdata"/><Relationship Id="rId129" Type="http://schemas.openxmlformats.org/officeDocument/2006/relationships/font" Target="fonts/font32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17.fntdata"/><Relationship Id="rId119" Type="http://schemas.openxmlformats.org/officeDocument/2006/relationships/font" Target="fonts/font22.fntdata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font" Target="fonts/font33.fntdata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12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104" Type="http://schemas.openxmlformats.org/officeDocument/2006/relationships/font" Target="fonts/font7.fntdata"/><Relationship Id="rId120" Type="http://schemas.openxmlformats.org/officeDocument/2006/relationships/font" Target="fonts/font23.fntdata"/><Relationship Id="rId125" Type="http://schemas.openxmlformats.org/officeDocument/2006/relationships/font" Target="fonts/font28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font" Target="fonts/font13.fntdata"/><Relationship Id="rId115" Type="http://schemas.openxmlformats.org/officeDocument/2006/relationships/font" Target="fonts/font18.fntdata"/><Relationship Id="rId131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126" Type="http://schemas.openxmlformats.org/officeDocument/2006/relationships/font" Target="fonts/font2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font" Target="fonts/font1.fntdata"/><Relationship Id="rId121" Type="http://schemas.openxmlformats.org/officeDocument/2006/relationships/font" Target="fonts/font24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19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font" Target="fonts/font14.fntdata"/><Relationship Id="rId132" Type="http://schemas.openxmlformats.org/officeDocument/2006/relationships/viewProps" Target="view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9.fntdata"/><Relationship Id="rId127" Type="http://schemas.openxmlformats.org/officeDocument/2006/relationships/font" Target="fonts/font3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122" Type="http://schemas.openxmlformats.org/officeDocument/2006/relationships/font" Target="fonts/font2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font" Target="fonts/font15.fntdata"/><Relationship Id="rId13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3E01CB-F480-352B-2FDE-CBABAA6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362DF539-8F58-7548-9BFE-34F20A496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5F51205A-62A3-5546-D2E2-6BAFECF10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769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9553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243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4C18-5117-63A0-2967-567BDB11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9F2C73-D54B-C729-BAF7-7064A3346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BF8419-F978-3056-8F54-45852CB9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462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4C18-5117-63A0-2967-567BDB11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9F2C73-D54B-C729-BAF7-7064A3346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BF8419-F978-3056-8F54-45852CB9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45232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01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39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6390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676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637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560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6428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4348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8721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777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999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7369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402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0776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683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821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4956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9132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066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832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57250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3514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76340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5345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5967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0884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5028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1049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03785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8372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1402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77437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54257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3013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5305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69697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5852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0678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764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1847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56609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2405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47957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CABB94-A369-5750-D4F0-520B781D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B492027-9D09-799C-C183-27D7E125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555FC29-C381-8FCF-498C-AF016CC2A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03700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52CFA03-F337-26D8-1B29-2292D18D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7ADB5FB-CE5E-875C-3120-EB5DC5038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FBCF64F-D390-F7B5-CA60-FE1E3D1FB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6354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467EDB-5E3D-99FC-EEE8-753971AF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174EEAC-E21B-A23C-4186-A108C1E26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835375E-3D43-FC57-450B-457CD0CCC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4341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80F3596-E316-3D45-4969-FF85B41F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5B03EBE-E3D2-A8A2-0EE8-B49434D0D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6F17BE5-C908-D58E-5DDB-66477F63D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5329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2DF5739-02F1-B919-F09B-6F5352BD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8F9DFDE-8677-E159-CE22-60C19717A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30961C7-44A9-DDEA-6E99-BC5FE616E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41511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6D62554-6F36-E006-476C-40E46A1B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3552815-996D-DF63-8C89-AFFC66EFB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35FB4D4-AA50-3CC6-03FF-2D037E892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6025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5EF9100-ACC3-E28B-2660-F67A33AB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7C17C3A-D9DF-E3E8-ACAF-A4301CCDA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1583A7E-CF8C-30EA-ED57-3660BB91A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1981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1623800-9C80-C81C-4663-30D0BE1B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1F19A49-5BDC-699A-F548-F032173EA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EE6A3C9-31AF-0711-3150-6BB77A6BB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07080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0B14B6C-D6DF-4083-E839-94EE7A5D7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285A3FA-A66B-1457-3C45-B27642F63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D59B055-3B03-C334-9DB4-B554EA96F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4436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FC05E8-AD67-601E-B246-BE0BA3EA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9D50E7E-710E-E6F0-BFD8-D8E12032E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1DCAFBB-4C3F-5A38-73ED-81419CD66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8690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3321CD2-EADD-1E28-E637-811F2B63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716879F-DA9F-7B71-CDB2-1C44AB77E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A59B291-594D-EA9C-7383-471F8EC08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2153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8FA3143-D573-BE25-2D20-2A27CFC7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3593C8C-7711-6CEF-5586-6F04AA39A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619DA00-0F9C-0B86-AE3F-076E94D78D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59399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329F655-76FC-73CD-F237-21D6DFBC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7EE2F16-E1E4-B40A-3AEE-707CA35DA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78EE4DB-F4B0-80BA-41A4-697DC1849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64471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8B429ED-E195-2019-95D6-77C99410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CB7E1BE-6F10-7722-1B79-7BAD4C24A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197923A-E22B-42C8-F97E-5BF443138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65975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96C95B7-E54B-5B5D-A955-48A8A217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9C4D757-4DD5-45BF-DDC3-C06F905DE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C86F915-8EE0-9BCF-2443-96C349B5B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276697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13E079-475A-16C9-C88C-335A1A98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4C11502-532C-6021-4CB9-1175C80CB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7B983A1-4A90-BF67-ECFB-C40EE338C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893001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13E079-475A-16C9-C88C-335A1A98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4C11502-532C-6021-4CB9-1175C80CB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7B983A1-4A90-BF67-ECFB-C40EE338C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36230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13E079-475A-16C9-C88C-335A1A98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4C11502-532C-6021-4CB9-1175C80CB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7B983A1-4A90-BF67-ECFB-C40EE338C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270926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13E079-475A-16C9-C88C-335A1A98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4C11502-532C-6021-4CB9-1175C80CB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7B983A1-4A90-BF67-ECFB-C40EE338C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470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13E079-475A-16C9-C88C-335A1A98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4C11502-532C-6021-4CB9-1175C80CB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7B983A1-4A90-BF67-ECFB-C40EE338C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486552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BA649F9-9A3C-C196-66B1-B5D69779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22B17A3-3DEE-C600-60BC-5D8D16113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F0E0AF5-131F-80AE-7DBF-89A5C2178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25814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7B1CF06-162B-02FE-F3CE-AED2F066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69A3901-E55F-03E0-E3DB-393D7001C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509EAF3-DA3C-7B67-6C2B-9D4D438E1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13920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12BE15B-57BC-5DD7-51A7-F07ECA17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049F6D6-2E6C-7660-53EE-275355B27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470DE90-561A-C281-376E-A7BC3CC60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49107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36A118A-4B12-4C00-5F8C-FF250A2E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5ED9E9D-904D-899F-C31B-B72C240F7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BFB7CD1-1BA0-C72D-5680-8ED4576E7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7630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BE607A9-7F5A-EC04-177E-AB5C944F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A52C56D-B73E-ED69-64A2-C2694617F7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B1A8688-5A1D-6796-3F8D-9F6013994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878145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CD557FA-4E18-7E9D-87F8-CAC8DD3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B71FF6A-9001-5208-E356-C39DF3D77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9120EB7-8FCD-0A01-2DED-04DA81D3D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19960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84F7BB9-B4E1-215C-7F97-0E04C400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6EAE837-B0D3-35D5-23A5-5147BDF80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EAE4CD4-25D2-12AF-C778-EEBA62A02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17866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F703E5D-A909-F3A4-8EE1-E392A743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DB09FB2-D44A-0091-CEA5-9E9E062D3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7CF7CED-6219-D50D-BCFD-548CDBB30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97725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D0FD9CA-C738-4E6D-5054-5EA45A9A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56484E6-D05F-78FB-D7C0-9162B5118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B8641BED-C9B1-A5D6-C560-D484577D5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566414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5F56-4658-149F-DFD1-CE8A559E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FF9627-5A61-98FE-79A1-EFC07C766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7D5B20-0D3F-043D-E5DB-E8BF65D3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223249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4A84-9FF4-557F-8D30-D45EB2E7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2742F3-552E-0C1B-38E8-C039521C3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E205AB-80AD-B019-5444-8970A91B0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027480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EF52-EDCA-3FED-ACA0-9E851C41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D1BDCD-5BAB-81D5-7751-9CABE8BB6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87E799-FCAC-F311-C14F-220D55A64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7306405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939D-A05E-0846-002A-9BB7D3BFE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86FEF3-D642-B0DC-6C42-E54E80FE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BDB6E0-A916-7C62-1EC3-9031D0426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37215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7ED0-DCBC-3CC6-F657-71AA2E9A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A28153-6386-6EAA-EAD1-222A8545D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862A4-1CD2-4465-08D7-AD5F730E8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1882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57A5-55AF-AF46-7689-3E07BEB5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BEA874-CD4F-0BA7-AD00-2D29D532C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181676-2334-4D2A-167B-75C2D823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70754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B704C85-2627-6145-5AD4-7B4F447F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0742D15-A3D3-8015-6956-7C27847FE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04EC58D-6149-56EE-814F-C7B7DDC78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33929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8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38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8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4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7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0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47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07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9A68181-E056-252C-0286-DABDA6DE3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09" r="26437"/>
          <a:stretch/>
        </p:blipFill>
        <p:spPr>
          <a:xfrm>
            <a:off x="8107831" y="2127835"/>
            <a:ext cx="2304646" cy="2834178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453119" y="2961424"/>
            <a:ext cx="723770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Tekitl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Lab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: </a:t>
            </a:r>
            <a:r>
              <a:rPr lang="es-ES_tradnl" sz="3600" b="1" dirty="0">
                <a:solidFill>
                  <a:srgbClr val="CC965B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Impulso Lumínico</a:t>
            </a:r>
            <a:endParaRPr lang="es-ES_tradnl" sz="1050" b="1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233E929-B8D1-D3EC-5318-87E11858A06B}"/>
              </a:ext>
            </a:extLst>
          </p:cNvPr>
          <p:cNvSpPr txBox="1"/>
          <p:nvPr/>
        </p:nvSpPr>
        <p:spPr>
          <a:xfrm rot="-5400000">
            <a:off x="8166152" y="3161774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462F48C-C622-399C-0CFA-C97443E9C90F}"/>
              </a:ext>
            </a:extLst>
          </p:cNvPr>
          <p:cNvSpPr txBox="1"/>
          <p:nvPr/>
        </p:nvSpPr>
        <p:spPr>
          <a:xfrm rot="-5400000">
            <a:off x="7746692" y="3444881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DAA0B104-4F30-D331-1CD8-CBB3540A45DB}"/>
              </a:ext>
            </a:extLst>
          </p:cNvPr>
          <p:cNvSpPr/>
          <p:nvPr/>
        </p:nvSpPr>
        <p:spPr>
          <a:xfrm>
            <a:off x="3249687" y="233980"/>
            <a:ext cx="6490293" cy="832653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Google Shape;85;p13">
            <a:extLst>
              <a:ext uri="{FF2B5EF4-FFF2-40B4-BE49-F238E27FC236}">
                <a16:creationId xmlns:a16="http://schemas.microsoft.com/office/drawing/2014/main" id="{21898E41-893A-C242-A58E-17652E29570C}"/>
              </a:ext>
            </a:extLst>
          </p:cNvPr>
          <p:cNvSpPr txBox="1"/>
          <p:nvPr/>
        </p:nvSpPr>
        <p:spPr>
          <a:xfrm>
            <a:off x="0" y="3626221"/>
            <a:ext cx="76398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none" strike="noStrike" cap="none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Construcción de lámparas USB para la comunidad.</a:t>
            </a:r>
            <a:endParaRPr lang="es-ES_tradnl" sz="500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2D5ABD-5431-8181-E2C4-F0C6A5DA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86BEB50F-862B-14BB-51BB-E1F309E19554}"/>
              </a:ext>
            </a:extLst>
          </p:cNvPr>
          <p:cNvSpPr txBox="1"/>
          <p:nvPr/>
        </p:nvSpPr>
        <p:spPr>
          <a:xfrm>
            <a:off x="193978" y="3013501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Pase de Lista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27FEB71F-A673-C238-CABE-159061589E39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33CAFDE-9136-9BA9-1F6A-D26A30A1ED0E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E18A4B9B-DC56-6F7D-0CB9-9B3AFFD66E3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63BDE3C-0A95-D41C-4825-B0206170C37E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3D07491-8A1D-5A4A-2274-D25E9775616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04DAF37A-BB7F-43A9-2A6C-4DF513C1A29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9F259D6-ED4E-5898-8F0D-C441F1CD5B5B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605DEF1C-2152-C44E-895E-EE710B8DE3C1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BE8AE76-6B07-6CC4-ACE3-486516ECEA0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1D8EF0E-B255-73A9-0FCB-36A5FD5364A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288A8971-1210-D042-0A19-CA539015FC98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607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35893" y="971942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Propósito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843002" y="1623743"/>
            <a:ext cx="105059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Capacitar a los integrantes de la comunidad para comprender los principios, arquitectura y funcionamiento de los diodos LED y los puertos USB, aprendiendo a transformar la energía de corriente directa (5V) en energía luminosa. Este conocimiento se aplicará en la práctica mediante la conexión segura y el ensamblaje de una lámpara USB, fomentando el uso correcto de especificaciones eléctricas y medidas de seguridad para la creación de fuentes de luz y el desarrollo de proyectos tecnológicos locales.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14F7CCB-F047-43A2-9396-3E8F6A5C77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72" t="8829" r="3575" b="10521"/>
          <a:stretch/>
        </p:blipFill>
        <p:spPr>
          <a:xfrm>
            <a:off x="2080576" y="3107016"/>
            <a:ext cx="7461220" cy="35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5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233202" y="99859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Beneficio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1124435" y="1605624"/>
            <a:ext cx="10095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Al concluir el curso, los participantes adquirirán la autonomía técnica necesaria para diseñar, ensamblar y reparar lámparas USB funcionales utilizando componentes recuperados. Esto les permitirá resolver de manera sustentable, económica y colaborativa las necesidades reales de iluminación en su entorno (como labores de alumbrado de espacios, atención de emergencias o ambientación), reduciendo la dependencia de tecnologías costosas y fortaleciendo el desarrollo de su comunidad.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038A65E-080F-4ED9-8A28-49211D4A396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79" t="11762" r="4511" b="5379"/>
          <a:stretch/>
        </p:blipFill>
        <p:spPr>
          <a:xfrm>
            <a:off x="2126915" y="2926441"/>
            <a:ext cx="7570564" cy="382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2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76498" y="951315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Contenido Temático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729268" y="1702894"/>
            <a:ext cx="66389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1: El </a:t>
            </a:r>
            <a:r>
              <a:rPr lang="es-MX" altLang="es-MX" sz="2400" b="1" dirty="0">
                <a:solidFill>
                  <a:srgbClr val="CC965B"/>
                </a:solidFill>
                <a:latin typeface="Gilroy Bold" pitchFamily="2" charset="77"/>
              </a:rPr>
              <a:t>origen de la luz</a:t>
            </a:r>
            <a:endParaRPr kumimoji="0" lang="es-MX" altLang="es-MX" sz="2400" b="1" u="none" strike="noStrike" cap="none" normalizeH="0" baseline="0" dirty="0">
              <a:ln>
                <a:noFill/>
              </a:ln>
              <a:solidFill>
                <a:srgbClr val="CC965B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1.1 El fenómeno luminoso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1.2 </a:t>
            </a:r>
            <a:r>
              <a:rPr lang="es-MX" altLang="es-MX" sz="1800" b="1" dirty="0">
                <a:solidFill>
                  <a:srgbClr val="334155"/>
                </a:solidFill>
                <a:latin typeface="Gilroy Bold" pitchFamily="2" charset="77"/>
              </a:rPr>
              <a:t>La sensación lumínica </a:t>
            </a: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334155"/>
              </a:solidFill>
              <a:effectLst/>
              <a:latin typeface="Gilroy Bold" pitchFamily="2" charset="77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2F1D67B-0D81-484D-9153-D1BE560ACAB2}"/>
              </a:ext>
            </a:extLst>
          </p:cNvPr>
          <p:cNvSpPr txBox="1"/>
          <p:nvPr/>
        </p:nvSpPr>
        <p:spPr>
          <a:xfrm>
            <a:off x="729267" y="3105461"/>
            <a:ext cx="73874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2: </a:t>
            </a:r>
            <a:r>
              <a:rPr lang="es-MX" altLang="es-MX" sz="2400" b="1" dirty="0">
                <a:solidFill>
                  <a:srgbClr val="CC965B"/>
                </a:solidFill>
                <a:latin typeface="Gilroy Bold" pitchFamily="2" charset="77"/>
              </a:rPr>
              <a:t>Arquitectura Fotónica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2.1 </a:t>
            </a:r>
            <a:r>
              <a:rPr lang="es-MX" altLang="es-MX" sz="1800" b="1" dirty="0">
                <a:solidFill>
                  <a:srgbClr val="27625A"/>
                </a:solidFill>
                <a:latin typeface="Gilroy Bold" pitchFamily="2" charset="77"/>
              </a:rPr>
              <a:t>El cauce de la energía</a:t>
            </a: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27625A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2.2 </a:t>
            </a:r>
            <a:r>
              <a:rPr lang="es-MX" altLang="es-MX" sz="1800" b="1" dirty="0">
                <a:solidFill>
                  <a:srgbClr val="27625A"/>
                </a:solidFill>
                <a:latin typeface="Gilroy Bold" pitchFamily="2" charset="77"/>
              </a:rPr>
              <a:t>Anatomía del LED</a:t>
            </a: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27625A"/>
              </a:solidFill>
              <a:effectLst/>
              <a:latin typeface="Gilroy Bold" pitchFamily="2" charset="77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D658E8-A04A-45B8-ADFC-73AD3CF38942}"/>
              </a:ext>
            </a:extLst>
          </p:cNvPr>
          <p:cNvSpPr txBox="1"/>
          <p:nvPr/>
        </p:nvSpPr>
        <p:spPr>
          <a:xfrm>
            <a:off x="729267" y="4529491"/>
            <a:ext cx="707851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3:  Ensamblaje Lumínico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3.1 Preparación de componentes.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3.2 Elaboración paso por paso.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3.3 Conexión y prueba operativa.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464644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27625A"/>
              </a:solidFill>
              <a:effectLst/>
              <a:latin typeface="Gilroy Bold" pitchFamily="2" charset="77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F983B22-450D-4026-9CF1-1F3648728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3766" y="0"/>
            <a:ext cx="1667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9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06875" y="1577359"/>
            <a:ext cx="8406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Objetivos generales</a:t>
            </a:r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645884" y="2423690"/>
            <a:ext cx="5262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sz="1600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Comprender la arquitectura y el funcionamiento electrónico de los puertos USB (5V DC) y los diodos LED, combinando la teoría con la práctica.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606875" y="2208245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¿Qué haremos?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689639" y="3706888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¿Para qué?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676258" y="3956072"/>
            <a:ext cx="523254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Para adquirir la autonomía técnica necesaria para diseñar, ensamblar y reparar lámparas USB propias utilizando componentes recuperados.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707077" y="5219919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Impacto</a:t>
            </a:r>
            <a:endParaRPr lang="es-MX" sz="22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689639" y="5435362"/>
            <a:ext cx="52191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Resolver necesidades específicas de iluminación, ambientación y creación de proyectos lumínicos en nuestra comunidad de forma sustentable y colaborativa.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2D9D82C-379E-475C-A11D-F7ABBC314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18" y="0"/>
            <a:ext cx="1667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5996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28114" y="1546547"/>
            <a:ext cx="84066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solidFill>
                  <a:srgbClr val="334155"/>
                </a:solidFill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particulares</a:t>
            </a:r>
            <a:r>
              <a:rPr lang="es-MX" sz="240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2400" dirty="0"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solidFill>
                  <a:srgbClr val="143934"/>
                </a:solidFill>
                <a:effectLst/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558786" y="2412482"/>
            <a:ext cx="535001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Comprender la naturaleza de la luz, así como su comportamiento físico, su forma de propagación y los principios científicos que explican por qué interactúa de diferente manera.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558786" y="2173084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El origen de la luz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558786" y="3753054"/>
            <a:ext cx="4550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Arquitectura Fotónica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572734" y="3915243"/>
            <a:ext cx="533606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Comprender el funcionamiento de los circuitos básicos y diodos LED, analizando la relación técnica entre el voltaje suministrado por la fuente USB (5V DC), la correcta polaridad de los componentes y la intensidad luminosa proyectada en el entorno.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558786" y="5603751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Lumínico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558786" y="6027673"/>
            <a:ext cx="5336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Construir, soldar y poner a prueba nuestro propio prototipo funcional de lámpara USB.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8A813F-5BCC-410E-99A6-35AB5E19E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18" y="0"/>
            <a:ext cx="1667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31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B1C87-F5D4-0A85-96AC-15D28E49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57FC1-F960-12B0-4CAA-A48F42EE98DC}"/>
              </a:ext>
            </a:extLst>
          </p:cNvPr>
          <p:cNvSpPr/>
          <p:nvPr/>
        </p:nvSpPr>
        <p:spPr>
          <a:xfrm>
            <a:off x="2925402" y="121482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479578-777A-EE8D-E30E-B8D2CFF694CA}"/>
              </a:ext>
            </a:extLst>
          </p:cNvPr>
          <p:cNvSpPr/>
          <p:nvPr/>
        </p:nvSpPr>
        <p:spPr>
          <a:xfrm>
            <a:off x="-112146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CD0B7D-4483-6258-193F-0FD8F701473F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3D39432-FA29-F5F1-0D85-81984445B87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32B3E1A-6CC1-18EF-8DDA-F0CA13EAB758}"/>
              </a:ext>
            </a:extLst>
          </p:cNvPr>
          <p:cNvSpPr/>
          <p:nvPr/>
        </p:nvSpPr>
        <p:spPr>
          <a:xfrm rot="-5400000">
            <a:off x="-1261528" y="102429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3D8DD08D-3AB0-5846-2CEF-6758AB374D65}"/>
              </a:ext>
            </a:extLst>
          </p:cNvPr>
          <p:cNvSpPr txBox="1"/>
          <p:nvPr/>
        </p:nvSpPr>
        <p:spPr>
          <a:xfrm>
            <a:off x="3424253" y="911238"/>
            <a:ext cx="59307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Forma de Evaluación del Curso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2130DB3-BCB4-87ED-9E49-19C4873D012C}"/>
              </a:ext>
            </a:extLst>
          </p:cNvPr>
          <p:cNvSpPr txBox="1"/>
          <p:nvPr/>
        </p:nvSpPr>
        <p:spPr>
          <a:xfrm>
            <a:off x="5526611" y="831772"/>
            <a:ext cx="3739987" cy="87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8142"/>
              </a:lnSpc>
              <a:buClrTx/>
            </a:pPr>
            <a:r>
              <a:rPr lang="es-ES_tradnl" sz="2000" b="1" kern="12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 Bold" pitchFamily="2" charset="77"/>
                <a:ea typeface="Montserrat Bold"/>
                <a:cs typeface="Montserrat Bold"/>
                <a:sym typeface="Montserrat Bold"/>
              </a:rPr>
              <a:t>Célula </a:t>
            </a:r>
            <a:r>
              <a:rPr lang="es-ES_tradnl" sz="2000" b="1" kern="1200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 Bold" pitchFamily="2" charset="77"/>
                <a:ea typeface="Montserrat Bold"/>
                <a:cs typeface="Montserrat Bold"/>
                <a:sym typeface="Montserrat Bold"/>
              </a:rPr>
              <a:t>Tekitl</a:t>
            </a:r>
            <a:endParaRPr lang="es-ES_tradnl" sz="2000" b="1" kern="1200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ilroy Bold" pitchFamily="2" charset="77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444E76-E91C-CD39-A05E-3BE2CBDB2B80}"/>
              </a:ext>
            </a:extLst>
          </p:cNvPr>
          <p:cNvSpPr txBox="1"/>
          <p:nvPr/>
        </p:nvSpPr>
        <p:spPr>
          <a:xfrm>
            <a:off x="2815959" y="1914889"/>
            <a:ext cx="76301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sz="1600" dirty="0">
                <a:effectLst/>
                <a:latin typeface="Gilroy Bold" panose="00000800000000000000" charset="0"/>
              </a:rPr>
              <a:t>Mínimo aprobatorio: </a:t>
            </a:r>
            <a:r>
              <a:rPr lang="es-MX" sz="1600" u="sng" dirty="0">
                <a:effectLst/>
                <a:latin typeface="Gilroy Bold" panose="00000800000000000000" charset="0"/>
              </a:rPr>
              <a:t>80% de la calificación total</a:t>
            </a:r>
            <a:endParaRPr lang="es-MX" sz="1600" dirty="0">
              <a:effectLst/>
              <a:latin typeface="Gilroy Bold" panose="00000800000000000000" charset="0"/>
            </a:endParaRP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r>
              <a:rPr lang="es-MX" sz="1600" dirty="0">
                <a:effectLst/>
                <a:latin typeface="Gilroy Bold" panose="00000800000000000000" charset="0"/>
              </a:rPr>
              <a:t>Criterios de Evaluación Individual:</a:t>
            </a: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/>
                <a:latin typeface="Gilroy Bold" panose="00000800000000000000" charset="0"/>
              </a:rPr>
              <a:t>0% | Diagnóstica </a:t>
            </a:r>
            <a:r>
              <a:rPr lang="es-MX" sz="1600" dirty="0">
                <a:effectLst/>
                <a:latin typeface="Gilroy Bold" panose="00000800000000000000" charset="0"/>
              </a:rPr>
              <a:t>(Al inicio): Cuestionario para conocer su nivel previo. (No afecta la calificación).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/>
                <a:latin typeface="Gilroy Bold" panose="00000800000000000000" charset="0"/>
              </a:rPr>
              <a:t>30% | Desempeño </a:t>
            </a:r>
            <a:r>
              <a:rPr lang="es-MX" sz="1600" dirty="0">
                <a:effectLst/>
                <a:latin typeface="Gilroy Bold" panose="00000800000000000000" charset="0"/>
              </a:rPr>
              <a:t>(Durante la práctica): Guía de observación para evaluar su habilidad y seguridad al usar herramientas (cautín, corte, sellado).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/>
                <a:latin typeface="Gilroy Bold" panose="00000800000000000000" charset="0"/>
              </a:rPr>
              <a:t>20% | Producto </a:t>
            </a:r>
            <a:r>
              <a:rPr lang="es-MX" sz="1600" dirty="0">
                <a:effectLst/>
                <a:latin typeface="Gilroy Bold" panose="00000800000000000000" charset="0"/>
              </a:rPr>
              <a:t>(Al terminar la práctica): Lista de cotejo para validar que su bomba de agua funciona y no tiene fugas.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/>
                <a:latin typeface="Gilroy Bold" panose="00000800000000000000" charset="0"/>
              </a:rPr>
              <a:t>50% | Final </a:t>
            </a:r>
            <a:r>
              <a:rPr lang="es-MX" sz="1600" dirty="0">
                <a:effectLst/>
                <a:latin typeface="Gilroy Bold" panose="00000800000000000000" charset="0"/>
              </a:rPr>
              <a:t>(Al cierre): Cuestionario sumativo para evaluar los conocimientos teóricos adquiridos sobre motores y flujo hídrico.</a:t>
            </a:r>
          </a:p>
        </p:txBody>
      </p:sp>
    </p:spTree>
    <p:extLst>
      <p:ext uri="{BB962C8B-B14F-4D97-AF65-F5344CB8AC3E}">
        <p14:creationId xmlns:p14="http://schemas.microsoft.com/office/powerpoint/2010/main" val="366024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B1C87-F5D4-0A85-96AC-15D28E49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57FC1-F960-12B0-4CAA-A48F42EE98DC}"/>
              </a:ext>
            </a:extLst>
          </p:cNvPr>
          <p:cNvSpPr/>
          <p:nvPr/>
        </p:nvSpPr>
        <p:spPr>
          <a:xfrm>
            <a:off x="2925402" y="121482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479578-777A-EE8D-E30E-B8D2CFF694CA}"/>
              </a:ext>
            </a:extLst>
          </p:cNvPr>
          <p:cNvSpPr/>
          <p:nvPr/>
        </p:nvSpPr>
        <p:spPr>
          <a:xfrm>
            <a:off x="-112146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CD0B7D-4483-6258-193F-0FD8F701473F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3D39432-FA29-F5F1-0D85-81984445B87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32B3E1A-6CC1-18EF-8DDA-F0CA13EAB758}"/>
              </a:ext>
            </a:extLst>
          </p:cNvPr>
          <p:cNvSpPr/>
          <p:nvPr/>
        </p:nvSpPr>
        <p:spPr>
          <a:xfrm rot="-5400000">
            <a:off x="-1261528" y="102429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3D8DD08D-3AB0-5846-2CEF-6758AB374D65}"/>
              </a:ext>
            </a:extLst>
          </p:cNvPr>
          <p:cNvSpPr txBox="1"/>
          <p:nvPr/>
        </p:nvSpPr>
        <p:spPr>
          <a:xfrm>
            <a:off x="3424253" y="911238"/>
            <a:ext cx="59307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Forma de Evaluación del Curso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2130DB3-BCB4-87ED-9E49-19C4873D012C}"/>
              </a:ext>
            </a:extLst>
          </p:cNvPr>
          <p:cNvSpPr txBox="1"/>
          <p:nvPr/>
        </p:nvSpPr>
        <p:spPr>
          <a:xfrm>
            <a:off x="5526611" y="831772"/>
            <a:ext cx="3739987" cy="87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8142"/>
              </a:lnSpc>
              <a:buClrTx/>
            </a:pPr>
            <a:r>
              <a:rPr lang="es-ES_tradnl" sz="2000" b="1" kern="12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 Bold" pitchFamily="2" charset="77"/>
                <a:ea typeface="Montserrat Bold"/>
                <a:cs typeface="Montserrat Bold"/>
                <a:sym typeface="Montserrat Bold"/>
              </a:rPr>
              <a:t>Islas </a:t>
            </a:r>
            <a:r>
              <a:rPr lang="es-ES_tradnl" sz="2000" b="1" kern="1200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 Bold" pitchFamily="2" charset="77"/>
                <a:ea typeface="Montserrat Bold"/>
                <a:cs typeface="Montserrat Bold"/>
                <a:sym typeface="Montserrat Bold"/>
              </a:rPr>
              <a:t>Tekitl</a:t>
            </a:r>
            <a:endParaRPr lang="es-ES_tradnl" sz="2000" b="1" kern="1200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ilroy Bold" pitchFamily="2" charset="77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444E76-E91C-CD39-A05E-3BE2CBDB2B80}"/>
              </a:ext>
            </a:extLst>
          </p:cNvPr>
          <p:cNvSpPr txBox="1"/>
          <p:nvPr/>
        </p:nvSpPr>
        <p:spPr>
          <a:xfrm>
            <a:off x="2815959" y="1784041"/>
            <a:ext cx="76301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sz="1600" dirty="0">
                <a:latin typeface="Gilroy Bold" panose="00000800000000000000" charset="0"/>
              </a:rPr>
              <a:t>Mínimo aprobatorio</a:t>
            </a:r>
            <a:r>
              <a:rPr lang="es-MX" sz="1600" dirty="0">
                <a:effectLst/>
                <a:latin typeface="Gilroy Bold" panose="00000800000000000000" charset="0"/>
              </a:rPr>
              <a:t>: </a:t>
            </a:r>
            <a:r>
              <a:rPr lang="es-MX" sz="1600" u="sng" dirty="0">
                <a:effectLst/>
                <a:latin typeface="Gilroy Bold" panose="00000800000000000000" charset="0"/>
              </a:rPr>
              <a:t>80% de la calificación total</a:t>
            </a:r>
            <a:endParaRPr lang="es-MX" sz="1600" dirty="0">
              <a:latin typeface="Gilroy Bold" panose="00000800000000000000" charset="0"/>
            </a:endParaRPr>
          </a:p>
          <a:p>
            <a:endParaRPr lang="es-MX" sz="1600" dirty="0">
              <a:latin typeface="Gilroy Bold" panose="00000800000000000000" charset="0"/>
            </a:endParaRPr>
          </a:p>
          <a:p>
            <a:endParaRPr lang="es-MX" sz="1600" dirty="0">
              <a:latin typeface="Gilroy Bold" panose="00000800000000000000" charset="0"/>
            </a:endParaRPr>
          </a:p>
          <a:p>
            <a:r>
              <a:rPr lang="es-MX" sz="1600" dirty="0">
                <a:latin typeface="Gilroy Bold" panose="00000800000000000000" charset="0"/>
              </a:rPr>
              <a:t>Criterios de Evaluación:</a:t>
            </a:r>
          </a:p>
          <a:p>
            <a:endParaRPr lang="es-MX" sz="1600" dirty="0"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 0% | Diagnóstica Individual </a:t>
            </a:r>
            <a:r>
              <a:rPr lang="es-MX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(Al inicio): Cuestionario para conocer sus conocimientos previos (No afecta la calificación).</a:t>
            </a:r>
          </a:p>
          <a:p>
            <a:pPr>
              <a:buClr>
                <a:schemeClr val="bg1"/>
              </a:buClr>
            </a:pPr>
            <a:endParaRPr lang="es-MX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30% | Desempeño Individual </a:t>
            </a:r>
            <a:r>
              <a:rPr lang="es-MX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(Durante la práctica): Guía de observación para evaluar el uso seguro de herramientas, la disposición al "</a:t>
            </a:r>
            <a:r>
              <a:rPr lang="es-MX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Tekitl</a:t>
            </a:r>
            <a:r>
              <a:rPr lang="es-MX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" y el apoyo brindado a su equipo.</a:t>
            </a:r>
          </a:p>
          <a:p>
            <a:pPr>
              <a:buClr>
                <a:schemeClr val="bg1"/>
              </a:buClr>
            </a:pPr>
            <a:endParaRPr lang="es-MX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20% | Producto por Equipo </a:t>
            </a:r>
            <a:r>
              <a:rPr lang="es-MX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(Al terminar la práctica): Lista de cotejo para validar físicamente que la bomba armada por todo el equipo funciona y es hermética.</a:t>
            </a:r>
          </a:p>
          <a:p>
            <a:pPr>
              <a:buClr>
                <a:schemeClr val="bg1"/>
              </a:buClr>
            </a:pPr>
            <a:endParaRPr lang="es-MX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s-MX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50% | Final Individual </a:t>
            </a:r>
            <a:r>
              <a:rPr lang="es-MX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roy Bold" panose="00000800000000000000" charset="0"/>
              </a:rPr>
              <a:t>(Al cierre): Cuestionario sumativo para comprobar la teoría aprendida sobre materiales y flujo hídrico</a:t>
            </a:r>
          </a:p>
        </p:txBody>
      </p:sp>
    </p:spTree>
    <p:extLst>
      <p:ext uri="{BB962C8B-B14F-4D97-AF65-F5344CB8AC3E}">
        <p14:creationId xmlns:p14="http://schemas.microsoft.com/office/powerpoint/2010/main" val="419482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Reglas de Operación y Convivencia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780104" y="1883659"/>
            <a:ext cx="91394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Seguridad ante todo: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Uso obligatorio de equipo de protección (gafas y guantes) al usar herramientas térmicas o de corte.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Orden en el laboratorio: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Mantener estrictamente separada el área de pruebas (zona húmeda) de las fuentes de poder.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Filosofía "</a:t>
            </a:r>
            <a:r>
              <a:rPr lang="es-MX" sz="2000" kern="0" dirty="0" err="1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Tekitl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":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Fomentar el trabajo colaborativo; si terminas tu ensamble, apoya a los compañeros de tu isla.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Uso sustentable: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Manejar con responsabilidad los materiales recuperados y devolver las herramientas a su lugar.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Respeto y participación: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Escuchar atentamente a quien tenga la palabra y preguntar cualquier duda técnica en el momento.</a:t>
            </a:r>
            <a:endParaRPr lang="es-MX" sz="20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73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Equipo de Seguridad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E28E5C-F654-4287-8C38-4AC2BC71E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10" y="1512425"/>
            <a:ext cx="11025717" cy="489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17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Espacio Ventilado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7AD0A0-8B83-41AF-8B33-7C8F41415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74" y="1479430"/>
            <a:ext cx="10238452" cy="46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87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Uso del espacio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7E0463-4A13-4EFC-A26F-C962574BE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28" y="605899"/>
            <a:ext cx="10598207" cy="591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Contrato de Aprendizaje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581149" y="1883659"/>
            <a:ext cx="91333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Grupo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Mantener una participación activa y presencia plena durante las explicaciones.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Respetar estrictamente las normas de seguridad al manipular herramientas.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Poner todo el esfuerzo y actitud colaborativa para construir una bomba de agua.</a:t>
            </a:r>
          </a:p>
          <a:p>
            <a:endParaRPr lang="es-MX" sz="2000" kern="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Guiar el proceso de ensamble paso a paso y con total claridad.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Resolver cualquier duda técnica con paciencia y disposición.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Garantizar un entorno de trabajo seguro, ordenado y de absoluto respeto.</a:t>
            </a:r>
          </a:p>
          <a:p>
            <a:endParaRPr lang="es-MX" sz="16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56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Diagnóstica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337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Dudas?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279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4" y="1247668"/>
            <a:ext cx="90502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000" dirty="0">
                <a:sym typeface="Poppins"/>
              </a:rPr>
              <a:t>Tema 1: </a:t>
            </a:r>
            <a:r>
              <a:rPr lang="es-ES_tradnl" sz="4000" dirty="0">
                <a:solidFill>
                  <a:srgbClr val="CC965B"/>
                </a:solidFill>
                <a:sym typeface="Poppins"/>
              </a:rPr>
              <a:t>El origen de la luz</a:t>
            </a:r>
            <a:endParaRPr lang="es-ES_tradnl" sz="4000" dirty="0">
              <a:solidFill>
                <a:srgbClr val="CC965B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A09A0F9-5304-405F-80D8-8FD40B93CF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756" r="11007" b="3998"/>
          <a:stretch/>
        </p:blipFill>
        <p:spPr>
          <a:xfrm>
            <a:off x="3771407" y="1863221"/>
            <a:ext cx="6639528" cy="492492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24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realmente la luz?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312926" y="2900219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es una forma de energía radiante que tiene un comportamiento dual fascinante en la física.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Como partícula: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Está compuesta por "paquetes" de energía sin masa llamados fotones.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Como onda: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 mismo tiempo, se propaga creando campos eléctricos y magnéticos, similar a las ondas que se forman al arrojar una piedra a un estanque de agua</a:t>
            </a:r>
          </a:p>
        </p:txBody>
      </p:sp>
    </p:spTree>
    <p:extLst>
      <p:ext uri="{BB962C8B-B14F-4D97-AF65-F5344CB8AC3E}">
        <p14:creationId xmlns:p14="http://schemas.microsoft.com/office/powerpoint/2010/main" val="3652284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623004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Comportamiento: Onda y Partícula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56B2047-BC08-4F02-B282-46FBDD9AC5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52" t="14861" r="4448" b="3971"/>
          <a:stretch/>
        </p:blipFill>
        <p:spPr>
          <a:xfrm>
            <a:off x="1230938" y="1972164"/>
            <a:ext cx="9299404" cy="471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98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444799" y="1567988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Propagación Omnidireccional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2BF094-7AA5-44D6-A062-4CCF1F27FD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61" r="4097" b="4893"/>
          <a:stretch/>
        </p:blipFill>
        <p:spPr>
          <a:xfrm>
            <a:off x="1312926" y="1204666"/>
            <a:ext cx="9454123" cy="56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21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578747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se propaga la luz?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166284" y="2900219"/>
            <a:ext cx="985943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Viaja en línea recta y es el fenómeno más rápido del universo: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alcanza una velocidad de casi 300,000 kilómetros por segundo en el vacío.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 diferencia del sonido, que necesita aire o agua para viajar,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las ondas de luz electromagnéticas pueden viajar por el espacio vacío.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Cuando la luz atraviesa medios más densos que el vacío (como el agua, el cristal o el plástico de nuestra lámpara USB), su velocidad disminuye levemente</a:t>
            </a:r>
          </a:p>
        </p:txBody>
      </p:sp>
    </p:spTree>
    <p:extLst>
      <p:ext uri="{BB962C8B-B14F-4D97-AF65-F5344CB8AC3E}">
        <p14:creationId xmlns:p14="http://schemas.microsoft.com/office/powerpoint/2010/main" val="1730682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Velocidad de la Luz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19F313-B2FA-487A-8C59-ED65123637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42" t="29919" r="2742" b="4913"/>
          <a:stretch/>
        </p:blipFill>
        <p:spPr>
          <a:xfrm>
            <a:off x="80222" y="1964560"/>
            <a:ext cx="11824288" cy="45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23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523441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Propagación en diferentes medios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70DBCC-3CE8-4015-915D-1D768B9FAD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47" t="14860" r="4447" b="7036"/>
          <a:stretch/>
        </p:blipFill>
        <p:spPr>
          <a:xfrm>
            <a:off x="1270894" y="2051144"/>
            <a:ext cx="9608180" cy="45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5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00902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Lo que nuestros ojos pueden ver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406024" y="2231103"/>
            <a:ext cx="93799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Aunque la luz del Sol parece blanca, en realidad contiene todos los colores del arcoíris.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que vemos es solo una pequeñísima fracción de un espectro gigante de ondas electromagnéticas (que incluye también los rayos X, las microondas y la radiación ultravioleta).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Espectro Visible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abarca ondas que miden entre los 380 y los 780 nanómetros.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Cada color es una onda de distinto tamaño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la luz azul y violeta viajan en ondas más cortas y con más energía, mientras que la luz roja viaja en ondas más largas.</a:t>
            </a:r>
          </a:p>
        </p:txBody>
      </p:sp>
    </p:spTree>
    <p:extLst>
      <p:ext uri="{BB962C8B-B14F-4D97-AF65-F5344CB8AC3E}">
        <p14:creationId xmlns:p14="http://schemas.microsoft.com/office/powerpoint/2010/main" val="3327370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0084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Espectro Electromagnético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E4DF56-12FB-4755-B0CC-3EF1DDBD3F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873" b="4319"/>
          <a:stretch/>
        </p:blipFill>
        <p:spPr>
          <a:xfrm>
            <a:off x="923297" y="1939400"/>
            <a:ext cx="10308531" cy="487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92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578747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Luz Visible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154331-4F40-4D1C-9BC9-1053C71DA9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4" t="17474" r="6251" b="7035"/>
          <a:stretch/>
        </p:blipFill>
        <p:spPr>
          <a:xfrm>
            <a:off x="1069940" y="1701240"/>
            <a:ext cx="10272112" cy="47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00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578747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El color como reflejo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2B3D45-AA3D-41A5-89CE-1B5D53575E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5" t="17448" r="2813" b="4643"/>
          <a:stretch/>
        </p:blipFill>
        <p:spPr>
          <a:xfrm>
            <a:off x="1104133" y="1947283"/>
            <a:ext cx="9992444" cy="460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40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611383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¿Por qué las cosas tienen color?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088416" y="2288491"/>
            <a:ext cx="102349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Reflexión: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"rebota" y cambia de dirección al chocar contra una superficie lisa, como un espejo.</a:t>
            </a:r>
          </a:p>
          <a:p>
            <a:pPr algn="just"/>
            <a:endParaRPr lang="es-MX" sz="2000" dirty="0">
              <a:solidFill>
                <a:srgbClr val="143934"/>
              </a:solidFill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Refracción: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se "dobla" al pasar de un medio a otro distinto (del aire al agua).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Dispersión: La luz blanca se separa en sus distintos colores al atravesar un material transparente, como un prisma o una gota de lluvia.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Difracción: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Las ondas de luz se curvan o desvían al rodear el borde de un obstáculo o al pasar por una rendija pequeña.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ilusión del color: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Los objetos absorben ciertas ondas y reflejan otras. Vemos una manzana roja porque absorbe casi toda la luz y solo "rebota" la luz roja hacia nuestros ojos (lo negro absorbe todo).</a:t>
            </a:r>
          </a:p>
        </p:txBody>
      </p:sp>
    </p:spTree>
    <p:extLst>
      <p:ext uri="{BB962C8B-B14F-4D97-AF65-F5344CB8AC3E}">
        <p14:creationId xmlns:p14="http://schemas.microsoft.com/office/powerpoint/2010/main" val="2074428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3337" y="155092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¿Por qué las cosas tienen color?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BEA15F-8EC1-4DE5-B742-DE2EA6CD9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38" y="1469827"/>
            <a:ext cx="9977932" cy="556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93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3337" y="155092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¿Por qué el cielo es azul?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267658-F574-4E55-88F3-C833DFC242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28" t="13018" r="4255" b="6294"/>
          <a:stretch/>
        </p:blipFill>
        <p:spPr>
          <a:xfrm>
            <a:off x="1432949" y="1967591"/>
            <a:ext cx="9703123" cy="469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9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5877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conexión entre la Luz y el Cuerpo Humano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421963" y="2264858"/>
            <a:ext cx="93799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percepción del color no ocurre solo en el ojo, sino en el cerebro. El ojo actúa como una cámara que capta la luz a través de la pupila y el cristalino.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llega al fondo del ojo, a la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retina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que es una capa de tejido sensible a la luz que funciona gracias a dos tipos de células fotorreceptoras: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Bastones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Son muy sensibles; nos permiten distinguir formas y movimiento cuando hay muy poca luz (visión en blanco y negro).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Conos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Necesitan buena iluminación para activarse y son los encargados de percibir los colores (existen conos especializados en detectar luz roja, verde y azul). La mezcla de sus señales nos permite distinguir millones de colores</a:t>
            </a:r>
          </a:p>
        </p:txBody>
      </p:sp>
    </p:spTree>
    <p:extLst>
      <p:ext uri="{BB962C8B-B14F-4D97-AF65-F5344CB8AC3E}">
        <p14:creationId xmlns:p14="http://schemas.microsoft.com/office/powerpoint/2010/main" val="214064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60084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El Ojo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8B01C7-7594-406F-8556-707A1AE392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4" t="10689" r="2884" b="4678"/>
          <a:stretch/>
        </p:blipFill>
        <p:spPr>
          <a:xfrm>
            <a:off x="1713579" y="1939400"/>
            <a:ext cx="9141864" cy="458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73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549137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Bastones y Conos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D1FD035-B273-496B-8F01-E305914855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5" t="11603" r="4447" b="6766"/>
          <a:stretch/>
        </p:blipFill>
        <p:spPr>
          <a:xfrm>
            <a:off x="1315740" y="1792273"/>
            <a:ext cx="9937542" cy="488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04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El fenómeno Luminoso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549137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La imagen en el cerebro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A31DDC-2AFF-425F-B739-AC35A88BCC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827" b="6158"/>
          <a:stretch/>
        </p:blipFill>
        <p:spPr>
          <a:xfrm>
            <a:off x="889881" y="1939400"/>
            <a:ext cx="10610850" cy="473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47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24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¿Por qué la luz tiene diferentes tonos?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822512" y="2314113"/>
            <a:ext cx="107386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blanca se clasifica por su "temperatura de color", una métrica que se mide en grados Kelvin (K).Esta medida no indica el calor físico que emite el foco o el LED, sino el matiz o el color aparente de la luz: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Luz Cálida (2200K - 3000K):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Emite tonos amarillentos, anaranjados y dorados, similares a la luz de las velas o a la de un atardecer.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Luz Neutra (3500K - 4000K):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un tono blanco intermedio que proporciona un equilibrio visual, ofreciendo claridad sin resultar agresivo.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Luz Fría (5000K - 6500K):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Tiene un tono más azulado y brillante, asemejándose a la luz natural del día en sus horas de mayor intensidad.</a:t>
            </a:r>
          </a:p>
        </p:txBody>
      </p:sp>
    </p:spTree>
    <p:extLst>
      <p:ext uri="{BB962C8B-B14F-4D97-AF65-F5344CB8AC3E}">
        <p14:creationId xmlns:p14="http://schemas.microsoft.com/office/powerpoint/2010/main" val="980021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24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Tonos de luz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E68656-BF10-4A38-94EC-79266972C1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166" b="15237"/>
          <a:stretch/>
        </p:blipFill>
        <p:spPr>
          <a:xfrm>
            <a:off x="1420953" y="2495827"/>
            <a:ext cx="9458121" cy="377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28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24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 err="1">
                <a:solidFill>
                  <a:srgbClr val="CC965B"/>
                </a:solidFill>
                <a:latin typeface="Gilroy Bold" panose="00000800000000000000" charset="0"/>
              </a:rPr>
              <a:t>Metamerismo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6271DF-DA98-4417-A645-E7E0F52CD6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4" t="13018" r="4448" b="2269"/>
          <a:stretch/>
        </p:blipFill>
        <p:spPr>
          <a:xfrm>
            <a:off x="1360090" y="2142808"/>
            <a:ext cx="9248579" cy="471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10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nos hace sentir la iluminación?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838661" y="2200595"/>
            <a:ext cx="1073863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Los diferentes colores de la luz actúan como creadores de estados de ánimo, influyendo directamente en nuestras emociones y sensaciones.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poder de los tonos cálidos: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Fomentan la relajación, la serenidad y transmiten una fuerte sensación de seguridad y confort, lo que los hace ideales para zonas de descanso o convivencia íntima.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equilibrio de los tonos neutros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Transmiten una sensación de limpieza y versatilidad; son perfectos para tareas cotidianas, ya que nos mantienen equilibrados sin sobre estimularnos.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energía de los tonos fríos: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Tienen un efecto altamente activador y estimulante. Elevan la agudeza mental, la concentración y la productividad, aunque si se usan en exceso pueden volver un espacio frío o poco acogedor</a:t>
            </a:r>
          </a:p>
        </p:txBody>
      </p:sp>
    </p:spTree>
    <p:extLst>
      <p:ext uri="{BB962C8B-B14F-4D97-AF65-F5344CB8AC3E}">
        <p14:creationId xmlns:p14="http://schemas.microsoft.com/office/powerpoint/2010/main" val="2867187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nos hace sentir la iluminación?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142223-7A40-4EB8-9784-E7B06D0A637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4" t="19848" r="4342" b="5351"/>
          <a:stretch/>
        </p:blipFill>
        <p:spPr>
          <a:xfrm>
            <a:off x="1267814" y="1939400"/>
            <a:ext cx="10178644" cy="45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10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Efectos en la biología y el entorno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762096" y="2462213"/>
            <a:ext cx="107386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Nuestro reloj biológico: La luz influye en nuestros ritmos circadianos: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143934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fría (rica en tonos azules) le indica al cerebro que es de día, suprimiendo la melatonina (la hormona del sueño) para mantenernos alerta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143934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 cambio, la luz cálida estimula la relajación y prepara al cuerpo para dormir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Percepción del espacio: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luz altera la forma en que percibimos el tamaño de las cosas. Una luz fría tiende a hacer que las habitaciones parezcan más amplias, abiertas y ordenadas, mientras que una luz cálida hace que los espacios se sientan más pequeños, íntimos y recogidos.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379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Reloj biológico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C29774-2E8D-47E3-9B51-7E7977AF6C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94" t="12310" r="10768" b="8889"/>
          <a:stretch/>
        </p:blipFill>
        <p:spPr>
          <a:xfrm>
            <a:off x="1507957" y="1863160"/>
            <a:ext cx="9176085" cy="481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01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Sentido de Percepción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D711F7-8E94-4DFD-988E-89618A1397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566" t="12783" r="4342" b="6529"/>
          <a:stretch/>
        </p:blipFill>
        <p:spPr>
          <a:xfrm>
            <a:off x="1183706" y="1919368"/>
            <a:ext cx="9346636" cy="48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1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351699" y="1215664"/>
            <a:ext cx="1150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La sensación Lumínica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633641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Puente entre física y mente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0A54E47-5005-425A-9223-5797F25309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78" t="10658" r="5670" b="2269"/>
          <a:stretch/>
        </p:blipFill>
        <p:spPr>
          <a:xfrm>
            <a:off x="1657230" y="1997239"/>
            <a:ext cx="8692781" cy="46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15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4" y="1247668"/>
            <a:ext cx="90502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000" dirty="0">
                <a:sym typeface="Poppins"/>
              </a:rPr>
              <a:t>Tema 2: </a:t>
            </a:r>
            <a:r>
              <a:rPr lang="es-ES_tradnl" sz="4000" dirty="0">
                <a:solidFill>
                  <a:srgbClr val="CC965B"/>
                </a:solidFill>
                <a:sym typeface="Poppins"/>
              </a:rPr>
              <a:t>Arquitectura Fotónica</a:t>
            </a:r>
            <a:endParaRPr lang="es-ES_tradnl" sz="4000" dirty="0">
              <a:solidFill>
                <a:srgbClr val="CC965B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17B4181-6536-4276-B3EB-57011E2AE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805" y="1581024"/>
            <a:ext cx="9785684" cy="549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86246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el puerto USB? 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406025" y="2842491"/>
            <a:ext cx="93799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USB significa Bus Serie Universal (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Serial Bus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Nació a mediados de la década de los 90 con un propósito revolucionario: unificar y simplificar la enorme cantidad de cables distintos que existían en esa época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Funciona como un "cauce" bidireccional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permitiendo que un solo cable haga dos cosas al mismo tiempo: transferir información digital y suministrar corriente eléctrica para alimentar o cargar el dispositivo</a:t>
            </a:r>
          </a:p>
        </p:txBody>
      </p:sp>
    </p:spTree>
    <p:extLst>
      <p:ext uri="{BB962C8B-B14F-4D97-AF65-F5344CB8AC3E}">
        <p14:creationId xmlns:p14="http://schemas.microsoft.com/office/powerpoint/2010/main" val="684385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el puerto USB? 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651C46-1123-4AC3-A6B8-18E050C830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448"/>
          <a:stretch/>
        </p:blipFill>
        <p:spPr>
          <a:xfrm>
            <a:off x="1076161" y="2227793"/>
            <a:ext cx="10057100" cy="463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319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4733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evolución de las formas físicas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166283" y="2255614"/>
            <a:ext cx="977579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USB Tipo A: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el clásico conector rectangular y plano.</a:t>
            </a:r>
          </a:p>
          <a:p>
            <a:pPr algn="just"/>
            <a:endParaRPr lang="es-MX" sz="2200" dirty="0">
              <a:solidFill>
                <a:srgbClr val="143934"/>
              </a:solidFill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unidireccional (solo entra de una forma) y ha sido el rey de los cargadores y computadoras de escritorio durante décadas.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USB Tipo B: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más cuadrado; se usa principalmente en aparatos grandes y fijos como impresoras y escáneres por su estabilidad mecánica.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Mini y Micro USB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Creados para dispositivos portátiles. El Micro-USB dominó el mercado de los teléfonos móviles y dispositivos económicos por años, pero tenía el problema de ser frágil y asimétrico</a:t>
            </a:r>
          </a:p>
        </p:txBody>
      </p:sp>
    </p:spTree>
    <p:extLst>
      <p:ext uri="{BB962C8B-B14F-4D97-AF65-F5344CB8AC3E}">
        <p14:creationId xmlns:p14="http://schemas.microsoft.com/office/powerpoint/2010/main" val="13667592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4733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Evolución del USB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2DFC0C-54F5-49BD-82FE-8F925F8BAD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834" b="2269"/>
          <a:stretch/>
        </p:blipFill>
        <p:spPr>
          <a:xfrm>
            <a:off x="1095654" y="1864474"/>
            <a:ext cx="9930063" cy="459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694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</a:t>
            </a:r>
            <a:r>
              <a:rPr lang="es-MX" sz="2400" dirty="0">
                <a:solidFill>
                  <a:srgbClr val="CC965B"/>
                </a:solidFill>
                <a:latin typeface="Gilroy Bold" panose="00000800000000000000" charset="0"/>
              </a:rPr>
              <a:t>revolución del USB C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166283" y="2316398"/>
            <a:ext cx="977579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USB Tipo-C es el diseño más reciente y avanzado. Cuenta con 24 pines internos en un formato ultra compacto.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Es reversible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Su gran ventaja mecánica es la doble simetría; no importa de qué lado o boca abajo lo insertes, siempre conectará a la primera.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Impacto sustentable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Gracias a su versatilidad, regiones como la Unión Europea lo han convertido en el cargador único obligatorio, buscando reducir masivamente la basura electrónica en el planeta </a:t>
            </a:r>
          </a:p>
        </p:txBody>
      </p:sp>
    </p:spTree>
    <p:extLst>
      <p:ext uri="{BB962C8B-B14F-4D97-AF65-F5344CB8AC3E}">
        <p14:creationId xmlns:p14="http://schemas.microsoft.com/office/powerpoint/2010/main" val="1348138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latin typeface="Gilroy Bold" panose="00000800000000000000" charset="0"/>
              </a:rPr>
              <a:t>USB C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84B981-C403-4750-8D5F-35AC487C9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644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latin typeface="Gilroy Bold" panose="00000800000000000000" charset="0"/>
              </a:rPr>
              <a:t>USB C Pines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7EF411-6A4A-49D7-9AC7-6413B9F920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245"/>
          <a:stretch/>
        </p:blipFill>
        <p:spPr>
          <a:xfrm>
            <a:off x="979653" y="1469827"/>
            <a:ext cx="10241405" cy="51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21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700" y="160084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El flujo de la energía (Voltajes y Potencia)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985100" y="2223671"/>
            <a:ext cx="1044161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cauce clásico (5 Voltios):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Históricamente, y por defecto, los puertos USB entregan una energía base y segura de 5 Voltios (5V) de Corriente Directa (DC).</a:t>
            </a:r>
          </a:p>
          <a:p>
            <a:pPr algn="just"/>
            <a:endParaRPr lang="es-MX" sz="2200" dirty="0">
              <a:solidFill>
                <a:srgbClr val="143934"/>
              </a:solidFill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Este es el voltaje exacto que extraeremos al pelar los cables para alimentar los </a:t>
            </a:r>
            <a:r>
              <a:rPr lang="es-MX" sz="2200" kern="0" dirty="0" err="1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LEDs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nuestra lámpara.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carga inteligente (</a:t>
            </a:r>
            <a:r>
              <a:rPr lang="es-MX" sz="2200" kern="0" dirty="0" err="1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Power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2200" kern="0" dirty="0" err="1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Delivery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Los puertos modernos con tecnología USB-PD ya no son estáticos. Tienen un "diálogo" con el dispositivo conectado para negociar y elevar el voltaje según se necesite.</a:t>
            </a:r>
          </a:p>
          <a:p>
            <a:pPr algn="just"/>
            <a:endParaRPr lang="es-MX" sz="22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voltaje puede subir en escalones: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9V, 15V, 20V e incluso hasta 48V, logrando potencias extremas (hasta 240 vatios), </a:t>
            </a:r>
            <a:r>
              <a:rPr lang="es-MX" sz="22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capaces de encender laptops y monitores grandes sin quemar los equipo</a:t>
            </a:r>
          </a:p>
        </p:txBody>
      </p:sp>
    </p:spTree>
    <p:extLst>
      <p:ext uri="{BB962C8B-B14F-4D97-AF65-F5344CB8AC3E}">
        <p14:creationId xmlns:p14="http://schemas.microsoft.com/office/powerpoint/2010/main" val="224176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latin typeface="Gilroy Bold" panose="00000800000000000000" charset="0"/>
              </a:rPr>
              <a:t>USB A </a:t>
            </a:r>
            <a:r>
              <a:rPr lang="es-MX" sz="2400" dirty="0" err="1">
                <a:solidFill>
                  <a:srgbClr val="CC965B"/>
                </a:solidFill>
                <a:latin typeface="Gilroy Bold" panose="00000800000000000000" charset="0"/>
              </a:rPr>
              <a:t>Pinout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420886-D632-42DD-AAA6-AEF358D61F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834" b="2269"/>
          <a:stretch/>
        </p:blipFill>
        <p:spPr>
          <a:xfrm>
            <a:off x="941948" y="1967051"/>
            <a:ext cx="10182162" cy="47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971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El cauce de la energía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42988" y="1626006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Gasto Energético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4C26AC-F91B-4421-9834-61567EFBDF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13" t="14834" r="2813"/>
          <a:stretch/>
        </p:blipFill>
        <p:spPr>
          <a:xfrm>
            <a:off x="1764396" y="1852415"/>
            <a:ext cx="9877337" cy="497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84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C8A81C1-52FE-20E7-42E4-19C06856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3B4D018-48CC-25A4-C1C1-02FAF55C611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D96B1-BD20-D6F5-6479-7E9B6D69385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65F77F-1E90-BCF5-5090-413B3F804D8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FC1A27-857A-0989-E97C-894AAB5E511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FD724B-490D-1917-DC26-D9D2F46DBC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86F4F16-C288-9739-66CD-F19D01334BB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AB50383-2DC8-3DA1-8668-341AA0C4FD9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71CCA52-A476-E9B7-3025-1B43AD3D82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B9830E4F-10B4-C796-FFE1-B2177704C63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966336F-5804-BDE3-DFC3-8A47231C901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E83DE766-4CDA-2A15-B711-6DB6789911D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0C3F709-C3C7-7317-A7C9-F03F479B3E4A}"/>
              </a:ext>
            </a:extLst>
          </p:cNvPr>
          <p:cNvSpPr txBox="1"/>
          <p:nvPr/>
        </p:nvSpPr>
        <p:spPr>
          <a:xfrm>
            <a:off x="762096" y="1215664"/>
            <a:ext cx="108876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24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021C7E7-F98E-3649-6680-0F248EADFF4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B6547BB-77B0-F708-DFE7-AA587B7940E7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64F685-5407-C32C-0BF6-3F32F3F2395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A07A29-3B01-44DD-79E2-9AA43D6F5B3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E2564DD-097D-5350-53D4-510765E69638}"/>
              </a:ext>
            </a:extLst>
          </p:cNvPr>
          <p:cNvSpPr txBox="1"/>
          <p:nvPr/>
        </p:nvSpPr>
        <p:spPr>
          <a:xfrm>
            <a:off x="351699" y="1824350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Del Fuego a la Incandescencia (La era del calor)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D689C5-D89D-9C8A-4E9B-D187AB7141EC}"/>
              </a:ext>
            </a:extLst>
          </p:cNvPr>
          <p:cNvSpPr txBox="1"/>
          <p:nvPr/>
        </p:nvSpPr>
        <p:spPr>
          <a:xfrm>
            <a:off x="1340434" y="2720974"/>
            <a:ext cx="96852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Fuego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Durante milenios, la combustión (antorchas, velas, lámparas de aceite o gas) fue la única forma de iluminación.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Focos Incandescentes (1879):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Thomas Edison popularizó la bombilla de filamento. Su gran desventaja: desperdiciaban hasta el 90% de la energía en calor.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Luces de Yodo (Halógenas, 1959):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Introdujeron un gas halógeno (como el yodo) en el bulbo para lograr una luz más brillante y duradera, pero seguían desprendiendo calor extremo</a:t>
            </a:r>
          </a:p>
        </p:txBody>
      </p:sp>
    </p:spTree>
    <p:extLst>
      <p:ext uri="{BB962C8B-B14F-4D97-AF65-F5344CB8AC3E}">
        <p14:creationId xmlns:p14="http://schemas.microsoft.com/office/powerpoint/2010/main" val="15665123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ECBF141B-91C8-E33C-DF60-0BE7F625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7126A966-0253-B22F-248C-98DDC7686AB1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EAC551-1866-B708-DAF0-9F0410C57B0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D6793C-DA84-0E04-997F-ECAA290E5FA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357A7DE-58E3-82B8-90C7-F8D4B31ED6A1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FB9002D6-2701-5787-2465-D6A128E66F38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17BCA8AA-7BBE-EF63-1D09-B880A4270E9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C5C1DBD8-CA25-3E23-4068-EEB8DCD1499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0179301-B870-E490-8B89-B8651CE8591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61FBC6C9-9DA3-5EDE-90C0-DB8F9A1A507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A4085D2-F8F6-046C-6942-298BF411C03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95AAD7A1-5D35-E69C-C698-6097C79C7D7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E9169C7F-356B-256C-5983-04118BB05E01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5EC3C54A-5BA3-3E6F-65F9-6072D0B6EA91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68661AA-CAFF-50AB-C384-E01FD477201C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DA6BEE1B-43DB-630C-A1E8-05D8B27FABA6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D197A93-92D5-99E2-73F6-1A2F76793D88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E3A672C-2539-616D-4346-75701949839F}"/>
              </a:ext>
            </a:extLst>
          </p:cNvPr>
          <p:cNvSpPr txBox="1"/>
          <p:nvPr/>
        </p:nvSpPr>
        <p:spPr>
          <a:xfrm>
            <a:off x="351700" y="167588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Separar la luz del calor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9" name="Imagen 8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3175CF23-054C-24EE-1C73-BA6B529B4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36" y="1292757"/>
            <a:ext cx="9236990" cy="515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77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E674DFF3-06C1-46E1-147E-D6D288F7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D7619FB4-AE3F-9582-1111-4A7A4BD3A397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9B9B7B-4498-4946-2C20-170B7AC5AF15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DD445C-FDC2-CD3E-F118-942F1C37790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1CBFCF-81DB-978A-D218-7303FBA1E31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9997D397-BCC6-36FD-CBE6-41764D2BE8D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A4D3859-DBBD-112C-E017-2C62636068A2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BF42CF6-F47F-678C-524E-CF394AEF1A9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311B6F4B-B6DD-323F-661A-F1CAFB4606EA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D119E13-EC67-7251-3D78-36C7F59E9102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8B53F24-6E0D-B6AF-AAC2-58C743C007A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45F6F7FE-9CB0-F724-21C4-AF7E9F92019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54C38C5E-F4B7-5821-D404-AE2FF1FA0247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A15F244-3043-5E46-153C-F27DBDEDD5CE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D79B04B-C1A2-0DCE-17E8-9FB13AAC3CCF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F6F8A570-7A53-E1BC-4E22-D013261BB295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CDB7F7E-F4C2-5917-7949-4F7B6F3CABD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339DD4A-AE18-37A0-48C0-8CDF8BB4687E}"/>
              </a:ext>
            </a:extLst>
          </p:cNvPr>
          <p:cNvSpPr txBox="1"/>
          <p:nvPr/>
        </p:nvSpPr>
        <p:spPr>
          <a:xfrm>
            <a:off x="351700" y="167588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Era de la combustión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6B5B787-1EAB-4B73-1CA2-8E1A5A54C0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45" t="20951" r="2742"/>
          <a:stretch>
            <a:fillRect/>
          </a:stretch>
        </p:blipFill>
        <p:spPr>
          <a:xfrm>
            <a:off x="1362010" y="2173077"/>
            <a:ext cx="9845001" cy="455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565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A97F87E-E03C-A5DF-9173-1FC3DA73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29B0DC7-C769-DBE1-2CB9-7520B842A961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FBA5BC-AF32-E08B-CB69-8872BD403E67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D1002E-2501-96A9-1656-6D3115917DB8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C089CB0-AC06-74E0-C390-A7B2FE9FC11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351913C-672E-8297-5BBD-3AF48103FD4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84C26956-22B4-811E-E3B2-87BC1DD0CA90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85D26BD-19FB-5C51-26B0-D2C390605EA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9882300A-4669-D533-CAA7-364A938B293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40F83140-7981-A20D-B9ED-7414BC1257B8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2C3A69-B29F-CC25-5595-B584B18562B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99BD72A9-DF6B-2016-DB60-567166AAB98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36668AC9-8344-0CB3-18B1-6FA086313AD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ED465626-50F1-60FB-692E-0DF3B5E85722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5BA859A-30C0-2DEF-65CB-4A512F2775A4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AF2CC3A4-A554-B201-0465-F2375F3B2E2E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7788ED3-5BDF-27A2-46CF-BF6DA9493912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0988664-501E-054F-CF1F-E64389BEBE3F}"/>
              </a:ext>
            </a:extLst>
          </p:cNvPr>
          <p:cNvSpPr txBox="1"/>
          <p:nvPr/>
        </p:nvSpPr>
        <p:spPr>
          <a:xfrm>
            <a:off x="351700" y="167588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Focos Incandescentes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0E8008D4-5000-98FC-7821-A9E1A511D0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4" t="7040" r="3863" b="6837"/>
          <a:stretch>
            <a:fillRect/>
          </a:stretch>
        </p:blipFill>
        <p:spPr>
          <a:xfrm>
            <a:off x="2181857" y="2014443"/>
            <a:ext cx="8652186" cy="445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531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9DC50F86-3D2F-62E5-C1D2-A33AB560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D1C48718-1FDF-D4DA-97DA-D630AEC494C4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321677-CA27-F550-AE0F-28B9BDCBCF6E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9BEC0C-1F1D-D4D2-BFD3-2C762FF1C2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74BB8792-37D6-A697-CE66-F553F6115569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7966BD0-A2D9-0CE1-C5A4-3C20E501344F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6C6485F-0020-39AA-0C71-B45A60876E19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42B54018-5725-EC83-8874-B609D8FC5C8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30D341A3-5117-81C1-0355-B5482B22A3C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F9223E8-4178-395D-E778-9FF397E56871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1486927-3635-DFC7-FA46-C501389ADA2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0AEBF032-4D8E-0750-9705-8C89665ECF4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F66F0775-1A48-388E-1EEE-D4189DBE9AF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5AFDDD9D-6FF8-EDC7-BD19-10471D269889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F117F02-49A6-1643-ED27-53668B09CB2D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DCD51797-F6BC-EB86-CACB-FA80E9DF03B8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9EB64C9-B9CE-DCE5-0220-7E0CA61D267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763F747-1434-F919-00AE-A6753B4FA71E}"/>
              </a:ext>
            </a:extLst>
          </p:cNvPr>
          <p:cNvSpPr txBox="1"/>
          <p:nvPr/>
        </p:nvSpPr>
        <p:spPr>
          <a:xfrm>
            <a:off x="351700" y="1675889"/>
            <a:ext cx="11506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400" b="1" dirty="0">
                <a:solidFill>
                  <a:srgbClr val="CC965B"/>
                </a:solidFill>
                <a:latin typeface="Gilroy Bold" panose="00000800000000000000" charset="0"/>
              </a:rPr>
              <a:t>Luces de Yodo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78F0CA3C-BE18-18D2-ED1F-25D0A4A2EE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4" t="14834" r="2884" b="10641"/>
          <a:stretch>
            <a:fillRect/>
          </a:stretch>
        </p:blipFill>
        <p:spPr>
          <a:xfrm>
            <a:off x="369123" y="1620667"/>
            <a:ext cx="11488600" cy="506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6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880B920-143F-CC8A-1789-7A44C2D2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E57F9EA-4002-A13B-1588-6BCCE372A837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22E894-5136-DB5F-A113-02F9AA0EBCB9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D26209-81D9-0173-4E84-B4359475945E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CE3CC82-C065-6338-A0C8-3F2D1CB54A5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F09530E-1CD2-DBCF-3696-1C3472670DA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12B85F1D-7101-C2DA-EA77-EB73DB7EC3B8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2401795-9E4D-1B0D-F431-1C486D215BE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A0DA209D-D9F5-CD6F-55BD-1EC8D3522C1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A9E2C38-BE98-CF18-FF65-AFBFFDA2945B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BC0EE2-4A4B-7C03-DA71-2AEE0D1BAD4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9F9CB116-9A1C-B79E-0E4C-859850701E0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3B60CE87-8D0D-0CC2-F727-A7E702D3FE76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83033D99-AE93-55BA-F8E6-F9D744A3935B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348F75-9F59-0C81-4A94-A79F7AAA7E30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FC3EAAFE-0071-FFEE-2B51-68D8ADF2A788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9D21C8D-8777-BF3F-A872-B69DE5CD9262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54A766D-1349-56FE-160E-6B8EB54DB559}"/>
              </a:ext>
            </a:extLst>
          </p:cNvPr>
          <p:cNvSpPr txBox="1"/>
          <p:nvPr/>
        </p:nvSpPr>
        <p:spPr>
          <a:xfrm>
            <a:off x="351700" y="1585874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De los gases al estado sólido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A1F7806-CD12-E836-F88C-2774E17DA796}"/>
              </a:ext>
            </a:extLst>
          </p:cNvPr>
          <p:cNvSpPr txBox="1"/>
          <p:nvPr/>
        </p:nvSpPr>
        <p:spPr>
          <a:xfrm>
            <a:off x="1363267" y="2274776"/>
            <a:ext cx="968528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Luces de Neón (1910):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 demostró que, al aplicar electricidad a tubos sellados con gases nobles, estos emitían luz sin necesidad de calentar filamentos.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Bold" panose="000008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Focos Ahorradores (Fluorescentes):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Redujeron el calor y el consumo de energía excitando vapor de gas, pero trajeron un problema ambiental al usar componentes tóxicos como el mercurio.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Bold" panose="000008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Revolución LED: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 diferencia de sus antecesores, el LED genera luz manipulando electrones en un material sólido. No usa filamentos que se quemen ni gases tóxicos, siendo la tecnología más eficiente y fría creada hasta ahora.</a:t>
            </a:r>
          </a:p>
        </p:txBody>
      </p:sp>
    </p:spTree>
    <p:extLst>
      <p:ext uri="{BB962C8B-B14F-4D97-AF65-F5344CB8AC3E}">
        <p14:creationId xmlns:p14="http://schemas.microsoft.com/office/powerpoint/2010/main" val="4325961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DBCF06A9-0F80-4A03-A885-DA95AEE4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BB08C55-0ABF-24FA-C6BC-524BEECC2EA1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E563F3-D694-8A62-9606-65E48EF67322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E9E2A4-08D5-A5B5-F770-922D5C7A5E9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61B5D2EC-B8BD-E6F8-9BB1-601E3BBF8041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8C757D9-10A7-FC13-65B2-1921851D7C7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3C19D80-E052-5778-048B-989EDF7C6779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A238806-BE58-02B6-5786-CBD690A63E2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D4773FD-4898-B3CA-422A-A6FC3C357DA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9E61B95E-A1E5-DCED-513F-992FF46134D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9B6AE41-4B00-1502-549F-2313FB46AD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CD58EC07-5100-48E7-42F4-E42A6C8DA64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4B102A12-2A00-C850-C569-CFBDEFD6B02C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949D980B-7AEF-B7E9-3103-44FA7FA6175B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3C91C7F-2531-0370-FBE8-2D3488B14C44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6FF4EDCE-89B5-9B0D-F021-4EF988CBCB82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D4C276-0001-F6B8-2782-F2B7736BA1F5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DAE3D0D-4CF1-BC75-1A12-97D9868763C3}"/>
              </a:ext>
            </a:extLst>
          </p:cNvPr>
          <p:cNvSpPr txBox="1"/>
          <p:nvPr/>
        </p:nvSpPr>
        <p:spPr>
          <a:xfrm>
            <a:off x="351700" y="1585874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Luz Neón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FD11E742-F3BB-4E79-2276-2CC03A0720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13" t="7178" r="4447" b="6837"/>
          <a:stretch>
            <a:fillRect/>
          </a:stretch>
        </p:blipFill>
        <p:spPr>
          <a:xfrm>
            <a:off x="2034801" y="1683843"/>
            <a:ext cx="9125699" cy="480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897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1C3DEC07-EFCE-02D9-CC40-CA486C8F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623D4E2E-D7BC-4586-8613-A9F997F681F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FE9AEA-4FF8-701C-DDD8-8F40C6761005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10AA87-4FD0-66F1-6F72-458E2D6EE35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9754024-E893-1E8B-BAE3-E2BEB696D29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9EF17001-B834-09E8-6B13-009DDFAEADE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1A090EB-F170-E5AE-12BD-8422B1F38AF8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A4D3EC-EC27-FFB2-9B00-04D0FB22D92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260AA6C-A535-966D-25F1-E7596CDE7F2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2D63EE3-5797-3DFA-D778-35FA7F8870C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6880AD6-D105-B591-343F-D53615D4E60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5EFF9C24-2D0A-E92D-1214-49F1AB56BEC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F8AF42AE-4D89-C8A4-3F5D-9963A1C710B2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28EB68-6D6C-CC72-B18C-275FE5A0CE43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D6EE7-7BFB-F963-60A9-A840511A1EB0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FFB7AE52-F313-222E-8A79-AA056936B594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5AEBAEB-3BF2-72E7-B804-00E2DAEB495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45D51D7-ACC7-1C5E-0A76-6D473F4603BC}"/>
              </a:ext>
            </a:extLst>
          </p:cNvPr>
          <p:cNvSpPr txBox="1"/>
          <p:nvPr/>
        </p:nvSpPr>
        <p:spPr>
          <a:xfrm>
            <a:off x="351700" y="1585874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Focos Ahorradores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F7A7BE9-930E-05EA-8BB5-6E61ADE321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13" t="24589" r="2741" b="4528"/>
          <a:stretch>
            <a:fillRect/>
          </a:stretch>
        </p:blipFill>
        <p:spPr>
          <a:xfrm>
            <a:off x="444799" y="1939401"/>
            <a:ext cx="11319825" cy="48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87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D9BEF5A5-AE4E-ED15-20F7-1936BADB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4253067-463F-D17D-DBA4-B9AEAE374695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E12751-7D99-7029-99DF-4EE16B97FB7A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E90530-AB8D-2526-A57B-283C6C3082CA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7B512013-D676-7819-3A03-0A0002100DD6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A1B6B1B-C09A-C792-B316-7D47C62C81D4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999AB036-C0EF-AF13-1A38-757236493D24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8F19BEB-3699-8E45-BBA4-CF7A56DC19F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6821CB0D-71F2-3C28-64EC-66BA12ED330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E8844A07-02D7-6A2B-24E9-7F9AFB36210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5AD30E3-2C32-3D39-8DA9-6CFE38804CB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A9970A5-728E-EDBE-908B-857BAD02319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DD24449F-1936-C1C3-3F7B-559CBB520CB5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7A3409EA-EBD6-99AA-E7FF-E309B17ED7A3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0855B76-38D4-EDEC-E04C-9F53A0D80F1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45F158F3-C4EB-8E57-A2DD-AB505ECDC8F6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8303374-60E5-6651-A624-705B13ACDF93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EF7D960-BD45-E679-5028-D0172AA5DAE7}"/>
              </a:ext>
            </a:extLst>
          </p:cNvPr>
          <p:cNvSpPr txBox="1"/>
          <p:nvPr/>
        </p:nvSpPr>
        <p:spPr>
          <a:xfrm>
            <a:off x="351700" y="1585874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Predecesor del Led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49E841D-639A-3454-5ECD-0D9C38E847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601" b="7652"/>
          <a:stretch>
            <a:fillRect/>
          </a:stretch>
        </p:blipFill>
        <p:spPr>
          <a:xfrm>
            <a:off x="0" y="2109971"/>
            <a:ext cx="12192000" cy="41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313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E2F16363-5832-0838-A115-D2A75989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ADA7710-A3E0-ABBD-0C3F-E33768862CCA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CEB3B1-E71B-D18F-0640-0729AF878CC6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E71CB89-BD5B-1438-43A7-04AD8C0AD7F0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FD2539C-2847-896F-6166-F2932F5D377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45A00E42-A773-312C-F3B3-8EA8F11AFAB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539C78FF-8531-7569-871E-A49549DA581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AC636CE-353C-94E0-8196-F1F985837DB0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AED0ECED-098E-246E-13CD-59AB848985C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3E22E8EF-6002-7E5F-9974-B8E0D45AB552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15C8AA2-0EA4-6F0B-C6E1-B3B1412816B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566C28A-E6C7-A0B2-A4EC-FF491990000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441615D1-CA7E-C6EE-BF53-3E7AE0328421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CB4637F-E983-87AD-5FE9-E92BBCC6089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5BE3C26-1EA9-825C-3AD0-FDAFB07F7FB4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4D4B6D2F-4FF7-2070-6C6D-5A48DDD6A82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6EC1A69-6919-4397-A2E5-0454028E553B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D59E5A3-3C23-7F6D-616D-16889484EF57}"/>
              </a:ext>
            </a:extLst>
          </p:cNvPr>
          <p:cNvSpPr txBox="1"/>
          <p:nvPr/>
        </p:nvSpPr>
        <p:spPr>
          <a:xfrm>
            <a:off x="342988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El LED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2F8F6A3-EAF3-82FA-B672-D2133E21C798}"/>
              </a:ext>
            </a:extLst>
          </p:cNvPr>
          <p:cNvSpPr txBox="1"/>
          <p:nvPr/>
        </p:nvSpPr>
        <p:spPr>
          <a:xfrm>
            <a:off x="1340434" y="2720974"/>
            <a:ext cx="96852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¿Qué es?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Significa Diodo Emisor de Luz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Bold" panose="000008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Estado sólido: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 contrario de los focos antiguos, no emplea filamentos que se queman ni gases tóxicos.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Bold" panose="000008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Su núcleo es un chip semiconductor con un polo positivo (ánodo) y uno negativo (cátodo), recubierto por una lente protectora de resina</a:t>
            </a:r>
          </a:p>
        </p:txBody>
      </p:sp>
    </p:spTree>
    <p:extLst>
      <p:ext uri="{BB962C8B-B14F-4D97-AF65-F5344CB8AC3E}">
        <p14:creationId xmlns:p14="http://schemas.microsoft.com/office/powerpoint/2010/main" val="25884818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C3A0EE2A-6730-7685-0881-832ED1A8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25359CD-DE94-3232-7AC6-8CC5FFC5C35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C4017E-6963-1076-B6CA-C3806C49BDE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A95CD44-BDB0-D860-1AED-1EE1C8A8961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F67FF0-904D-A93B-CCBC-00B8DB598B83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41746C9-67DD-D96E-3542-69E8FC324407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8EFE9F5D-914F-82F5-E572-8BF69C5414B4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ACA5BAB-1A40-CFF2-932D-C6102E6CFFF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BA514BE-8284-45E4-F48B-206230B0FFD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95BBE589-CF39-2393-F4BD-5654C8785717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5A0FB57-57B7-01A1-2D41-1B9CA6A05EF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48CEB6F3-10FA-316D-AA47-A9AD3E5F941D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25BDE16-CC94-73A5-465E-5BB782C048E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F1ADC3B4-537E-EC10-DB22-6C0171670F6A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ACA6900-F16C-14CC-01D2-41CCB73423A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0F4DC01-71F0-F8FA-8B1E-7C1CA00763D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D4A0212-CBCC-4B0F-2F5F-9BC6D2056538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50CAF2D-8A22-21F5-2171-1344E16290DE}"/>
              </a:ext>
            </a:extLst>
          </p:cNvPr>
          <p:cNvSpPr txBox="1"/>
          <p:nvPr/>
        </p:nvSpPr>
        <p:spPr>
          <a:xfrm>
            <a:off x="342988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Unión PN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122932D-5213-269A-2C5B-CABF18EA64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99" t="14220" r="5459"/>
          <a:stretch>
            <a:fillRect/>
          </a:stretch>
        </p:blipFill>
        <p:spPr>
          <a:xfrm>
            <a:off x="1778593" y="1823762"/>
            <a:ext cx="9114034" cy="485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314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7AC108B8-DE1F-5AC7-6B31-3108448F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03E9552-9575-052C-9EE4-2C2284205141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FA188-EC35-287B-1973-3B3CA1C78F42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D6E21B9-2D92-B11C-092B-8DF7725AD669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65DA1C0A-8B92-42E0-0EAE-CDE4592F8F4C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485B3C87-36D8-CE9A-C341-7F38848CE80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5EF768D5-EDC0-CE54-BC50-1CCE8D8DBF1F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EA7EE0E-A093-2926-6472-3A1F3D567E29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4C182E7-D06F-F52B-AF83-3A6E68381E2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9B0746EA-6035-7314-B5C8-DD072D1E8C80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6BFC9EA-EA49-C4EE-44D0-5575EC36A6F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824EC03A-BF11-C7CF-2B53-A7DF0F0724D5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EA79EEBE-14D8-D023-E7A5-7B0D2FC2AFE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EFCEA382-E9A1-1162-84B8-256C92D3AF9C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7894642-BD81-274F-E211-6911AFDB77BF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E6237AB4-A318-1E4C-B051-80A070B79F43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DB042D3-B89F-EBD6-F3C1-B7A8A0D2AFB3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5944616-3E07-1F92-4A96-FA4A8BEC4955}"/>
              </a:ext>
            </a:extLst>
          </p:cNvPr>
          <p:cNvSpPr txBox="1"/>
          <p:nvPr/>
        </p:nvSpPr>
        <p:spPr>
          <a:xfrm>
            <a:off x="351700" y="148715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Electroluminiscencia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10A1CD6-7674-3C0D-E12F-18767F25E910}"/>
              </a:ext>
            </a:extLst>
          </p:cNvPr>
          <p:cNvSpPr txBox="1"/>
          <p:nvPr/>
        </p:nvSpPr>
        <p:spPr>
          <a:xfrm>
            <a:off x="1340434" y="2720974"/>
            <a:ext cx="96852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proceso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Al inyectar corriente eléctrica (como nuestros 5V), los electrones se mueven a través del semiconductor.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de luz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Al chocar y recombinarse con espacios vacíos, liberan el exceso de energía instantáneamente en forma de luz (fotones).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Gran ventaja: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Produce luz de manera directa sin desperdiciar energía en calor extremo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6942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8C73D85-9523-E33B-67AC-97807973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DEA59BF-5FF2-1B0C-A8F6-C66CB3A005A9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22DABB-0490-2418-7FB2-58ECB03D2A53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CD7B23-59A4-E495-2F9C-FBD4C903D2D4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CB3606D-7537-27C8-1DFF-601FF4C131F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183E0E6-726A-A3A7-0C46-59B908560B4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4200683-BDA0-A09D-C49F-FD3E5F87B1A4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48C7A3A8-9EB9-5F97-901A-230550178F5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1094B2F-9D08-8DC3-2D24-15221C491A9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F86DF878-ACB2-E020-F622-4FAB70631A72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1BB9F44-147E-79B1-1796-8B2E9F081E3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787F75FA-265F-217D-E3D9-8B84C4E4DDF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E53641F-45CC-93F2-35D3-CDC099A7E5A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A74D82F-0F2D-AA17-A0EC-152FE87AA57A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B778BD3-C365-74AB-68A7-CB2A588B48C9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4B7C9031-504F-36D7-37DB-197FCC03C13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78FA710-2E09-E530-1A8C-06B2A1C1D03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2E08100-B2B6-02F1-8437-44739BC1E878}"/>
              </a:ext>
            </a:extLst>
          </p:cNvPr>
          <p:cNvSpPr txBox="1"/>
          <p:nvPr/>
        </p:nvSpPr>
        <p:spPr>
          <a:xfrm>
            <a:off x="351700" y="148715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Electroluminiscencia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DFB2A37-4D8A-C5A2-9A40-B2A8D82C0A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5" t="17448" r="2742"/>
          <a:stretch>
            <a:fillRect/>
          </a:stretch>
        </p:blipFill>
        <p:spPr>
          <a:xfrm>
            <a:off x="2040689" y="2126621"/>
            <a:ext cx="8838385" cy="431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30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E4AD8EE-E841-B79C-A0D4-FA10C76F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067B628E-35B2-9375-CBCA-17E4C4999019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417422-6F7E-AA92-A602-60F7B597B4B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DA354C-E209-7797-6131-498C223A23B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CD4DA4F-496B-5D40-64FE-5B7FBB240987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277F43DA-61E7-FAB6-AD8B-433B44F0031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06C3641A-957C-2561-0B0B-FA0775767B2B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E546C8-635C-15AA-EB38-104DDBF7942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AA41CEA-2EE5-4DDB-9E6D-F3D7BA04A6ED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F637E7FC-1BF0-396B-9E62-7DE7AF490B44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DCEFFA5-9366-A63E-3D9F-590F799E285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5C1296E9-6DCE-283E-A607-CBCA26F440AA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1FC2331-3B76-ECF6-E36C-429CB08FD60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E8CB1BA-F463-AADC-793D-9BA6544FF78A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B363A0F-74FC-4916-0124-FC84FBECF14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4C29C0D-A6A3-05AB-38C2-64F60D6873DE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59D2F80-54B3-5368-6C5F-92EEEC0E49B2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8803B0C-B245-0704-B71B-3415D659FDEB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El color y la luz blanca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20E5648-90F2-5D7F-C2D4-D34E37F07795}"/>
              </a:ext>
            </a:extLst>
          </p:cNvPr>
          <p:cNvSpPr txBox="1"/>
          <p:nvPr/>
        </p:nvSpPr>
        <p:spPr>
          <a:xfrm>
            <a:off x="1340434" y="2720974"/>
            <a:ext cx="96852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química del color: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tono de la luz depende directamente del material químico del semiconductor, no del plástico que lo cubre.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LED blanco: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Físicamente no existen ondas blancas. Para obtenerlo, se utiliza un chip LED azul y se recubre con una capa de fósforo amarillo.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ilusión: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 atravesar el fósforo, la mezcla lumínica engaña al ojo humano para que perciba un blanco brillante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2104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E0A97316-DB43-2350-4034-DCDFCBCA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6348D602-2677-ECE2-C819-D3A4B4080288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06AAE3-1921-8569-B8E5-577ADDBF258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2F93DBD-7702-8CC3-EE81-F8BC818963AC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2001A3E-933B-4277-EB33-69257BD6B57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1F8BC1CF-0C7A-74FE-AF03-26387677985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784DC1B-873C-82EF-5453-EEEFD3006DF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1D2A913-6E04-F8E5-54EE-994952F61D30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23BC47C8-5D14-FE1B-0893-505299D7B1C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F1579872-B46F-B31B-F466-6B26B7E9E742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9696275-83DB-3466-2BCC-9EFD2824330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D50D33A9-269A-038F-87D4-5765B7C33B3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696C3406-6595-4B93-1A61-5D04DA3F6B94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D00145D-5C99-230D-34C1-91B16E0F4D8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15158A6-21AA-CFCA-8FC2-125AFC0C5118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6455A4D-1861-40B6-E0E8-C9BD868C2842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DF013AA-CD2F-9CB9-F694-C4018547CC25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03122CD-FE49-72CC-7247-E8D2B37D30A4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Química del color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AF7692CD-0DC5-B811-9F00-43E1097DAC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198"/>
          <a:stretch>
            <a:fillRect/>
          </a:stretch>
        </p:blipFill>
        <p:spPr>
          <a:xfrm>
            <a:off x="1125098" y="1939400"/>
            <a:ext cx="10304806" cy="470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218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3E47E9-C245-A316-5ECF-48B9137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DA32A70-62CE-6493-B79C-56F784A66A9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CDC11C-23FF-8438-886D-ACB0CE18480D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31BCB3-3C92-F358-733A-6BF12231E1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5BE450E-5FE5-69F7-A323-9029942B0F8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921CFD6-804A-5531-0AC0-F54788C4F86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82310A2-B30D-6958-7D6D-1CA3C1D3018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3E9C895-1DD5-D060-3DA7-14079C1752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D70C5D0-E560-4709-D8E9-3B4E99C3AD5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DBB88CA-F0C2-F2D0-1E8D-0AD7C204A7F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CF84158-EBBB-69F0-1CFA-CEDA7683945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D4C7595-FDB9-8DD6-C1FF-BA873E71E5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0E9B038-213D-3268-AFE0-DD73B3377E1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7B5FA1F-03F4-D196-8A3C-C5348728117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70B3B9-67D7-EC22-367B-6EE80E5D473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3FA4B51-50A7-052A-9EA2-C353185B48F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67AFD48-5B09-61EF-E83A-00E76F6DCEF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C651314-0670-4C7A-34A5-C98B46339A25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Desafío de la Luz Blanca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5AEFFC9-F0DE-D4C8-32E0-FAB1CE6EC4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267" b="3107"/>
          <a:stretch>
            <a:fillRect/>
          </a:stretch>
        </p:blipFill>
        <p:spPr>
          <a:xfrm>
            <a:off x="1119380" y="1939400"/>
            <a:ext cx="10530342" cy="47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099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3E47E9-C245-A316-5ECF-48B9137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DA32A70-62CE-6493-B79C-56F784A66A9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CDC11C-23FF-8438-886D-ACB0CE18480D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31BCB3-3C92-F358-733A-6BF12231E1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5BE450E-5FE5-69F7-A323-9029942B0F8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921CFD6-804A-5531-0AC0-F54788C4F86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82310A2-B30D-6958-7D6D-1CA3C1D3018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3E9C895-1DD5-D060-3DA7-14079C1752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D70C5D0-E560-4709-D8E9-3B4E99C3AD5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DBB88CA-F0C2-F2D0-1E8D-0AD7C204A7F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CF84158-EBBB-69F0-1CFA-CEDA7683945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D4C7595-FDB9-8DD6-C1FF-BA873E71E5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0E9B038-213D-3268-AFE0-DD73B3377E1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7B5FA1F-03F4-D196-8A3C-C5348728117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70B3B9-67D7-EC22-367B-6EE80E5D473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3FA4B51-50A7-052A-9EA2-C353185B48F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67AFD48-5B09-61EF-E83A-00E76F6DCEF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C651314-0670-4C7A-34A5-C98B46339A25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Cátodo y Ánodo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153E95-D5BB-4703-B691-45B179D110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4" t="14834" r="2884"/>
          <a:stretch/>
        </p:blipFill>
        <p:spPr>
          <a:xfrm>
            <a:off x="1992142" y="1955625"/>
            <a:ext cx="9335639" cy="470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862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3E47E9-C245-A316-5ECF-48B9137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DA32A70-62CE-6493-B79C-56F784A66A9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CDC11C-23FF-8438-886D-ACB0CE18480D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31BCB3-3C92-F358-733A-6BF12231E1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5BE450E-5FE5-69F7-A323-9029942B0F8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921CFD6-804A-5531-0AC0-F54788C4F86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82310A2-B30D-6958-7D6D-1CA3C1D3018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3E9C895-1DD5-D060-3DA7-14079C1752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D70C5D0-E560-4709-D8E9-3B4E99C3AD5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DBB88CA-F0C2-F2D0-1E8D-0AD7C204A7F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CF84158-EBBB-69F0-1CFA-CEDA7683945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D4C7595-FDB9-8DD6-C1FF-BA873E71E5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0E9B038-213D-3268-AFE0-DD73B3377E1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7B5FA1F-03F4-D196-8A3C-C5348728117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70B3B9-67D7-EC22-367B-6EE80E5D473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3FA4B51-50A7-052A-9EA2-C353185B48F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67AFD48-5B09-61EF-E83A-00E76F6DCEF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C651314-0670-4C7A-34A5-C98B46339A25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Uso de la resistencia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4283DA-94A0-442F-8B5B-D50C9A2980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556" b="4831"/>
          <a:stretch/>
        </p:blipFill>
        <p:spPr>
          <a:xfrm>
            <a:off x="1429396" y="2057038"/>
            <a:ext cx="10012324" cy="450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752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3E47E9-C245-A316-5ECF-48B9137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DA32A70-62CE-6493-B79C-56F784A66A9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CDC11C-23FF-8438-886D-ACB0CE18480D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31BCB3-3C92-F358-733A-6BF12231E1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5BE450E-5FE5-69F7-A323-9029942B0F8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921CFD6-804A-5531-0AC0-F54788C4F86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82310A2-B30D-6958-7D6D-1CA3C1D3018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3E9C895-1DD5-D060-3DA7-14079C1752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D70C5D0-E560-4709-D8E9-3B4E99C3AD5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DBB88CA-F0C2-F2D0-1E8D-0AD7C204A7F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CF84158-EBBB-69F0-1CFA-CEDA7683945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D4C7595-FDB9-8DD6-C1FF-BA873E71E5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0E9B038-213D-3268-AFE0-DD73B3377E1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7B5FA1F-03F4-D196-8A3C-C5348728117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70B3B9-67D7-EC22-367B-6EE80E5D473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3FA4B51-50A7-052A-9EA2-C353185B48F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67AFD48-5B09-61EF-E83A-00E76F6DCEF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C651314-0670-4C7A-34A5-C98B46339A25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Ley de Ohm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9AD228-13F3-47B5-A815-B57FCFCDF7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448" b="5904"/>
          <a:stretch/>
        </p:blipFill>
        <p:spPr>
          <a:xfrm>
            <a:off x="1166283" y="1939400"/>
            <a:ext cx="9660835" cy="41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89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3E47E9-C245-A316-5ECF-48B9137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DA32A70-62CE-6493-B79C-56F784A66A9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CDC11C-23FF-8438-886D-ACB0CE18480D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31BCB3-3C92-F358-733A-6BF12231E18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5BE450E-5FE5-69F7-A323-9029942B0F8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921CFD6-804A-5531-0AC0-F54788C4F86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82310A2-B30D-6958-7D6D-1CA3C1D3018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3E9C895-1DD5-D060-3DA7-14079C1752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D70C5D0-E560-4709-D8E9-3B4E99C3AD5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DBB88CA-F0C2-F2D0-1E8D-0AD7C204A7F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CF84158-EBBB-69F0-1CFA-CEDA7683945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D4C7595-FDB9-8DD6-C1FF-BA873E71E5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0E9B038-213D-3268-AFE0-DD73B3377E1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7B5FA1F-03F4-D196-8A3C-C5348728117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70B3B9-67D7-EC22-367B-6EE80E5D473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3FA4B51-50A7-052A-9EA2-C353185B48F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67AFD48-5B09-61EF-E83A-00E76F6DCEF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C651314-0670-4C7A-34A5-C98B46339A25}"/>
              </a:ext>
            </a:extLst>
          </p:cNvPr>
          <p:cNvSpPr txBox="1"/>
          <p:nvPr/>
        </p:nvSpPr>
        <p:spPr>
          <a:xfrm>
            <a:off x="351700" y="1559407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 Ejemplo Led Blanco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49390E-23E1-4777-AF84-F7FE4D4F45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461"/>
          <a:stretch/>
        </p:blipFill>
        <p:spPr>
          <a:xfrm>
            <a:off x="559701" y="1717990"/>
            <a:ext cx="10530342" cy="52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842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1ED425AA-908D-34BB-7FE5-4DA687D5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5865706-4EB0-C84B-7F0F-A3EEF190F497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5C1810C-3A3E-C81A-B775-19F3C8DD8B22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7CEE17C-D882-475F-C415-15049D3673EA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3B91821-620A-14C5-CF38-99C5DE92E89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880860-398A-9CE9-6AAF-AA6104F09A4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19426ECB-8733-15E8-CAC7-FBF4DE9DB079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195FCF13-7513-828E-46E5-C553C5A5F6C3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A8703678-AB52-D203-968B-DE03DAF9A0C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DF3E4869-5C30-F8DD-5ADA-91ACCB9000B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03156CA-A0D6-024B-07C6-4DC915B9538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C41CE262-8096-C563-4747-2D7105F8C38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30F7B397-E83D-799E-6154-79A9B36AD83C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6C3D3542-CFA6-C94D-A486-BB0899586DA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824F589-1D26-90BB-0275-56E4A490D1B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A9812DB5-C0EF-B230-E626-78081D2F7F9F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1609700-1B82-97D0-5BD7-E6AC29DB0EF0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F8A3A97-CDBC-8AF9-962A-371BDE094129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Las familias del LED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564A4D3-2AE9-F9B9-C5FF-660FCC842636}"/>
              </a:ext>
            </a:extLst>
          </p:cNvPr>
          <p:cNvSpPr txBox="1"/>
          <p:nvPr/>
        </p:nvSpPr>
        <p:spPr>
          <a:xfrm>
            <a:off x="1363267" y="2474169"/>
            <a:ext cx="96852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DIP: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Tienen la clásica forma de "bala" con dos patas largas; son básicos, económicos y muy resistentes.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SMD (Montaje Superficial):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Chips planos y pequeños que se sueldan sobre una placa. Son muy versátiles y dominan el mercado de las tiras LED.</a:t>
            </a:r>
          </a:p>
          <a:p>
            <a:pPr algn="just"/>
            <a:endParaRPr lang="es-ES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COB (Chip en Placa): </a:t>
            </a:r>
            <a:r>
              <a:rPr lang="es-ES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Agrupa múltiples chips bajo una sola capa de fósforo. Ofrece una luz intensa, continua y uniforme sin puntos visibles</a:t>
            </a:r>
          </a:p>
        </p:txBody>
      </p:sp>
    </p:spTree>
    <p:extLst>
      <p:ext uri="{BB962C8B-B14F-4D97-AF65-F5344CB8AC3E}">
        <p14:creationId xmlns:p14="http://schemas.microsoft.com/office/powerpoint/2010/main" val="3059066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D7BC6B00-2690-C576-C680-8584A2CD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5E71CAF-12A3-145E-0F70-D934B856CD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BF43FF-3CD2-1F7B-6DA6-74F96FCBD6D2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0580A49-1CA1-6F22-1677-6587D33580EB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CEF1E67-94D8-F903-6A7A-894D2DCD75F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A2307D6-2986-749E-57B1-D705E94D638E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2F414637-499A-FA7A-0BFA-2483AFD4E7AE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939CB9F-0147-E1C7-E3B9-E430B3C5DD8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7F5C158E-6FE3-7455-A027-F8CE12B6D93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A0F99064-4CEE-1485-45B6-216B7BA3632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DD0CE46-E3D1-3CA4-E05C-BC6996EB6B2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577E0733-38B6-E2D4-6318-20B620CB3FF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3C3BC1E1-4FAF-95CB-B91D-86527F46A0E6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A3744A4-D7D6-F94B-3929-CBB10E2244A9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5B36D4D-8E42-BEE7-C16D-E3FA91284402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7C7CD6BE-F4C8-ACCB-6820-92235E993BA0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B9F2318-2194-A7E9-B5E0-56A357BC5609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E0F0A04-249B-4C0B-83FF-E28738E176F0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Las familias del LED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D8CA8D5A-E631-D39E-A352-6C46302908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4" t="15871" r="3712" b="4663"/>
          <a:stretch>
            <a:fillRect/>
          </a:stretch>
        </p:blipFill>
        <p:spPr>
          <a:xfrm>
            <a:off x="1934454" y="2109971"/>
            <a:ext cx="8340514" cy="399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114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C8F4B2CB-71DE-0DDA-6E9A-A5A96E6C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F1B942F-D26A-5F3A-E478-BF5B069CD839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7CA55C-5B1B-694D-9F54-929E61923046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8CCED6-F9CE-510A-B9D7-5FFB634B0CB7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1953067-B41C-B53E-5D1B-F7A1CAE2B64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1D41C6D-18B2-2994-F8AD-444906E499C2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EC149DB-4166-2756-2D7F-570169D5A665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B127C599-B985-3852-D2E8-C092EEAC670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5740F314-F5E8-BE5D-DB0E-7E33C800E12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210A212-79A9-9818-DF4A-81448CD186D5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D1ADDC94-4EFF-BDC3-5D28-6AECB15B7590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B4CE4DA3-2045-230C-C877-49B3B224A33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EE7682FD-4D74-E010-557B-1FC4935D6A0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53F76ED7-188A-BEBC-243E-4301BDE0F96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DE45762-15A4-FFC6-347B-7794E95D8165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3A44A468-5E93-FEDC-D8C5-72B373859E0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E225875-8E60-685D-6A76-83F49782B46B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EC7B731-1338-4C49-3FDC-9854D3714B24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Familia DIP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4E03B462-E445-B8C5-6D01-BE0D8F48AC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7" t="16278" r="1357" b="3984"/>
          <a:stretch>
            <a:fillRect/>
          </a:stretch>
        </p:blipFill>
        <p:spPr>
          <a:xfrm>
            <a:off x="1534392" y="2109971"/>
            <a:ext cx="9448801" cy="44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419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2992504-B41C-2B44-5F74-0A6E28DC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3905308-FC4B-5781-5DFC-9659E41BF8A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F204BF-F2CA-1130-B585-237F5537874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DA3BA57-4CE7-A90A-946A-1B4F330D164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0E59872-0F8F-4462-D293-575EC5F71C1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17729104-B601-2CA9-0E76-EE9D16271AFF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91B964A1-26F7-D05B-169D-6112766EFA72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B0C0585-C6C0-4C06-BB06-5E93238EDFB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33B2A842-4804-D764-040C-25928920201D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31301BCC-E35A-9637-2423-115EE50014D3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F40D2C9-CF27-D494-67D9-504E19128EC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FAA1D24-D042-0594-7FD4-572161E65B2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5449F656-7BA0-5A23-36F7-98CF015D2BB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FA352832-E9E0-47AE-AE31-AE364AC9FA6D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3D0FA8D-C67D-1A89-473D-58EDC906318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A6F6B5E5-F6AB-0F9F-EFB8-8BD0AC71ECA6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7CB410C-7F01-23E1-60CE-3DB090EC0F7A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EBFC6A7-7AA7-9F73-2742-606CBBF813D6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Familia SMD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788E5038-DE1D-024D-5398-585DA51B1E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58" t="17409" r="1358" b="8009"/>
          <a:stretch>
            <a:fillRect/>
          </a:stretch>
        </p:blipFill>
        <p:spPr>
          <a:xfrm>
            <a:off x="1312926" y="2170592"/>
            <a:ext cx="9477264" cy="404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297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50EB60E-EAF1-0FE4-B794-DBD28665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C3173A2-00CD-D2E2-D2A9-7F2958ED1694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BD57917-15FA-81D9-5E92-357045AF5F8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4092A3-1487-796D-0951-C494CC2CA34A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266FCC6-8592-A9D0-A8AE-D33F38543E09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E8FF21AB-8B68-52BD-B76A-416C6AB982C2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D6D2046-0CEE-DA59-7AFC-7123CC9B1B2E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838CD08F-4867-6057-1D58-91D20E7B654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36BD0A5A-972F-0035-6302-E40114BF6AE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D8DB4580-EE10-B02D-81C9-2293D405658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5B855DE-7C28-3365-10DE-EDB5D61B3F9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0D5E819-2780-803F-0EA0-D8AEFE64CEB5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286A1F81-BE5F-E8FA-088C-0FC9BA4E8CE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7EFC011-8017-7DB6-0776-B3E3018A5519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638A344-0886-26D0-DDB2-A6D712FF4D2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EC5D7BE1-5F7B-54EE-E97E-3352BA5EE2E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5C2A5B3-96C3-A82F-59A0-19B71280FCD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8AB87E4-A4CF-7766-BABD-07202D90B47D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Estándares SMD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921B074-C4D8-37E3-6CE7-6630400227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42" t="12339" r="7956" b="4392"/>
          <a:stretch>
            <a:fillRect/>
          </a:stretch>
        </p:blipFill>
        <p:spPr>
          <a:xfrm>
            <a:off x="1764396" y="1939400"/>
            <a:ext cx="8660855" cy="45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89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5377C4C-AFE0-0D9C-A0D9-3DBF3188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E6F8F806-9050-3036-1197-E94D87761546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B03CC2-69F2-1B04-4D87-203417F9E9D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BA1F2B-239A-42A6-DDE6-5400E67E311F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83F63965-39D2-E02C-C10E-D1DBD0753761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4EA7072-E01E-F410-6A7C-7203E57FC816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7473224E-9BCD-E0A3-8FB2-12AE202F696C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C5A83246-9CBD-A82F-AE24-64F425E9E0C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660D041-FEB2-546F-7DA1-0B860E7B8BD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D90EC423-75D2-DBFF-56D6-54A625763011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283388A-B52F-0824-BBA6-84CDDE91BE0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FCDF0934-DF5D-0ED0-74BE-823F0849160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915978B4-7B7B-FE64-FBD9-EBCCEC9F82CA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0B433653-CF6E-CA75-EA30-690F46CA0EE7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195F3AD-E748-E1FC-20C7-751D40ABAEEB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1547DF82-6C33-C376-EEF8-55F8088691A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C308516-4196-00FE-D0AF-0B673307E31D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F730CDA-AED3-A962-AA32-70DDDF6B55D5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Familia COB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magen que contiene tabla, taza, interior, naranja&#10;&#10;El contenido generado por IA puede ser incorrecto.">
            <a:extLst>
              <a:ext uri="{FF2B5EF4-FFF2-40B4-BE49-F238E27FC236}">
                <a16:creationId xmlns:a16="http://schemas.microsoft.com/office/drawing/2014/main" id="{F827E288-E597-060E-0F6F-76F34658C2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34"/>
          <a:stretch>
            <a:fillRect/>
          </a:stretch>
        </p:blipFill>
        <p:spPr>
          <a:xfrm>
            <a:off x="1237319" y="1879875"/>
            <a:ext cx="10094383" cy="479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242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C2BDBDB1-D640-851C-F29C-6D70FC7A2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D410784-6B0C-AC9E-BE84-6453E965AE73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6E5BB4-4CE9-D51D-6D99-530BD22D6FE8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CA5F89-5100-360E-7927-4BA27BE5FA9C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5B7098C-5450-4183-EAB7-400BAF5AD7A1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D6AD9C5-3139-D7BE-2F2E-3228E87D5BD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2208F650-F156-A4A7-97CF-7A208D607DE1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11A65DC6-AC4A-EAB4-1946-A8F7A7827DF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E7846022-3FC4-925B-6681-5E7BA65C52ED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E3F8099-D739-290D-8AF1-1F5B8C005ED5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C4CFB6B-A6AA-146D-92DF-A1F49A42A8A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BFF87434-8F5A-01AF-3B3E-5CC1ECB18A9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940D9936-FB61-13C6-20E0-4A161678FF17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DD9642F7-E577-2B25-FF65-3923D95B6947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56BFA47-BD9C-EFA7-4443-7E23BBA41F5A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D0C954F2-E0AF-99D9-31D7-8B3CBEBDC261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328B18-2335-9202-1F66-EB46395CBA63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9E4CB57-7602-3DFE-F06F-843193FCCC49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Aplicaciones en la vida real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 descr="Calendario&#10;&#10;El contenido generado por IA puede ser incorrecto.">
            <a:extLst>
              <a:ext uri="{FF2B5EF4-FFF2-40B4-BE49-F238E27FC236}">
                <a16:creationId xmlns:a16="http://schemas.microsoft.com/office/drawing/2014/main" id="{36C9F780-38DD-0365-7286-EEF93AA6FC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4" t="16006" r="2884" b="2269"/>
          <a:stretch>
            <a:fillRect/>
          </a:stretch>
        </p:blipFill>
        <p:spPr>
          <a:xfrm>
            <a:off x="1642290" y="1939400"/>
            <a:ext cx="9383427" cy="453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094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768ECCBF-B02A-4936-2FB4-496E7065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0AD5B559-E7FF-BF35-B11B-8034F6003AF7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B720CF-7F67-9BD4-E4FD-0969EE204D8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E06ED4-880D-E53B-FD01-8CF4F27A640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1F7414-DAEB-EDDC-A089-6BA21D786606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082E0ADA-26D5-65DB-1F5B-2866033DBDC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F8F214E3-F69F-7D29-C150-1267FACC4988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8A8C1CF-A65A-DA6F-56CC-B9C753E01C9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2831BD53-85B9-93B6-8F7A-6446DE14FC4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4BF2263C-F64E-78E4-0FB8-ACDB12522BAE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C3CF9C0F-8349-9D54-92AB-FC9C362B62B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CDE65C00-FCD7-27BB-53AC-75D72C8F88F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E49EA66-4C49-F31D-BE0B-8252E16F12D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Anatomía del Led</a:t>
            </a:r>
            <a:endParaRPr lang="es-ES" sz="1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DCB15384-EB05-5B21-9042-BB79D385988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2933D1-4528-2F3F-A7C8-5C445F8B390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3AD939D-5BC0-4C11-38C6-AE4F35642A34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7436C9D-BFA3-A97A-8A22-5A9A0AF7EFA9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D758201-EDF8-790E-679E-999EAC3E007C}"/>
              </a:ext>
            </a:extLst>
          </p:cNvPr>
          <p:cNvSpPr txBox="1"/>
          <p:nvPr/>
        </p:nvSpPr>
        <p:spPr>
          <a:xfrm>
            <a:off x="351700" y="1531128"/>
            <a:ext cx="1150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2400" b="1" dirty="0">
                <a:solidFill>
                  <a:srgbClr val="CC965B"/>
                </a:solidFill>
                <a:latin typeface="Gilroy Bold" panose="00000800000000000000" charset="0"/>
              </a:rPr>
              <a:t>Comparación entre familias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5DFB6BDB-36FC-3017-4EA6-2027C0DE6F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4" t="13426" r="2197" b="2269"/>
          <a:stretch>
            <a:fillRect/>
          </a:stretch>
        </p:blipFill>
        <p:spPr>
          <a:xfrm>
            <a:off x="1376052" y="2000480"/>
            <a:ext cx="9457318" cy="468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7867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F15A2F98-055D-1985-2F34-8E2D47B3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435F0131-5BBB-4118-EC0B-E18DD98DBA52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Formativa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331EBC5A-17D2-152E-6AF2-B235C1AD9B72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F501B163-80FC-0A40-3BE7-6C39EC018537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F2CDC73-C564-7F86-9DF0-9D4D609946BA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8876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4" y="1247668"/>
            <a:ext cx="90502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000" dirty="0">
                <a:sym typeface="Poppins"/>
              </a:rPr>
              <a:t>Tema 3: </a:t>
            </a:r>
            <a:r>
              <a:rPr lang="es-ES_tradnl" sz="4000" dirty="0">
                <a:solidFill>
                  <a:srgbClr val="CC965B"/>
                </a:solidFill>
                <a:sym typeface="Poppins"/>
              </a:rPr>
              <a:t>Ensamblaje Lumínico</a:t>
            </a:r>
            <a:endParaRPr lang="es-ES_tradnl" sz="4000" dirty="0">
              <a:solidFill>
                <a:srgbClr val="CC965B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BFDB20-3371-44E6-A77E-69C1C1AEDB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41" t="7510" r="7107" b="2991"/>
          <a:stretch/>
        </p:blipFill>
        <p:spPr>
          <a:xfrm>
            <a:off x="3415457" y="2061224"/>
            <a:ext cx="7491664" cy="450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68122"/>
      </p:ext>
    </p:extLst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68800-0039-E269-61C5-614D5446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C75D1-0A44-4C16-0F6F-352C7030126A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4A15BE-075C-2A4D-5E07-9180E159E6B8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418674-CCCB-F64C-0DA8-4BA4BFD3561C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C0BE36-5BEE-F1E1-CE6F-AA1C5A856A39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1B2C328-0965-CE44-822B-40053535F90C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C851BD14-D3B0-C36B-228C-A7D76A79F40C}"/>
              </a:ext>
            </a:extLst>
          </p:cNvPr>
          <p:cNvSpPr txBox="1"/>
          <p:nvPr/>
        </p:nvSpPr>
        <p:spPr>
          <a:xfrm>
            <a:off x="3406721" y="3155802"/>
            <a:ext cx="928489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3.1 Preparación de componentes.</a:t>
            </a:r>
          </a:p>
        </p:txBody>
      </p:sp>
    </p:spTree>
    <p:extLst>
      <p:ext uri="{BB962C8B-B14F-4D97-AF65-F5344CB8AC3E}">
        <p14:creationId xmlns:p14="http://schemas.microsoft.com/office/powerpoint/2010/main" val="32582859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89D2-70BF-F166-B7E9-3A5FF127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E3E866-F762-6B20-4B34-6D4D524E4960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A4BC2-A55B-A28F-53E5-0BC0D66FFE50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85984CB-AC17-0C04-F079-5B85AA8CD380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531BC72-DAEB-6C8D-06E4-C23918B1F925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20D848F-8442-71D6-3E88-C14C7051E50B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D59DB291-B1C8-4C39-0734-D5B18D0258FB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3.2 Elaboración paso por paso.</a:t>
            </a:r>
          </a:p>
        </p:txBody>
      </p:sp>
    </p:spTree>
    <p:extLst>
      <p:ext uri="{BB962C8B-B14F-4D97-AF65-F5344CB8AC3E}">
        <p14:creationId xmlns:p14="http://schemas.microsoft.com/office/powerpoint/2010/main" val="27541367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A5692-AB68-7F4B-71F1-CD51B0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DC85E3-1107-7ADD-0D14-E9953F47DB0F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734ABC-4EB3-AAB5-1609-8EBB12BD22DD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AFD5594-C441-5490-97EF-6F8727D94CFA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B2AEA48-3879-8F40-3F21-799D338D32CE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0F3A7283-D6A6-2808-37E2-BCB4B5C3FFE1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BB4B44FC-7662-7422-695D-1BCD9979A695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3.3 Conexión y prueba operativa.</a:t>
            </a:r>
          </a:p>
        </p:txBody>
      </p:sp>
    </p:spTree>
    <p:extLst>
      <p:ext uri="{BB962C8B-B14F-4D97-AF65-F5344CB8AC3E}">
        <p14:creationId xmlns:p14="http://schemas.microsoft.com/office/powerpoint/2010/main" val="28208932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09C2-D79E-F581-A371-B5FC7034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B4C395-37F4-0C86-B14A-B91FC36014AE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9B2EC0-A0A9-9107-F8CE-34DCA58FDE98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D0224C-946C-B0B7-303B-CD60EDAD3E73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2705EA-2E95-5920-9C83-A9B64E9E1E75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88671FF-26FD-D9A4-5A8B-D7815F1D8850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FEE265B-4F6A-2A5D-E7D2-A67F942828AF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76A67-BB26-3943-0A54-C71CFA2DDD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36DEF-1D31-B1CC-1632-320C8BB72DA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6C93BAC7-6A4A-E3AC-6B9D-1E7EFCDEF63D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Resumen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64B69C33-DC3A-FDC1-1424-3064DF8E9920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863C7F-0830-C820-3A45-5CD5D69E02C9}"/>
              </a:ext>
            </a:extLst>
          </p:cNvPr>
          <p:cNvSpPr txBox="1"/>
          <p:nvPr/>
        </p:nvSpPr>
        <p:spPr>
          <a:xfrm>
            <a:off x="1638332" y="1657767"/>
            <a:ext cx="540202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Comprendimos cómo la fuente de alimentación USB canaliza la energía eléctrica (5V DC) para transformarla en energía luminosa continua a través de los componentes de un circuito LED</a:t>
            </a:r>
            <a:endParaRPr lang="es-MX" sz="160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6197415-8120-04A5-1A55-73B693B3EC0E}"/>
              </a:ext>
            </a:extLst>
          </p:cNvPr>
          <p:cNvSpPr txBox="1"/>
          <p:nvPr/>
        </p:nvSpPr>
        <p:spPr>
          <a:xfrm>
            <a:off x="1606875" y="1460520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El origen de la luz 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69BD459-7EA1-AD75-C7BE-CA7094165185}"/>
              </a:ext>
            </a:extLst>
          </p:cNvPr>
          <p:cNvSpPr txBox="1"/>
          <p:nvPr/>
        </p:nvSpPr>
        <p:spPr>
          <a:xfrm>
            <a:off x="1638331" y="3106170"/>
            <a:ext cx="4550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A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rquitectura fotónica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323581-52D6-7886-919D-27C572C2CC2F}"/>
              </a:ext>
            </a:extLst>
          </p:cNvPr>
          <p:cNvSpPr txBox="1"/>
          <p:nvPr/>
        </p:nvSpPr>
        <p:spPr>
          <a:xfrm>
            <a:off x="1638332" y="3286683"/>
            <a:ext cx="540202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Analizamos el ecosistema de la tecnología LED para comprender cómo la relación entre voltaje y corriente define la intensidad luminosa necesaria para iluminar el entorno mediante la electroluminiscencia de sus diodos.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AF9645D-A798-E02A-0717-BFE4EA30AA4A}"/>
              </a:ext>
            </a:extLst>
          </p:cNvPr>
          <p:cNvSpPr txBox="1"/>
          <p:nvPr/>
        </p:nvSpPr>
        <p:spPr>
          <a:xfrm>
            <a:off x="1606873" y="4904561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Lumínico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E15626-94BF-556E-536D-2B4B69D82FAA}"/>
              </a:ext>
            </a:extLst>
          </p:cNvPr>
          <p:cNvSpPr txBox="1"/>
          <p:nvPr/>
        </p:nvSpPr>
        <p:spPr>
          <a:xfrm>
            <a:off x="1606873" y="5311363"/>
            <a:ext cx="54334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Llevamos la teoría a la práctica construyendo una lámpara USB funcional al acoplar diodos LED a un cable USB y soldar su circuito eléctrico, adquiriendo así la autonomía técnica para crear y reparar nuestras propias fuentes de luz.</a:t>
            </a:r>
            <a:endParaRPr lang="es-MX" sz="1600" dirty="0">
              <a:solidFill>
                <a:srgbClr val="334155"/>
              </a:solidFill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CF3E9F5-BFD4-4F59-922A-2817AF520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18" y="0"/>
            <a:ext cx="1667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28348"/>
      </p:ext>
    </p:extLst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9FF9-8FA9-076A-E641-90B77A0D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782548-9676-7BF4-E93D-F6E55E652C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CBF336-9CCD-B09D-2D09-55C519BF0D74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2733F2-5710-0229-5378-44F8BEF2110B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21BA36C-94CA-488D-960B-364BFC91395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0B57E6-3CDC-EC6C-950F-0636C01F8AAD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716450B-AA71-AD80-CA69-9235A6DB1EE0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0CC9B-DC80-A787-BE33-C96A2F5EEDCB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CE451-0AE2-4131-7202-F98395ACF082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9F27020F-CDB5-E9B7-A1C2-A4F7AFA0FDBE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y Expectativas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F36C17EB-151E-085B-4AB9-FA2EED6C0D74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CE6257B-DA6C-138F-3034-408FC9D6FD17}"/>
              </a:ext>
            </a:extLst>
          </p:cNvPr>
          <p:cNvSpPr txBox="1"/>
          <p:nvPr/>
        </p:nvSpPr>
        <p:spPr>
          <a:xfrm>
            <a:off x="2773188" y="2160663"/>
            <a:ext cx="7724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Volviendo a las ideas que compartimos al inicio: ¿El taller logró brindarles las herramientas, la práctica y los conocimientos que buscaban al inscribirse?</a:t>
            </a:r>
            <a:endParaRPr lang="es-MX" sz="28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D0AD0E-30E3-2985-5844-DED5334441D2}"/>
              </a:ext>
            </a:extLst>
          </p:cNvPr>
          <p:cNvSpPr txBox="1"/>
          <p:nvPr/>
        </p:nvSpPr>
        <p:spPr>
          <a:xfrm>
            <a:off x="2773188" y="3906760"/>
            <a:ext cx="772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 partir de los ensambles realizados hoy: ¿Cuáles son las reflexiones finales o descubrimientos clave que nos llevamos sobre el uso de diodos LED y la construcción de nuestra lámpara USB?</a:t>
            </a:r>
            <a:endParaRPr lang="es-MX" sz="28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76550"/>
      </p:ext>
    </p:extLst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C7BD640-4975-6C7C-4707-B0924B8F244C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D344DBF-4D4C-D7EB-4FD6-5F25DBA0887C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8ADA9B3-9729-77D0-2F16-1A5BEF31D29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E00B7A1C-790C-E03E-F01B-3D6D441310F7}"/>
              </a:ext>
            </a:extLst>
          </p:cNvPr>
          <p:cNvSpPr/>
          <p:nvPr/>
        </p:nvSpPr>
        <p:spPr>
          <a:xfrm>
            <a:off x="-133102" y="3959423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872FB28-9BA4-586C-6439-55430D25447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FE8EBB4-80A5-DE14-28EA-8C1F3BBF84A4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CD6FC5-B451-4186-B145-8FE8F0605F6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E9281277-164D-85EF-75C3-73AC91A1F3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49EB7ED-A4C3-DC24-3905-5B7EA6A8FC8B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A9B0FA9-CE1C-5A36-7044-F48BE650A52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FBB862A2-19B7-29DA-D97B-46D5B36A6A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A2E9931E-BCC6-F28A-010F-FF020D737DCA}"/>
              </a:ext>
            </a:extLst>
          </p:cNvPr>
          <p:cNvSpPr txBox="1"/>
          <p:nvPr/>
        </p:nvSpPr>
        <p:spPr>
          <a:xfrm>
            <a:off x="1704729" y="3046489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Síntesis Final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BB23-E915-AC22-C19C-7F72B6F3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AB9DA4-A335-9B7C-5165-5A07ACE691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061581-7568-9545-1917-C680F99BC172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99F357-3FBE-49A9-438B-6BEF0162573E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012249A-1C9C-B841-C983-DC5C0BC2200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7EB311-8A17-3ADA-1F1D-AC2A9E3E69A9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5F0952-109F-7860-D4B4-211CD109B30C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C21DD-8331-B3CC-301E-D6A0286D85E4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D83ED-6133-5B10-276E-DE06966003E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DB394735-8696-86FC-B5F1-CF7885D9B3A6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/>
              <a:t>Compromisos y Continuidad</a:t>
            </a:r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E8FD68CD-AC65-B5D6-5FB1-C93BB58934F6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ACAABB-0E9C-D9F3-92D3-F72F2A3E0AA5}"/>
              </a:ext>
            </a:extLst>
          </p:cNvPr>
          <p:cNvSpPr txBox="1"/>
          <p:nvPr/>
        </p:nvSpPr>
        <p:spPr>
          <a:xfrm>
            <a:off x="2645658" y="1628823"/>
            <a:ext cx="807236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8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2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¿Qué sigue ahora? Los invito a aplicar nuestra nueva lámpara USB en trabajos manuales, reparaciones y artesanías, utilizando la luz de sus componentes para iluminar, alumbrar o ambientar, impulsando así la autonomía y capacidad productiva de nuestra comunidad.</a:t>
            </a:r>
            <a:endParaRPr lang="es-MX" sz="22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C7050E-8D89-3E42-290C-B5DB9F71FB0E}"/>
              </a:ext>
            </a:extLst>
          </p:cNvPr>
          <p:cNvSpPr txBox="1"/>
          <p:nvPr/>
        </p:nvSpPr>
        <p:spPr>
          <a:xfrm>
            <a:off x="2603321" y="3567769"/>
            <a:ext cx="81147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¿Cómo aplicaremos la lámpara USB que construimos hoy? (Ej. alumbrado de espacios en viviendas, zonas de lectura, atención de emergencias o ambientación)</a:t>
            </a:r>
            <a:endParaRPr lang="es-MX" sz="22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54EC77-C769-6AB7-1B85-CAE862050FE0}"/>
              </a:ext>
            </a:extLst>
          </p:cNvPr>
          <p:cNvSpPr txBox="1"/>
          <p:nvPr/>
        </p:nvSpPr>
        <p:spPr>
          <a:xfrm>
            <a:off x="2645658" y="5191703"/>
            <a:ext cx="81147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Acción "</a:t>
            </a:r>
            <a:r>
              <a:rPr lang="es-ES" sz="2200" dirty="0" err="1">
                <a:solidFill>
                  <a:srgbClr val="464644"/>
                </a:solidFill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Tekitl</a:t>
            </a: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": El conocimiento crece cuando se comparte. Nuestro último compromiso es transmitir lo aprendido hoy a un familiar o miembro de la comunidad.</a:t>
            </a:r>
            <a:endParaRPr lang="es-MX" sz="2200" dirty="0">
              <a:solidFill>
                <a:srgbClr val="46464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13255"/>
      </p:ext>
    </p:extLst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CDCD9A02-A2F9-24ED-D945-64D69BD6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6FFF666A-AE91-1612-FC2D-60C122DF7326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Final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828524E3-66BA-1391-AABD-89DD73DD151E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8268E27-D89E-9E47-6F20-C14C95077A7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B6DA418-6A94-BC15-2957-3D4BF139BB8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4110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Encuesta de Satisfacción 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97736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4" y="0"/>
                </a:lnTo>
                <a:lnTo>
                  <a:pt x="10194794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 rot="-5400000">
            <a:off x="-1281896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-6231" y="835580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 rot="-5400000">
            <a:off x="-2057931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85378" y="3194094"/>
            <a:ext cx="5513597" cy="820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911"/>
              </a:lnSpc>
              <a:buClrTx/>
            </a:pPr>
            <a:r>
              <a:rPr lang="en-US" sz="4936" b="1" kern="1200" dirty="0">
                <a:solidFill>
                  <a:srgbClr val="F2F2F2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Gracias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8281539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9072602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0289018" y="4741962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8364</TotalTime>
  <Words>3871</Words>
  <Application>Microsoft Office PowerPoint</Application>
  <PresentationFormat>Panorámica</PresentationFormat>
  <Paragraphs>522</Paragraphs>
  <Slides>94</Slides>
  <Notes>90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94</vt:i4>
      </vt:variant>
    </vt:vector>
  </HeadingPairs>
  <TitlesOfParts>
    <vt:vector size="109" baseType="lpstr">
      <vt:lpstr>Arial</vt:lpstr>
      <vt:lpstr>Courier New</vt:lpstr>
      <vt:lpstr>Gilroy SemiBold Italic</vt:lpstr>
      <vt:lpstr>Montserrat Heavy</vt:lpstr>
      <vt:lpstr>Montserrat</vt:lpstr>
      <vt:lpstr>Raleway Heavy</vt:lpstr>
      <vt:lpstr>Poppins</vt:lpstr>
      <vt:lpstr>Gilroy-Medium</vt:lpstr>
      <vt:lpstr>Gilroy Bold</vt:lpstr>
      <vt:lpstr>Gilroy</vt:lpstr>
      <vt:lpstr>Calibri</vt:lpstr>
      <vt:lpstr>Gilroy-Bold</vt:lpstr>
      <vt:lpstr>Gilroy SemiBold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STAFF-UDTI</dc:creator>
  <cp:lastModifiedBy>STAFFTI</cp:lastModifiedBy>
  <cp:revision>120</cp:revision>
  <cp:lastPrinted>2026-01-28T20:03:15Z</cp:lastPrinted>
  <dcterms:modified xsi:type="dcterms:W3CDTF">2026-04-15T18:00:32Z</dcterms:modified>
</cp:coreProperties>
</file>