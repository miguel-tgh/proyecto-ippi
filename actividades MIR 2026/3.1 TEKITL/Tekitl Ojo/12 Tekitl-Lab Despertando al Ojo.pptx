
<file path=[Content_Types].xml><?xml version="1.0" encoding="utf-8"?>
<Types xmlns="http://schemas.openxmlformats.org/package/2006/content-types">
  <Default Extension="avi" ContentType="video/x-msvideo"/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82"/>
  </p:notesMasterIdLst>
  <p:sldIdLst>
    <p:sldId id="256" r:id="rId3"/>
    <p:sldId id="290" r:id="rId4"/>
    <p:sldId id="291" r:id="rId5"/>
    <p:sldId id="308" r:id="rId6"/>
    <p:sldId id="309" r:id="rId7"/>
    <p:sldId id="296" r:id="rId8"/>
    <p:sldId id="311" r:id="rId9"/>
    <p:sldId id="302" r:id="rId10"/>
    <p:sldId id="297" r:id="rId11"/>
    <p:sldId id="379" r:id="rId12"/>
    <p:sldId id="382" r:id="rId13"/>
    <p:sldId id="380" r:id="rId14"/>
    <p:sldId id="314" r:id="rId15"/>
    <p:sldId id="315" r:id="rId16"/>
    <p:sldId id="316" r:id="rId17"/>
    <p:sldId id="265" r:id="rId18"/>
    <p:sldId id="331" r:id="rId19"/>
    <p:sldId id="387" r:id="rId20"/>
    <p:sldId id="388" r:id="rId21"/>
    <p:sldId id="383" r:id="rId22"/>
    <p:sldId id="390" r:id="rId23"/>
    <p:sldId id="384" r:id="rId24"/>
    <p:sldId id="391" r:id="rId25"/>
    <p:sldId id="385" r:id="rId26"/>
    <p:sldId id="389" r:id="rId27"/>
    <p:sldId id="386" r:id="rId28"/>
    <p:sldId id="392" r:id="rId29"/>
    <p:sldId id="393" r:id="rId30"/>
    <p:sldId id="398" r:id="rId31"/>
    <p:sldId id="394" r:id="rId32"/>
    <p:sldId id="399" r:id="rId33"/>
    <p:sldId id="395" r:id="rId34"/>
    <p:sldId id="401" r:id="rId35"/>
    <p:sldId id="400" r:id="rId36"/>
    <p:sldId id="396" r:id="rId37"/>
    <p:sldId id="402" r:id="rId38"/>
    <p:sldId id="397" r:id="rId39"/>
    <p:sldId id="403" r:id="rId40"/>
    <p:sldId id="405" r:id="rId41"/>
    <p:sldId id="406" r:id="rId42"/>
    <p:sldId id="407" r:id="rId43"/>
    <p:sldId id="408" r:id="rId44"/>
    <p:sldId id="413" r:id="rId45"/>
    <p:sldId id="409" r:id="rId46"/>
    <p:sldId id="414" r:id="rId47"/>
    <p:sldId id="410" r:id="rId48"/>
    <p:sldId id="415" r:id="rId49"/>
    <p:sldId id="416" r:id="rId50"/>
    <p:sldId id="412" r:id="rId51"/>
    <p:sldId id="420" r:id="rId52"/>
    <p:sldId id="411" r:id="rId53"/>
    <p:sldId id="417" r:id="rId54"/>
    <p:sldId id="419" r:id="rId55"/>
    <p:sldId id="374" r:id="rId56"/>
    <p:sldId id="369" r:id="rId57"/>
    <p:sldId id="370" r:id="rId58"/>
    <p:sldId id="421" r:id="rId59"/>
    <p:sldId id="422" r:id="rId60"/>
    <p:sldId id="435" r:id="rId61"/>
    <p:sldId id="371" r:id="rId62"/>
    <p:sldId id="438" r:id="rId63"/>
    <p:sldId id="439" r:id="rId64"/>
    <p:sldId id="440" r:id="rId65"/>
    <p:sldId id="441" r:id="rId66"/>
    <p:sldId id="442" r:id="rId67"/>
    <p:sldId id="443" r:id="rId68"/>
    <p:sldId id="437" r:id="rId69"/>
    <p:sldId id="445" r:id="rId70"/>
    <p:sldId id="436" r:id="rId71"/>
    <p:sldId id="431" r:id="rId72"/>
    <p:sldId id="432" r:id="rId73"/>
    <p:sldId id="444" r:id="rId74"/>
    <p:sldId id="375" r:id="rId75"/>
    <p:sldId id="376" r:id="rId76"/>
    <p:sldId id="257" r:id="rId77"/>
    <p:sldId id="378" r:id="rId78"/>
    <p:sldId id="377" r:id="rId79"/>
    <p:sldId id="259" r:id="rId80"/>
    <p:sldId id="277" r:id="rId81"/>
  </p:sldIdLst>
  <p:sldSz cx="12192000" cy="6858000"/>
  <p:notesSz cx="6858000" cy="9144000"/>
  <p:embeddedFontLst>
    <p:embeddedFont>
      <p:font typeface="Calibri" panose="020F0502020204030204" pitchFamily="34" charset="0"/>
      <p:regular r:id="rId83"/>
      <p:bold r:id="rId84"/>
      <p:italic r:id="rId85"/>
      <p:boldItalic r:id="rId86"/>
    </p:embeddedFont>
    <p:embeddedFont>
      <p:font typeface="Gilroy" panose="020B0604020202020204" charset="0"/>
      <p:regular r:id="rId87"/>
    </p:embeddedFont>
    <p:embeddedFont>
      <p:font typeface="Gilroy Bold" panose="00000800000000000000" charset="0"/>
      <p:bold r:id="rId88"/>
    </p:embeddedFont>
    <p:embeddedFont>
      <p:font typeface="Gilroy SemiBold" panose="00000700000000000000" charset="0"/>
      <p:regular r:id="rId89"/>
      <p:bold r:id="rId90"/>
    </p:embeddedFont>
    <p:embeddedFont>
      <p:font typeface="Gilroy SemiBold Italic" panose="00000700000000000000" charset="0"/>
      <p:bold r:id="rId91"/>
      <p:italic r:id="rId92"/>
      <p:boldItalic r:id="rId93"/>
    </p:embeddedFont>
    <p:embeddedFont>
      <p:font typeface="Gilroy-Bold" panose="00000800000000000000" charset="0"/>
      <p:regular r:id="rId94"/>
      <p:bold r:id="rId95"/>
      <p:italic r:id="rId96"/>
      <p:boldItalic r:id="rId97"/>
    </p:embeddedFont>
    <p:embeddedFont>
      <p:font typeface="Gilroy-Medium" panose="00000600000000000000" pitchFamily="2" charset="0"/>
      <p:regular r:id="rId98"/>
      <p:italic r:id="rId99"/>
    </p:embeddedFont>
    <p:embeddedFont>
      <p:font typeface="Montserrat" panose="00000500000000000000" pitchFamily="2" charset="0"/>
      <p:regular r:id="rId100"/>
      <p:bold r:id="rId101"/>
      <p:italic r:id="rId102"/>
      <p:boldItalic r:id="rId103"/>
    </p:embeddedFont>
    <p:embeddedFont>
      <p:font typeface="Montserrat Heavy" panose="020B0604020202020204" charset="0"/>
      <p:regular r:id="rId104"/>
      <p:bold r:id="rId105"/>
      <p:italic r:id="rId106"/>
      <p:boldItalic r:id="rId107"/>
    </p:embeddedFont>
    <p:embeddedFont>
      <p:font typeface="Poppins" panose="00000500000000000000" pitchFamily="2" charset="0"/>
      <p:regular r:id="rId108"/>
      <p:bold r:id="rId109"/>
      <p:italic r:id="rId110"/>
      <p:boldItalic r:id="rId111"/>
    </p:embeddedFont>
    <p:embeddedFont>
      <p:font typeface="Raleway Heavy" panose="020B0604020202020204" charset="0"/>
      <p:regular r:id="rId112"/>
      <p:bold r:id="rId113"/>
      <p:italic r:id="rId114"/>
      <p:boldItalic r:id="rId1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0736"/>
    <a:srgbClr val="27625A"/>
    <a:srgbClr val="143934"/>
    <a:srgbClr val="464644"/>
    <a:srgbClr val="334155"/>
    <a:srgbClr val="CC965B"/>
    <a:srgbClr val="BF9F63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D09364-3DE2-4920-9D95-F2A5C7149E87}">
  <a:tblStyle styleId="{D2D09364-3DE2-4920-9D95-F2A5C7149E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09"/>
  </p:normalViewPr>
  <p:slideViewPr>
    <p:cSldViewPr snapToGrid="0">
      <p:cViewPr varScale="1">
        <p:scale>
          <a:sx n="86" d="100"/>
          <a:sy n="86" d="100"/>
        </p:scale>
        <p:origin x="211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viewProps" Target="view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2.fntdata"/><Relationship Id="rId89" Type="http://schemas.openxmlformats.org/officeDocument/2006/relationships/font" Target="fonts/font7.fntdata"/><Relationship Id="rId112" Type="http://schemas.openxmlformats.org/officeDocument/2006/relationships/font" Target="fonts/font30.fntdata"/><Relationship Id="rId16" Type="http://schemas.openxmlformats.org/officeDocument/2006/relationships/slide" Target="slides/slide14.xml"/><Relationship Id="rId107" Type="http://schemas.openxmlformats.org/officeDocument/2006/relationships/font" Target="fonts/font25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font" Target="fonts/font20.fntdata"/><Relationship Id="rId5" Type="http://schemas.openxmlformats.org/officeDocument/2006/relationships/slide" Target="slides/slide3.xml"/><Relationship Id="rId90" Type="http://schemas.openxmlformats.org/officeDocument/2006/relationships/font" Target="fonts/font8.fntdata"/><Relationship Id="rId95" Type="http://schemas.openxmlformats.org/officeDocument/2006/relationships/font" Target="fonts/font13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font" Target="fonts/font31.fntdata"/><Relationship Id="rId118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font" Target="fonts/font3.fntdata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font" Target="fonts/font21.fntdata"/><Relationship Id="rId108" Type="http://schemas.openxmlformats.org/officeDocument/2006/relationships/font" Target="fonts/font26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font" Target="fonts/font9.fntdata"/><Relationship Id="rId96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32.fntdata"/><Relationship Id="rId119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font" Target="fonts/font4.fntdata"/><Relationship Id="rId94" Type="http://schemas.openxmlformats.org/officeDocument/2006/relationships/font" Target="fonts/font12.fntdata"/><Relationship Id="rId99" Type="http://schemas.openxmlformats.org/officeDocument/2006/relationships/font" Target="fonts/font17.fntdata"/><Relationship Id="rId101" Type="http://schemas.openxmlformats.org/officeDocument/2006/relationships/font" Target="fonts/font1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27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font" Target="fonts/font15.fntdata"/><Relationship Id="rId104" Type="http://schemas.openxmlformats.org/officeDocument/2006/relationships/font" Target="fonts/font22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5.fntdata"/><Relationship Id="rId110" Type="http://schemas.openxmlformats.org/officeDocument/2006/relationships/font" Target="fonts/font28.fntdata"/><Relationship Id="rId115" Type="http://schemas.openxmlformats.org/officeDocument/2006/relationships/font" Target="fonts/font33.fntdata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font" Target="fonts/font18.fntdata"/><Relationship Id="rId105" Type="http://schemas.openxmlformats.org/officeDocument/2006/relationships/font" Target="fonts/font23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font" Target="fonts/font11.fntdata"/><Relationship Id="rId98" Type="http://schemas.openxmlformats.org/officeDocument/2006/relationships/font" Target="fonts/font16.fntdata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font" Target="fonts/font1.fntdata"/><Relationship Id="rId88" Type="http://schemas.openxmlformats.org/officeDocument/2006/relationships/font" Target="fonts/font6.fntdata"/><Relationship Id="rId111" Type="http://schemas.openxmlformats.org/officeDocument/2006/relationships/font" Target="fonts/font29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D3E01CB-F480-352B-2FDE-CBABAA6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362DF539-8F58-7548-9BFE-34F20A4966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5F51205A-62A3-5546-D2E2-6BAFECF10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7698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68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91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68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9A78-5836-9897-6900-9AA4E81A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1F3B9B-2B5E-94ED-2D79-A51E6C6F0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F4F2FE-B4AE-2E15-4AEC-0CF2FD0F9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9553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9A78-5836-9897-6900-9AA4E81A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1F3B9B-2B5E-94ED-2D79-A51E6C6F0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F4F2FE-B4AE-2E15-4AEC-0CF2FD0F9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2433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4C18-5117-63A0-2967-567BDB11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9F2C73-D54B-C729-BAF7-7064A3346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BF8419-F978-3056-8F54-45852CB9C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04626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4013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3398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6390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4676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0637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7560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6428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4524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46578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9631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422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7727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91911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025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50462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82578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8138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840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47653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8266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45602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38060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41227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15615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48484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06578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33796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70703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42842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3408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21536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5248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5248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7855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34825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65134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00015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2566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45670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7164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65082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99730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4938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D0FD9CA-C738-4E6D-5054-5EA45A9A8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056484E6-D05F-78FB-D7C0-9162B5118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B8641BED-C9B1-A5D6-C560-D484577D5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56641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5F56-4658-149F-DFD1-CE8A559E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FF9627-5A61-98FE-79A1-EFC07C766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7D5B20-0D3F-043D-E5DB-E8BF65D3C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522324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AA2238A-6108-2B52-9380-B5CBF977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B948C9-4F5B-01CA-D4EC-6E1830D23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196F27C-6565-E88E-9EEA-AFA4C956A9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9197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0F81D2C-AF6E-E4D4-0B04-967103A0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D7137F5-5E0E-BDE1-370E-B97A92BB6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44C79C0-7D02-06F5-E8EB-2BFD0BC712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61617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4A84-9FF4-557F-8D30-D45EB2E7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2742F3-552E-0C1B-38E8-C039521C3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E205AB-80AD-B019-5444-8970A91B0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027480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48975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4760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77557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74438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28550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153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5637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EE62E826-7E4D-6B1B-0E72-33AFB80E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4B8A578-5A3F-43FD-70CE-62B808718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3293EF9-0DD7-89C6-4ECC-A2960A6DE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425888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94DFC66-EAEF-4FBF-BE37-12839672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86AFB32-BB88-4CC3-CB12-5169B950F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867F373-E803-CC7F-313B-7300F074E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084208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94DFC66-EAEF-4FBF-BE37-12839672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86AFB32-BB88-4CC3-CB12-5169B950F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867F373-E803-CC7F-313B-7300F074E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396281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939D-A05E-0846-002A-9BB7D3BFE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86FEF3-D642-B0DC-6C42-E54E80FE6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BDB6E0-A916-7C62-1EC3-9031D0426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37215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7ED0-DCBC-3CC6-F657-71AA2E9A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A28153-6386-6EAA-EAD1-222A8545D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9862A4-1CD2-4465-08D7-AD5F730E8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1882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57A5-55AF-AF46-7689-3E07BEB5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BEA874-CD4F-0BA7-AD00-2D29D532C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181676-2334-4D2A-167B-75C2D823A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970754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B704C85-2627-6145-5AD4-7B4F447F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0742D15-A3D3-8015-6956-7C27847FE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04EC58D-6149-56EE-814F-C7B7DDC782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733929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38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38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8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14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7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80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47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2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07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gif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gif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8.png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gif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69A68181-E056-252C-0286-DABDA6DE38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09" r="26437"/>
          <a:stretch/>
        </p:blipFill>
        <p:spPr>
          <a:xfrm>
            <a:off x="8107831" y="2127835"/>
            <a:ext cx="2304646" cy="2834178"/>
          </a:xfrm>
          <a:prstGeom prst="rect">
            <a:avLst/>
          </a:prstGeom>
        </p:spPr>
      </p:pic>
      <p:sp>
        <p:nvSpPr>
          <p:cNvPr id="85" name="Google Shape;85;p13"/>
          <p:cNvSpPr txBox="1"/>
          <p:nvPr/>
        </p:nvSpPr>
        <p:spPr>
          <a:xfrm>
            <a:off x="453119" y="2961424"/>
            <a:ext cx="7237706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0" b="1" dirty="0" err="1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Tekitl</a:t>
            </a:r>
            <a:r>
              <a:rPr lang="es-ES_tradnl" sz="3600" b="1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s-ES_tradnl" sz="3600" b="1" dirty="0" err="1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Lab</a:t>
            </a:r>
            <a:r>
              <a:rPr lang="es-ES_tradnl" sz="3600" b="1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: </a:t>
            </a:r>
            <a:r>
              <a:rPr lang="es-ES_tradnl" sz="3600" b="1" dirty="0">
                <a:solidFill>
                  <a:srgbClr val="CC965B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Despertando al OJO</a:t>
            </a:r>
            <a:endParaRPr lang="es-ES_tradnl" sz="1050" b="1" dirty="0">
              <a:solidFill>
                <a:srgbClr val="890736"/>
              </a:solidFill>
              <a:latin typeface="Gilroy-Medium" panose="00000600000000000000" pitchFamily="2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3233E929-B8D1-D3EC-5318-87E11858A06B}"/>
              </a:ext>
            </a:extLst>
          </p:cNvPr>
          <p:cNvSpPr txBox="1"/>
          <p:nvPr/>
        </p:nvSpPr>
        <p:spPr>
          <a:xfrm rot="-5400000">
            <a:off x="8166152" y="3161774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5462F48C-C622-399C-0CFA-C97443E9C90F}"/>
              </a:ext>
            </a:extLst>
          </p:cNvPr>
          <p:cNvSpPr txBox="1"/>
          <p:nvPr/>
        </p:nvSpPr>
        <p:spPr>
          <a:xfrm rot="-5400000">
            <a:off x="7746692" y="3444881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DAA0B104-4F30-D331-1CD8-CBB3540A45DB}"/>
              </a:ext>
            </a:extLst>
          </p:cNvPr>
          <p:cNvSpPr/>
          <p:nvPr/>
        </p:nvSpPr>
        <p:spPr>
          <a:xfrm>
            <a:off x="3249687" y="233980"/>
            <a:ext cx="6490293" cy="832653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Google Shape;85;p13">
            <a:extLst>
              <a:ext uri="{FF2B5EF4-FFF2-40B4-BE49-F238E27FC236}">
                <a16:creationId xmlns:a16="http://schemas.microsoft.com/office/drawing/2014/main" id="{21898E41-893A-C242-A58E-17652E29570C}"/>
              </a:ext>
            </a:extLst>
          </p:cNvPr>
          <p:cNvSpPr txBox="1"/>
          <p:nvPr/>
        </p:nvSpPr>
        <p:spPr>
          <a:xfrm>
            <a:off x="-2475698" y="3626221"/>
            <a:ext cx="10115548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none" strike="noStrike" cap="none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Automatización de espacios comunitarias.</a:t>
            </a:r>
            <a:endParaRPr lang="es-ES_tradnl" sz="500" dirty="0">
              <a:solidFill>
                <a:srgbClr val="890736"/>
              </a:solidFill>
              <a:latin typeface="Gilroy-Medium" panose="000006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02D5ABD-5431-8181-E2C4-F0C6A5DAC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86BEB50F-862B-14BB-51BB-E1F309E19554}"/>
              </a:ext>
            </a:extLst>
          </p:cNvPr>
          <p:cNvSpPr txBox="1"/>
          <p:nvPr/>
        </p:nvSpPr>
        <p:spPr>
          <a:xfrm>
            <a:off x="193978" y="3013501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Pase de Lista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27FEB71F-A673-C238-CABE-159061589E39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33CAFDE-9136-9BA9-1F6A-D26A30A1ED0E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E18A4B9B-DC56-6F7D-0CB9-9B3AFFD66E3C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063BDE3C-0A95-D41C-4825-B0206170C37E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3D07491-8A1D-5A4A-2274-D25E9775616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04DAF37A-BB7F-43A9-2A6C-4DF513C1A29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9F259D6-ED4E-5898-8F0D-C441F1CD5B5B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605DEF1C-2152-C44E-895E-EE710B8DE3C1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BE8AE76-6B07-6CC4-ACE3-486516ECEA0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1D8EF0E-B255-73A9-0FCB-36A5FD5364A8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288A8971-1210-D042-0A19-CA539015FC98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607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435893" y="971942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Propósito del Curso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1032301" y="1530997"/>
            <a:ext cx="1010766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MX" altLang="es-MX" sz="16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Capacitar a los integrantes de la comunidad para comprender los principios de la detección infrarroja pasiva y el control de potencia eléctrica mediante módulos de relevadores, combinando la teoría con la práctica. Este aprendizaje permitirá a los participantes identificar, calibrar y conectar estos componentes tecnológicos para construir un 'centinela' autónomo capaz de encender y apagar cualquier dispositivo (como lámparas, alarmas o electrodomésticos) al detectar movimiento, lo que les permitirá implementar proyectos propios que resuelvan necesidades específicas de seguridad y automatización en su entorno, fomentando la autonomía técnica, el ahorro de energía y el desarrollo local.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7A479CD-1CE4-46F9-98DC-408E48B34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1164" y="3429000"/>
            <a:ext cx="5909848" cy="322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5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233202" y="99859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Beneficio del Curso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1124434" y="1605624"/>
            <a:ext cx="104409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Al concluir el curso, los participantes adquirirán la autonomía técnica necesaria para diseñar, ensamblar y reparar sistemas autónomos de iluminación y seguridad utilizando sensores infrarrojos (PIR HC-SR501) y relevadores. Esto les permitirá resolver de manera sustentable, económica y colaborativa las necesidades reales de automatización, protección y ahorro de energía en su entorno (como el encendido automático de luces o alarmas vecinales), reduciendo la dependencia de tecnologías costosas y fortaleciendo el desarrollo de su comunidad.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91CFA2E-D68D-4711-9E9D-DB3DA56F4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159" y="3069933"/>
            <a:ext cx="4161182" cy="416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2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476498" y="951315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Contenido Temático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729268" y="1702894"/>
            <a:ext cx="66389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1:  El Lenguaje del Calor</a:t>
            </a:r>
            <a:endParaRPr kumimoji="0" lang="es-MX" altLang="es-MX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Gilroy Bold" pitchFamily="2" charset="77"/>
              </a:rPr>
              <a:t>1.1 La radiación térmica de los cuerpos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Gilroy Bold" pitchFamily="2" charset="77"/>
              </a:rPr>
              <a:t>1.2 El principio del Infrarrojo Pasivo (PIR)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2F1D67B-0D81-484D-9153-D1BE560ACAB2}"/>
              </a:ext>
            </a:extLst>
          </p:cNvPr>
          <p:cNvSpPr txBox="1"/>
          <p:nvPr/>
        </p:nvSpPr>
        <p:spPr>
          <a:xfrm>
            <a:off x="626597" y="3123781"/>
            <a:ext cx="73874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2: : Decodificando el sexto sentido</a:t>
            </a:r>
            <a:endParaRPr kumimoji="0" lang="es-MX" altLang="es-MX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2.1  ¿De qué está hecho el sensor?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2.2 ¿Cómo lo configuramos a medida?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D658E8-A04A-45B8-ADFC-73AD3CF38942}"/>
              </a:ext>
            </a:extLst>
          </p:cNvPr>
          <p:cNvSpPr txBox="1"/>
          <p:nvPr/>
        </p:nvSpPr>
        <p:spPr>
          <a:xfrm>
            <a:off x="729267" y="4529491"/>
            <a:ext cx="70785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3:  Ensamblaje </a:t>
            </a:r>
            <a:r>
              <a:rPr lang="es-MX" altLang="es-MX" sz="2400" b="1" dirty="0">
                <a:solidFill>
                  <a:srgbClr val="CC965B"/>
                </a:solidFill>
                <a:latin typeface="Gilroy Bold" pitchFamily="2" charset="77"/>
              </a:rPr>
              <a:t>del centinela</a:t>
            </a:r>
            <a:endParaRPr kumimoji="0" lang="es-MX" altLang="es-MX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3.1 Preparación de componentes.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3.2 Elaboración del centinela.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3.3 Conexión y prueba operativa.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1" u="none" strike="noStrike" cap="none" normalizeH="0" baseline="0" dirty="0">
              <a:ln>
                <a:noFill/>
              </a:ln>
              <a:solidFill>
                <a:srgbClr val="27625A"/>
              </a:solidFill>
              <a:effectLst/>
              <a:latin typeface="Gilroy Bold" pitchFamily="2" charset="77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7F0A7D4-7AD4-48A4-A466-5A65EC898DD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87" t="11622" r="-1825" b="11507"/>
          <a:stretch/>
        </p:blipFill>
        <p:spPr>
          <a:xfrm>
            <a:off x="10527956" y="-60680"/>
            <a:ext cx="1037447" cy="70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9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1304-0C0B-F417-2383-105DF572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338A5B-15EA-F163-E430-0C59462E2D7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B4B53E-C004-EFF0-5542-20B1C2E89797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8DF62F-E716-75ED-D257-FEB5FAEA0D77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9C6BBE1-C288-EF1B-64E6-CD771466C6BA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BC61C2-250F-B98D-3191-AFE5DB29DE2A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E7010-8AD7-2651-F13D-300FD6DBFA8E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D5935-6108-B2E7-994F-6FA308ACA2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84C8D-6CD0-FAAD-9679-4C9E102D0855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3C22F70F-9596-A558-D397-24DFCC8B7CB2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2417D9AB-895C-3A9E-D292-A89B83CBABC8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9F7845-F539-DF8B-F109-898D277E1A98}"/>
              </a:ext>
            </a:extLst>
          </p:cNvPr>
          <p:cNvSpPr txBox="1"/>
          <p:nvPr/>
        </p:nvSpPr>
        <p:spPr>
          <a:xfrm>
            <a:off x="1606875" y="1577359"/>
            <a:ext cx="8406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b="1" dirty="0">
                <a:solidFill>
                  <a:srgbClr val="143934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Objetivos generales</a:t>
            </a:r>
            <a:r>
              <a:rPr lang="es-MX" sz="18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00CE57-9DE5-9574-3522-9CE8E3236F31}"/>
              </a:ext>
            </a:extLst>
          </p:cNvPr>
          <p:cNvSpPr txBox="1"/>
          <p:nvPr/>
        </p:nvSpPr>
        <p:spPr>
          <a:xfrm>
            <a:off x="1645884" y="2423690"/>
            <a:ext cx="56596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sz="1600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Comprender el funcionamiento electrónico de los sensores de movimiento infrarrojos (PIR) y el control de potencia mediante módulos de relevadores, combinando la teoría con la práctica.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BF9D055-7820-D1FE-2964-0C0B9DC6A10D}"/>
              </a:ext>
            </a:extLst>
          </p:cNvPr>
          <p:cNvSpPr txBox="1"/>
          <p:nvPr/>
        </p:nvSpPr>
        <p:spPr>
          <a:xfrm>
            <a:off x="1606875" y="2208245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¿Qué haremos?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78F1D7-0A44-4341-869F-D16E2EC9D4F2}"/>
              </a:ext>
            </a:extLst>
          </p:cNvPr>
          <p:cNvSpPr txBox="1"/>
          <p:nvPr/>
        </p:nvSpPr>
        <p:spPr>
          <a:xfrm>
            <a:off x="1689639" y="3706888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¿Para qué?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890FCF-F37A-4A83-9241-0B253C90C021}"/>
              </a:ext>
            </a:extLst>
          </p:cNvPr>
          <p:cNvSpPr txBox="1"/>
          <p:nvPr/>
        </p:nvSpPr>
        <p:spPr>
          <a:xfrm>
            <a:off x="1676258" y="3956072"/>
            <a:ext cx="576250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Para adquirir la autonomía técnica necesaria para diseñar, ensamblar y reparar sistemas autónomos de iluminación y seguridad utilizando sensores infrarrojos (PIR HC-SR501) y módulos de relevadores.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651CAC-F12C-4EDE-B186-487FA0F03587}"/>
              </a:ext>
            </a:extLst>
          </p:cNvPr>
          <p:cNvSpPr txBox="1"/>
          <p:nvPr/>
        </p:nvSpPr>
        <p:spPr>
          <a:xfrm>
            <a:off x="1707077" y="5219919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Impacto</a:t>
            </a:r>
            <a:endParaRPr lang="es-MX" sz="22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CD2BC0D-24CD-42CD-B471-39659D6CCC26}"/>
              </a:ext>
            </a:extLst>
          </p:cNvPr>
          <p:cNvSpPr txBox="1"/>
          <p:nvPr/>
        </p:nvSpPr>
        <p:spPr>
          <a:xfrm>
            <a:off x="1689638" y="5435362"/>
            <a:ext cx="576250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Resolver necesidades específicas de automatización, iluminación, seguridad y ahorro de energía en nuestra comunidad de forma sustentable y colaborativa.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2B72F67-BD64-42EB-A125-F21FEB4CE1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797" b="11745"/>
          <a:stretch/>
        </p:blipFill>
        <p:spPr>
          <a:xfrm>
            <a:off x="10397193" y="0"/>
            <a:ext cx="1300977" cy="696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5996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1304-0C0B-F417-2383-105DF572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338A5B-15EA-F163-E430-0C59462E2D7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B4B53E-C004-EFF0-5542-20B1C2E89797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8DF62F-E716-75ED-D257-FEB5FAEA0D77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9C6BBE1-C288-EF1B-64E6-CD771466C6BA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BC61C2-250F-B98D-3191-AFE5DB29DE2A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E7010-8AD7-2651-F13D-300FD6DBFA8E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D5935-6108-B2E7-994F-6FA308ACA2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84C8D-6CD0-FAAD-9679-4C9E102D0855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3C22F70F-9596-A558-D397-24DFCC8B7CB2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2417D9AB-895C-3A9E-D292-A89B83CBABC8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9F7845-F539-DF8B-F109-898D277E1A98}"/>
              </a:ext>
            </a:extLst>
          </p:cNvPr>
          <p:cNvSpPr txBox="1"/>
          <p:nvPr/>
        </p:nvSpPr>
        <p:spPr>
          <a:xfrm>
            <a:off x="1628114" y="1546547"/>
            <a:ext cx="84066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solidFill>
                  <a:srgbClr val="334155"/>
                </a:solidFill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particulares</a:t>
            </a:r>
            <a:r>
              <a:rPr lang="es-MX" sz="240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2400" dirty="0"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solidFill>
                  <a:srgbClr val="143934"/>
                </a:solidFill>
                <a:effectLst/>
                <a:latin typeface="Gilroy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00CE57-9DE5-9574-3522-9CE8E3236F31}"/>
              </a:ext>
            </a:extLst>
          </p:cNvPr>
          <p:cNvSpPr txBox="1"/>
          <p:nvPr/>
        </p:nvSpPr>
        <p:spPr>
          <a:xfrm>
            <a:off x="1606875" y="2415292"/>
            <a:ext cx="61309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Aprender qué es la radiación infrarroja (calor corporal) y los principios de funcionamiento de la detección pasiva (PIR), comprendiendo cómo los cambios de temperatura emitidos por un cuerpo se interpretan como movimiento.</a:t>
            </a:r>
            <a:endParaRPr lang="es-MX" sz="1600" dirty="0">
              <a:solidFill>
                <a:srgbClr val="334155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BF9D055-7820-D1FE-2964-0C0B9DC6A10D}"/>
              </a:ext>
            </a:extLst>
          </p:cNvPr>
          <p:cNvSpPr txBox="1"/>
          <p:nvPr/>
        </p:nvSpPr>
        <p:spPr>
          <a:xfrm>
            <a:off x="1558786" y="2173084"/>
            <a:ext cx="51615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1: El lenguaje del calor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78F1D7-0A44-4341-869F-D16E2EC9D4F2}"/>
              </a:ext>
            </a:extLst>
          </p:cNvPr>
          <p:cNvSpPr txBox="1"/>
          <p:nvPr/>
        </p:nvSpPr>
        <p:spPr>
          <a:xfrm>
            <a:off x="1558784" y="3727621"/>
            <a:ext cx="65225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2: Decodificando el sexto sentido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890FCF-F37A-4A83-9241-0B253C90C021}"/>
              </a:ext>
            </a:extLst>
          </p:cNvPr>
          <p:cNvSpPr txBox="1"/>
          <p:nvPr/>
        </p:nvSpPr>
        <p:spPr>
          <a:xfrm>
            <a:off x="1606875" y="3942974"/>
            <a:ext cx="61169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Analizar el funcionamiento del sensor infrarrojo (PIR HC-SR501) en conjunto con un módulo relevador, y comprender la relación técnica entre los ajustes físicos de calibración (sensibilidad y tiempo), la señal digital emitida (3.3V) y la conmutación de potencia eléctrica (encendido/apagado) generada por el relé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651CAC-F12C-4EDE-B186-487FA0F03587}"/>
              </a:ext>
            </a:extLst>
          </p:cNvPr>
          <p:cNvSpPr txBox="1"/>
          <p:nvPr/>
        </p:nvSpPr>
        <p:spPr>
          <a:xfrm>
            <a:off x="1558786" y="5357653"/>
            <a:ext cx="4767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3:  Ensamblaje </a:t>
            </a:r>
            <a:r>
              <a:rPr lang="es-MX" sz="2200" b="1" dirty="0">
                <a:solidFill>
                  <a:srgbClr val="334155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del centinela</a:t>
            </a:r>
            <a:endParaRPr lang="es-MX" sz="2200" b="1" dirty="0">
              <a:solidFill>
                <a:srgbClr val="334155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CD2BC0D-24CD-42CD-B471-39659D6CCC26}"/>
              </a:ext>
            </a:extLst>
          </p:cNvPr>
          <p:cNvSpPr txBox="1"/>
          <p:nvPr/>
        </p:nvSpPr>
        <p:spPr>
          <a:xfrm>
            <a:off x="1558786" y="5784616"/>
            <a:ext cx="6116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dirty="0">
                <a:solidFill>
                  <a:srgbClr val="334155"/>
                </a:solidFill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Construir, calibrar y poner a prueba nuestro propio prototipo funcional del sistema autónomo (sensor PIR y relevador).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FEC261E-103A-44BA-A16A-EAA5D505A7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170" b="13637"/>
          <a:stretch/>
        </p:blipFill>
        <p:spPr>
          <a:xfrm>
            <a:off x="10429103" y="1"/>
            <a:ext cx="1383237" cy="69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131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B1C87-F5D4-0A85-96AC-15D28E49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D57FC1-F960-12B0-4CAA-A48F42EE98DC}"/>
              </a:ext>
            </a:extLst>
          </p:cNvPr>
          <p:cNvSpPr/>
          <p:nvPr/>
        </p:nvSpPr>
        <p:spPr>
          <a:xfrm>
            <a:off x="2925402" y="121482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479578-777A-EE8D-E30E-B8D2CFF694CA}"/>
              </a:ext>
            </a:extLst>
          </p:cNvPr>
          <p:cNvSpPr/>
          <p:nvPr/>
        </p:nvSpPr>
        <p:spPr>
          <a:xfrm>
            <a:off x="-112145" y="5148749"/>
            <a:ext cx="2361076" cy="1709251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CD0B7D-4483-6258-193F-0FD8F701473F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3D39432-FA29-F5F1-0D85-81984445B87B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932B3E1A-6CC1-18EF-8DDA-F0CA13EAB758}"/>
              </a:ext>
            </a:extLst>
          </p:cNvPr>
          <p:cNvSpPr/>
          <p:nvPr/>
        </p:nvSpPr>
        <p:spPr>
          <a:xfrm rot="-5400000">
            <a:off x="-1261528" y="102429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3D8DD08D-3AB0-5846-2CEF-6758AB374D65}"/>
              </a:ext>
            </a:extLst>
          </p:cNvPr>
          <p:cNvSpPr txBox="1"/>
          <p:nvPr/>
        </p:nvSpPr>
        <p:spPr>
          <a:xfrm>
            <a:off x="3424253" y="911238"/>
            <a:ext cx="59307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Forma de Evaluación del Curso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F444E76-E91C-CD39-A05E-3BE2CBDB2B80}"/>
              </a:ext>
            </a:extLst>
          </p:cNvPr>
          <p:cNvSpPr txBox="1"/>
          <p:nvPr/>
        </p:nvSpPr>
        <p:spPr>
          <a:xfrm>
            <a:off x="2315771" y="1624035"/>
            <a:ext cx="93760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roy" pitchFamily="2" charset="77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sz="1600" dirty="0">
                <a:effectLst/>
                <a:latin typeface="Gilroy Bold" panose="00000800000000000000" charset="0"/>
              </a:rPr>
              <a:t>Mínimo aprobatorio: </a:t>
            </a:r>
            <a:r>
              <a:rPr lang="es-MX" sz="1600" u="sng" dirty="0">
                <a:effectLst/>
                <a:latin typeface="Gilroy Bold" panose="00000800000000000000" charset="0"/>
              </a:rPr>
              <a:t>80% de la calificación total</a:t>
            </a:r>
            <a:endParaRPr lang="es-MX" sz="1600" dirty="0">
              <a:effectLst/>
              <a:latin typeface="Gilroy Bold" panose="00000800000000000000" charset="0"/>
            </a:endParaRPr>
          </a:p>
          <a:p>
            <a:endParaRPr lang="es-MX" sz="1600" dirty="0">
              <a:effectLst/>
              <a:latin typeface="Gilroy Bold" panose="00000800000000000000" charset="0"/>
            </a:endParaRPr>
          </a:p>
          <a:p>
            <a:r>
              <a:rPr lang="es-MX" sz="1600" dirty="0">
                <a:effectLst/>
                <a:latin typeface="Gilroy Bold" panose="00000800000000000000" charset="0"/>
              </a:rPr>
              <a:t>Criterios de Evaluación :</a:t>
            </a:r>
          </a:p>
          <a:p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0% | Diagnóstica (Al inicio): Cuestionario para conocer el nivel previo de los participantes. (No afecta la calificación).</a:t>
            </a:r>
          </a:p>
          <a:p>
            <a:pPr>
              <a:buClr>
                <a:schemeClr val="bg1"/>
              </a:buClr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25% | Desempeño (Durante el desarrollo): Guía de observación para evaluar la habilidad técnica y el uso seguro de las herramientas y materiales.</a:t>
            </a:r>
          </a:p>
          <a:p>
            <a:pPr>
              <a:buClr>
                <a:schemeClr val="bg1"/>
              </a:buClr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25% | Producto (Al terminar la práctica): Lista de cotejo para validar que el resultado final cumple con los estándares de calidad y funcionalidad requeridos.</a:t>
            </a:r>
          </a:p>
          <a:p>
            <a:pPr>
              <a:buClr>
                <a:schemeClr val="bg1"/>
              </a:buClr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25% | Conocimientos (Durante el desarrollo): Cuestionario de evaluación intermedia para reforzar y validar los conceptos teóricos revisados.</a:t>
            </a:r>
          </a:p>
          <a:p>
            <a:pPr>
              <a:buClr>
                <a:schemeClr val="bg1"/>
              </a:buClr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25% | Final (Al cierre): Cuestionario sumativo para evaluar la comprensión total de los temas y objetivos alcanzados durante el curso.</a:t>
            </a:r>
          </a:p>
        </p:txBody>
      </p:sp>
    </p:spTree>
    <p:extLst>
      <p:ext uri="{BB962C8B-B14F-4D97-AF65-F5344CB8AC3E}">
        <p14:creationId xmlns:p14="http://schemas.microsoft.com/office/powerpoint/2010/main" val="366024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Reglas de Operación y Convivencia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95B7AE-A5DE-9D44-52DB-F7D19FE952B8}"/>
              </a:ext>
            </a:extLst>
          </p:cNvPr>
          <p:cNvSpPr txBox="1"/>
          <p:nvPr/>
        </p:nvSpPr>
        <p:spPr>
          <a:xfrm>
            <a:off x="1780104" y="1883659"/>
            <a:ext cx="91394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Seguridad ante todo: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Uso obligatorio de equipo de protección (gafas y guantes) al usar herramientas térmicas o de corte.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Filosofía "Tequio":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Fomentar el trabajo colaborativo; si terminas tu ensamble, apoya a los compañeros de tu isla.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Uso sustentable: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Manejar con responsabilidad los materiales recuperados y devolver las herramientas a su lugar.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Respeto y participación: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Escuchar atentamente a quien tenga la palabra y preguntar cualquier duda técnica en el momento.</a:t>
            </a:r>
            <a:endParaRPr lang="es-MX" sz="2000" dirty="0">
              <a:latin typeface="Gilroy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73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Equipo de Seguridad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E28E5C-F654-4287-8C38-4AC2BC71E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10" y="1512425"/>
            <a:ext cx="11025717" cy="489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1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Espacio Ventilado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D7AD0A0-8B83-41AF-8B33-7C8F41415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74" y="1479430"/>
            <a:ext cx="10238452" cy="468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87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Uso del espacio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7E0463-4A13-4EFC-A26F-C962574BE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28" y="605899"/>
            <a:ext cx="10598207" cy="591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Contrato de Aprendizaje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95B7AE-A5DE-9D44-52DB-F7D19FE952B8}"/>
              </a:ext>
            </a:extLst>
          </p:cNvPr>
          <p:cNvSpPr txBox="1"/>
          <p:nvPr/>
        </p:nvSpPr>
        <p:spPr>
          <a:xfrm>
            <a:off x="1581149" y="1883659"/>
            <a:ext cx="913337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Grupo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compromete a: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Mantener una participación activa y presencia plena durante las explicaciones.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Respetar estrictamente las normas de seguridad al manipular herramientas.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Poner todo el esfuerzo y actitud colaborativa para construir una bomba de agua.</a:t>
            </a:r>
          </a:p>
          <a:p>
            <a:endParaRPr lang="es-MX" sz="2000" kern="0" dirty="0">
              <a:solidFill>
                <a:srgbClr val="334155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Instructor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compromete a: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Guiar el proceso de ensamble paso a paso y con total claridad.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Resolver cualquier duda técnica con paciencia y disposición.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Garantizar un entorno de trabajo seguro, ordenado y de absoluto respeto.</a:t>
            </a:r>
          </a:p>
          <a:p>
            <a:endParaRPr lang="es-MX" sz="1600" dirty="0">
              <a:latin typeface="Gilroy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56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Diagnóstica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5337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Dudas?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279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/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2DFDC-5B81-062E-BEBD-FFFDFA250F91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9E317-1D8B-33D9-7DE8-FC8C17E7D249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8B92B760-0E44-84DB-2991-4F9D9752F2A7}"/>
              </a:ext>
            </a:extLst>
          </p:cNvPr>
          <p:cNvSpPr txBox="1"/>
          <p:nvPr/>
        </p:nvSpPr>
        <p:spPr>
          <a:xfrm>
            <a:off x="2566065" y="1247668"/>
            <a:ext cx="8565762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4400" dirty="0">
                <a:sym typeface="Poppins"/>
              </a:rPr>
              <a:t>Tema 1: </a:t>
            </a:r>
            <a:r>
              <a:rPr lang="es-ES_tradnl" sz="4400" dirty="0">
                <a:solidFill>
                  <a:srgbClr val="CC965B"/>
                </a:solidFill>
                <a:sym typeface="Poppins"/>
              </a:rPr>
              <a:t>El lenguaje del calor</a:t>
            </a:r>
            <a:endParaRPr lang="es-ES_tradnl" sz="4400" dirty="0">
              <a:solidFill>
                <a:srgbClr val="CC965B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DA3D29-F69D-4934-8C9C-E79B0F237E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3" r="35603"/>
          <a:stretch/>
        </p:blipFill>
        <p:spPr>
          <a:xfrm>
            <a:off x="5804452" y="2035292"/>
            <a:ext cx="2405983" cy="48188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es la radiación infrarroja?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universo emite calor: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Cualquier objeto físico que tenga una temperatura superior al "cero absoluto" (es decir, que no esté totalmente congelado) emite energía hacia su entorno.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Mensajes invisibles: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Esta energía viaja a través del aire mediante ondas electromagnéticas que llamamos radiación infrarroja.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En resumen: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Todo lo que tiene temperatura, brilla con una "luz" de calor, aunque no podamos verla con nuestros propios ojos</a:t>
            </a:r>
          </a:p>
        </p:txBody>
      </p:sp>
    </p:spTree>
    <p:extLst>
      <p:ext uri="{BB962C8B-B14F-4D97-AF65-F5344CB8AC3E}">
        <p14:creationId xmlns:p14="http://schemas.microsoft.com/office/powerpoint/2010/main" val="1032597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es la radiación infrarroja?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CA983D-937D-4825-9E03-D23AED7601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600"/>
          <a:stretch/>
        </p:blipFill>
        <p:spPr>
          <a:xfrm>
            <a:off x="1069174" y="2109972"/>
            <a:ext cx="10053652" cy="456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85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Rango de luz limitado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30D6F54-27CB-4DAD-BEFD-BAED2D6CF6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565"/>
          <a:stretch/>
        </p:blipFill>
        <p:spPr>
          <a:xfrm>
            <a:off x="1402902" y="2016800"/>
            <a:ext cx="9763218" cy="465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65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La luz que sentimos, pero no vemos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Más allá del color rojo: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 la naturaleza existen muchos tipos de luz. El infrarrojo se encuentra justo al lado del color rojo en el "arcoíris" (espectro electromagnético).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Nuestros sentidos: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Aunque la radiación infrarroja es completamente invisible para el ojo humano, nuestro cuerpo está diseñado para sentirla en forma de calor cuando nos acercamos a algo caliente (como el sol o una fogata).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magia del proyecto: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 este curso, le daremos a nuestra comunidad un "ojo electrónico" capaz de ver esa luz invisible</a:t>
            </a:r>
          </a:p>
        </p:txBody>
      </p:sp>
    </p:spTree>
    <p:extLst>
      <p:ext uri="{BB962C8B-B14F-4D97-AF65-F5344CB8AC3E}">
        <p14:creationId xmlns:p14="http://schemas.microsoft.com/office/powerpoint/2010/main" val="2518122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La luz que sentimos, pero no vemos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6E6652-B6BA-481E-A31E-2842A53F4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590" y="1215664"/>
            <a:ext cx="9977314" cy="556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89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Cazando "rayos calóricos"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experimento: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Hace más de 200 años, el astrónomo William Herschel usó un prisma de cristal para separar la luz del sol en los colores del arcoíris.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Midiendo colores: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Colocó termómetros en cada color para medir su temperatura, pero dejó un termómetro extra en la zona oscura, justo al lado del color rojo.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gran sorpresa: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termómetro en la zona oscura se calentó más que los demás. Así se comprobó por primera vez que el calor viaja como una forma de luz invisible</a:t>
            </a:r>
          </a:p>
        </p:txBody>
      </p:sp>
    </p:spTree>
    <p:extLst>
      <p:ext uri="{BB962C8B-B14F-4D97-AF65-F5344CB8AC3E}">
        <p14:creationId xmlns:p14="http://schemas.microsoft.com/office/powerpoint/2010/main" val="674882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Cazando "rayos calóricos"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27A322-E137-4D62-9686-DEA5BABC29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84" t="20693"/>
          <a:stretch/>
        </p:blipFill>
        <p:spPr>
          <a:xfrm>
            <a:off x="948858" y="2142209"/>
            <a:ext cx="10216890" cy="467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83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Nuestra propia firma térmica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motor interno: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cuerpo humano es una máquina térmica increíble que, gracias a nuestro metabolismo, mantiene una temperatura constante cercana a los 37 °C.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Radiadores caminantes: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Debido a este calor corporal, nuestra piel actúa como un radiador que emite energía infrarroja de forma constante hacia la habitación.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Nuestra potencia: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¡Una persona promedio emite en todo momento alrededor de 100 vatios (Watts) de energía en forma de calor hacia su entorno!</a:t>
            </a:r>
          </a:p>
        </p:txBody>
      </p:sp>
    </p:spTree>
    <p:extLst>
      <p:ext uri="{BB962C8B-B14F-4D97-AF65-F5344CB8AC3E}">
        <p14:creationId xmlns:p14="http://schemas.microsoft.com/office/powerpoint/2010/main" val="1988450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Firma térmica humana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7F5A6D-12A4-4BCC-86F6-3045B4EAD9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422"/>
          <a:stretch/>
        </p:blipFill>
        <p:spPr>
          <a:xfrm>
            <a:off x="1090444" y="2089467"/>
            <a:ext cx="9737039" cy="481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40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¿Cómo interactuamos con el infrarrojo?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Ceguera visual: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ojo humano no tiene la capacidad de ver longitudes de onda tan grandes, por lo que la radiación infrarroja nos resulta completamente invisible.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Percepción térmica: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Aunque no podemos verla, nuestra piel y nuestros sentidos están perfectamente diseñados para absorber esta energía y sentirla en forma de calor.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conexión natural: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 exactamente la misma energía reconfortante que sentimos cuando nos acercamos a una fogata o cuando la luz del sol nos calienta el rostro en una mañana fría.</a:t>
            </a:r>
          </a:p>
        </p:txBody>
      </p:sp>
    </p:spTree>
    <p:extLst>
      <p:ext uri="{BB962C8B-B14F-4D97-AF65-F5344CB8AC3E}">
        <p14:creationId xmlns:p14="http://schemas.microsoft.com/office/powerpoint/2010/main" val="3231465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¿Cómo interactuamos con el infrarrojo?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A8DAD4-7382-4478-BAB0-12C2983B2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96" y="973248"/>
            <a:ext cx="10427604" cy="581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84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significa PIR?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concepto: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Las siglas PIR significan Infrarrojo Pasivo (por sus siglas en inglés).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¿Por qué es "Pasivo"?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A diferencia de un radar o un sensor ultrasónico que "disparan" señales de sonido o luz para rebotar en los objetos, nuestro sensor no emite absolutamente ninguna energía.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 la espera: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Se le llama pasivo porque simplemente funciona como un receptor; se sienta en silencio a "escuchar" y absorber la radiación térmica que ya existe naturalmente en el ambiente</a:t>
            </a:r>
          </a:p>
        </p:txBody>
      </p:sp>
    </p:spTree>
    <p:extLst>
      <p:ext uri="{BB962C8B-B14F-4D97-AF65-F5344CB8AC3E}">
        <p14:creationId xmlns:p14="http://schemas.microsoft.com/office/powerpoint/2010/main" val="2420323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significa PIR?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14E785-BC0F-4EF9-88EA-B44D9D7ADA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172"/>
          <a:stretch/>
        </p:blipFill>
        <p:spPr>
          <a:xfrm>
            <a:off x="1362215" y="1939400"/>
            <a:ext cx="9779768" cy="473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39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Efecto Piroeléctrico 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corazón del sistema: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magia detrás del sensor es el "efecto piroeléctrico".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¿Cómo funciona?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El núcleo del sensor contiene un material cristalino especial que reacciona a los cambios térmicos. Cuando absorbe calor (radiación infrarroja), altera su equilibrio eléctrico y genera una pequeñísima carga de voltaje.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Traductor de energía: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Gracias a este material, el calor invisible de nuestro cuerpo se transforma directamente en un "pulso eléctrico" que nuestras máquinas pueden entender</a:t>
            </a: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1025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Efecto Piroeléctrico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4B6BB0-E16C-4838-B2FE-7D048A2ED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742" y="1416849"/>
            <a:ext cx="9301691" cy="518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47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Secreto de la Detección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problema del clima: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Si el núcleo piroeléctrico solo midiera calor, el sensor dispararía una falsa alarma cada vez que saliera el sol o subiera la temperatura de la habitación.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solución: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Para evitar esto, el elemento receptor está dividido en dos mitades conectadas en sentido opuesto.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Cancelación de ruido: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Si el cuarto se calienta poco a poco, ambas mitades reciben el mismo calor y la señal se cancela (se mantiene en cero). El sensor ignora los cambios de clima</a:t>
            </a: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21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Secreto de la Detección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1BAC09-F426-4D8F-A93F-D7AE38969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739" y="1338360"/>
            <a:ext cx="9567978" cy="533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181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Secreto de la Detección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628FDFC-B9D8-44B6-9ECC-FD39CE432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761" y="1523441"/>
            <a:ext cx="8910677" cy="496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22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Rompiendo el Equilibrio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contraste térmico: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El sistema detecta movimiento basándose en el contraste entre el fondo (una pared fría) y un objeto caliente cruzando.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disparo: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Cuando una persona camina frente al sensor, su calor corporal "golpea" primero una de las mitades del sensor y una fracción de segundo después, golpea la otra mitad.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Detección exitosa: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Este "choque" escalonado rompe el equilibrio de las dos mitades. El sensor registra un pico de energía positivo seguido de uno negativo, lo que el sistema decodifica con seguridad como: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¡Movimiento humano!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170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Rompiendo el Equilibrio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37AC17-2428-4DB1-AADB-C497E388E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24" y="1224829"/>
            <a:ext cx="9806609" cy="546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12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162050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Zonas de Vigilancia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Ampliando la visión: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Para detectar a una persona a varios metros de distancia, el sensor cuenta con un truco óptico que divide su campo de visión.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Una red de rayos: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El espacio frente al sensor se fragmenta en múltiples "zonas" o "dedos de detección".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recorrido: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Al caminar por la habitación, cruzamos repetidamente estas zonas (entrando a puntos ciegos y volviendo a puntos activos). Esta intermitencia constante de calor garantiza que la señal diferencial sea clara y fuerte</a:t>
            </a: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20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673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162050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Zonas de Vigilancia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ECBC7A-6CA7-4B2D-B901-53957AEB4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9081" y="1378898"/>
            <a:ext cx="9346636" cy="521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903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162050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Zonas de Vigilancia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5E2E5C-58C0-453B-B5EB-6D655AE45C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35" t="14834" r="7777"/>
          <a:stretch/>
        </p:blipFill>
        <p:spPr>
          <a:xfrm>
            <a:off x="1553753" y="1962898"/>
            <a:ext cx="8944304" cy="489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43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162050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Zonas de Vigilancia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34DE84-5DE9-431D-877D-348A2ED0B0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567"/>
          <a:stretch/>
        </p:blipFill>
        <p:spPr>
          <a:xfrm>
            <a:off x="1166283" y="2160036"/>
            <a:ext cx="10157199" cy="466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76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/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2DFDC-5B81-062E-BEBD-FFFDFA250F91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9E317-1D8B-33D9-7DE8-FC8C17E7D249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8B92B760-0E44-84DB-2991-4F9D9752F2A7}"/>
              </a:ext>
            </a:extLst>
          </p:cNvPr>
          <p:cNvSpPr txBox="1"/>
          <p:nvPr/>
        </p:nvSpPr>
        <p:spPr>
          <a:xfrm>
            <a:off x="2566064" y="1247668"/>
            <a:ext cx="881450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Tema 2: </a:t>
            </a:r>
            <a:r>
              <a:rPr lang="es-ES_tradnl" dirty="0">
                <a:solidFill>
                  <a:srgbClr val="CC965B"/>
                </a:solidFill>
                <a:sym typeface="Poppins"/>
              </a:rPr>
              <a:t>Decodificando el sexto sentido</a:t>
            </a:r>
            <a:endParaRPr lang="es-ES_tradnl" dirty="0">
              <a:solidFill>
                <a:srgbClr val="CC965B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7ED6CB5-94CF-4CBC-8D62-2A72B028D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064" y="804813"/>
            <a:ext cx="8816487" cy="662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34715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Partes del centinela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¿De qué está hecho nuestro proyecto?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Para construir un sistema autónomo, necesitamos dos piezas clave que trabajarán en equipo.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Cerebro (Módulo HC-SR501):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 el sensor infrarrojo que se encarga de vigilar, "sentir" el calor humano y tomar la decisión de actuar.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Músculo (Módulo Relevador):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 el interruptor de fuerza que recibe la orden del sensor y se encarga de dejar pasar la corriente eléctrica pesada (127V) para encender el foco o la alarma</a:t>
            </a:r>
          </a:p>
        </p:txBody>
      </p:sp>
    </p:spTree>
    <p:extLst>
      <p:ext uri="{BB962C8B-B14F-4D97-AF65-F5344CB8AC3E}">
        <p14:creationId xmlns:p14="http://schemas.microsoft.com/office/powerpoint/2010/main" val="9535479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Partes del sensor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FD7839-9594-4E2F-B944-5837C1C8E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621" y="1215664"/>
            <a:ext cx="10497101" cy="585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5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La Anatomía del Sensor PIR (HC-SR501)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33909" y="2299969"/>
            <a:ext cx="93799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¿El Lente de Fresnel (La cúpula blanca):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No es solo un plástico protector. Por dentro está tallado con múltiples "pequeños lentes" que actúan como lupas para recolectar el calor de la habitación y enfocarlo hacia el centro, ampliando su visión hasta 110 grados.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Sensor Piroeléctrico (El verdadero ojo):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Si quitamos la cúpula blanca, veremos un pequeño cilindro metálico con un cristal en el centro (modelo RE200B o LHI778).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Doble visión: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Ese cristal está dividido en dos mitades. Cuando el calor cruza de una mitad a otra, el sensor sabe que hay "movimiento" y no solo un cambio en el clima</a:t>
            </a:r>
          </a:p>
        </p:txBody>
      </p:sp>
    </p:spTree>
    <p:extLst>
      <p:ext uri="{BB962C8B-B14F-4D97-AF65-F5344CB8AC3E}">
        <p14:creationId xmlns:p14="http://schemas.microsoft.com/office/powerpoint/2010/main" val="42853643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La Anatomía del Sensor PIR (HC-SR501)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8C6CB0-AACF-45BB-B6B3-17D089EF9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926" y="2008626"/>
            <a:ext cx="9019631" cy="50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228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Procesador y sus "Nervios"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33909" y="2299969"/>
            <a:ext cx="93799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Chip BISS0001 (El procesador):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la parte trasera de la placa verde hay un chip negro con muchas "patitas". Este circuito integrado es el encargado de limpiar la débil señal de calor y convertirla en un pulso eléctrico digital claro y fuerte.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Los 3 Pines de Conexión: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un borde de la placa tenemos tres puntas de metal que son las vías de comunicación del sensor: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VCC: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Entrada de energía (recibe los 5 voltios para despertar).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GND: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tierra o polo negativo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OUT (Salida):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 el cable de señal. Cuando detecta a alguien, envía un pulso de 3.3 voltios por aquí para avisarle al relevador.</a:t>
            </a:r>
          </a:p>
        </p:txBody>
      </p:sp>
    </p:spTree>
    <p:extLst>
      <p:ext uri="{BB962C8B-B14F-4D97-AF65-F5344CB8AC3E}">
        <p14:creationId xmlns:p14="http://schemas.microsoft.com/office/powerpoint/2010/main" val="28817300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Procesador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301C80-C0C3-4CFF-9CA0-526EAF25F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81" y="954704"/>
            <a:ext cx="10537797" cy="587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167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Pines de salida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9500B5-2E60-449D-BAE2-00810E1E0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96" y="1066375"/>
            <a:ext cx="10343789" cy="57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74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Módulo Relevador (</a:t>
            </a:r>
            <a:r>
              <a:rPr lang="es-MX" sz="2800" b="1" dirty="0" err="1">
                <a:solidFill>
                  <a:srgbClr val="CC965B"/>
                </a:solidFill>
                <a:latin typeface="Gilroy Bold" panose="00000800000000000000" charset="0"/>
              </a:rPr>
              <a:t>Relay</a:t>
            </a: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)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228720" y="2402072"/>
            <a:ext cx="979699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¿Qué es físicamente? 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 una placa que contiene un cubo de plástico (generalmente azul o negro). Por dentro tiene un electroimán y un interruptor mecánico de metal.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Los Pines de Control (Bajo Voltaje)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: De un lado tiene pines (VCC, GND e IN). Aquí es donde se conectará el cable "OUT" de nuestro sensor PIR para darle la orden de activarse con 5 voltios.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Las Clemas con Tornillos (Alto Voltaje): 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Del otro lado tiene bloques de plástico con tornillos (Normalmente Abierto, Común y Normalmente Cerrado). Aquí es donde conectaremos los cables gruesos del foco o la alarma de nuestra casa (127V).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"Clic" mágico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: El relevador separa físicamente el voltaje bajo del voltaje alto. Cuando el sensor manda su señal, escucharemos un "clic": es el imán cerrando el circuito de 127V de forma totalmente segura.</a:t>
            </a:r>
          </a:p>
        </p:txBody>
      </p:sp>
    </p:spTree>
    <p:extLst>
      <p:ext uri="{BB962C8B-B14F-4D97-AF65-F5344CB8AC3E}">
        <p14:creationId xmlns:p14="http://schemas.microsoft.com/office/powerpoint/2010/main" val="39625147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Módulo Relevador (</a:t>
            </a:r>
            <a:r>
              <a:rPr lang="es-MX" sz="2800" b="1" dirty="0" err="1">
                <a:solidFill>
                  <a:srgbClr val="CC965B"/>
                </a:solidFill>
                <a:latin typeface="Gilroy Bold" panose="00000800000000000000" charset="0"/>
              </a:rPr>
              <a:t>Relay</a:t>
            </a: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)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A03D0A-4EA9-447F-9D79-E018CC902C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44" t="15985" r="5387" b="6205"/>
          <a:stretch/>
        </p:blipFill>
        <p:spPr>
          <a:xfrm>
            <a:off x="1413015" y="2109972"/>
            <a:ext cx="9433232" cy="46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591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¿Cómo lo configuramos a la medida?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Tablero de Control del Sensor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228720" y="2402072"/>
            <a:ext cx="979699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la parte trasera, el sensor tiene controles manuales que nos permiten personalizar su trabajo sin usar </a:t>
            </a:r>
            <a:r>
              <a:rPr lang="es-MX" sz="1900" kern="0" dirty="0" err="1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computadoras.</a:t>
            </a:r>
            <a:r>
              <a:rPr lang="es-MX" sz="1900" kern="0" dirty="0" err="1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Los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 dos Potenciómetros (Las perillas naranjas):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Una perilla ajusta la Sensibilidad / Distancia (para que vigile desde 3 hasta 7 metros).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otra perilla ajusta el Tiempo de Retardo (para decidir cuántos segundos o minutos se quedará encendida la luz).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Jumper (Puente de disparo): 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Un pequeño bloque amarillo o negro que une dos pines metálicos. Sirve para elegir si queremos que la luz se apague de golpe (Disparo simple - L) o si queremos que se quede encendida mientras sigamos moviéndonos bajo el sensor (Disparo repetitivo - H)</a:t>
            </a:r>
          </a:p>
        </p:txBody>
      </p:sp>
    </p:spTree>
    <p:extLst>
      <p:ext uri="{BB962C8B-B14F-4D97-AF65-F5344CB8AC3E}">
        <p14:creationId xmlns:p14="http://schemas.microsoft.com/office/powerpoint/2010/main" val="3648729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¿Cómo lo configuramos a la medida?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Tablero de Control del Sensor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6909F3-3A75-41C4-98CF-72A654C2E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790" y="1287887"/>
            <a:ext cx="9580477" cy="53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2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¿Cómo lo configuramos a la medida?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Tablero de Control del Sensor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027C52-B412-4C8F-AC52-086CC93B44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232"/>
          <a:stretch/>
        </p:blipFill>
        <p:spPr>
          <a:xfrm>
            <a:off x="258930" y="1932699"/>
            <a:ext cx="10939994" cy="504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801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F15A2F98-055D-1985-2F34-8E2D47B3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435F0131-5BBB-4118-EC0B-E18DD98DBA52}"/>
              </a:ext>
            </a:extLst>
          </p:cNvPr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Formativa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331EBC5A-17D2-152E-6AF2-B235C1AD9B72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F501B163-80FC-0A40-3BE7-6C39EC018537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2F2CDC73-C564-7F86-9DF0-9D4D609946BA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9887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B853-1A0E-3E66-2AED-6101EF21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746238-9A48-ABDE-084D-880381569443}"/>
              </a:ext>
            </a:extLst>
          </p:cNvPr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7607A2-AAA1-81C1-05FD-37F223E31F96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0E2EC1-FBAB-BFC0-4042-2267E05E1271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54006D6-A234-5CD6-4EEB-E2009CB5B401}"/>
              </a:ext>
            </a:extLst>
          </p:cNvPr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1940635-F4CB-A95D-7702-B94D60E077D4}"/>
              </a:ext>
            </a:extLst>
          </p:cNvPr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9D7CA99-0870-2372-09CE-C8F249C39969}"/>
              </a:ext>
            </a:extLst>
          </p:cNvPr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BF5AD-8B68-4566-8D3C-01ED102A9030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C56D9B-54BA-16DC-BED5-71988168867D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92491D04-2B58-F0DF-62A6-EF30B73CEB5D}"/>
              </a:ext>
            </a:extLst>
          </p:cNvPr>
          <p:cNvSpPr txBox="1"/>
          <p:nvPr/>
        </p:nvSpPr>
        <p:spPr>
          <a:xfrm>
            <a:off x="1342022" y="1160748"/>
            <a:ext cx="1166323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4400" dirty="0">
                <a:sym typeface="Poppins"/>
              </a:rPr>
              <a:t>Tema 3: </a:t>
            </a:r>
            <a:r>
              <a:rPr lang="es-ES_tradnl" sz="4400" dirty="0">
                <a:solidFill>
                  <a:srgbClr val="CC965B"/>
                </a:solidFill>
                <a:sym typeface="Poppins"/>
              </a:rPr>
              <a:t>Ensamblaje del centinela</a:t>
            </a:r>
            <a:endParaRPr lang="es-ES_tradnl" sz="4400" dirty="0">
              <a:solidFill>
                <a:srgbClr val="CC965B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04AE525-E694-4748-AFA0-BDB0BDD2C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800" y="1837856"/>
            <a:ext cx="6249419" cy="469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65924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68800-0039-E269-61C5-614D5446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DC75D1-0A44-4C16-0F6F-352C7030126A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D4A15BE-075C-2A4D-5E07-9180E159E6B8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E418674-CCCB-F64C-0DA8-4BA4BFD3561C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C0BE36-5BEE-F1E1-CE6F-AA1C5A856A39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21B2C328-0965-CE44-822B-40053535F90C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C851BD14-D3B0-C36B-228C-A7D76A79F40C}"/>
              </a:ext>
            </a:extLst>
          </p:cNvPr>
          <p:cNvSpPr txBox="1"/>
          <p:nvPr/>
        </p:nvSpPr>
        <p:spPr>
          <a:xfrm>
            <a:off x="3406721" y="3155802"/>
            <a:ext cx="92848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3.1 Preparación de componentes y materiales.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s-ES" sz="3200" b="1" dirty="0">
              <a:solidFill>
                <a:srgbClr val="CC965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82859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2478073-A5FE-8B80-D6D3-2939DC1E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517FB064-871D-8779-7074-08DE7D34E923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6C8C22-F819-798F-15AF-8C48FDBFCF55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07E6B9E-AC86-7ACA-EE3D-E590F9D01D2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01142EA-1B9F-ECE3-D05C-D40E658A56EB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92492ED-5253-8F34-A967-AA7B01992F7C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B34861AA-8F66-94C0-89AE-F52426FD7705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D3ADC10-51E8-34CB-BE6F-139F9163F48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62E25D3-F54C-81F7-44E9-327220CF7E81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5B8377D5-47E4-81A8-8D5E-87D6F2152C40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F1C846C7-56FC-2F04-2492-A0833E965CE9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779500D2-A408-D4EA-0E27-0007D4053420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FAE5B6A1-284F-34BC-3C2E-F3F3D19D2A76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A64B2CD5-F17C-9C90-A7BC-071D0269DC0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298DE87-1E86-6902-9B63-011593DDC7BA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7BBAEDB-29CB-D566-683F-4CBB6543C4EF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7FE0041-8931-15F1-82A5-5067A3D8ED18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75EE1CB-7C82-AB93-F619-8E707A24847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Modulo  HC-SR501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FE4DF1-FBE2-0FDE-2AB6-0D060C601F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15" b="23448"/>
          <a:stretch>
            <a:fillRect/>
          </a:stretch>
        </p:blipFill>
        <p:spPr>
          <a:xfrm>
            <a:off x="3215752" y="2299969"/>
            <a:ext cx="5550057" cy="393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070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Arduino Nano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F5D28A-388E-4E53-9133-49C4411A4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252" y="183545"/>
            <a:ext cx="7671181" cy="767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908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</a:t>
            </a:r>
            <a:r>
              <a:rPr lang="es-MX" sz="2800" b="1" dirty="0" err="1">
                <a:solidFill>
                  <a:srgbClr val="CC965B"/>
                </a:solidFill>
                <a:latin typeface="Gilroy Bold" panose="00000800000000000000" charset="0"/>
              </a:rPr>
              <a:t>Protoboard</a:t>
            </a: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A1588A-0756-43E2-87AC-D3FCFFD59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109185" y="819478"/>
            <a:ext cx="6535852" cy="653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842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089D2-70BF-F166-B7E9-3A5FF127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E3E866-F762-6B20-4B34-6D4D524E4960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3A4BC2-A55B-A28F-53E5-0BC0D66FFE50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85984CB-AC17-0C04-F079-5B85AA8CD380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531BC72-DAEB-6C8D-06E4-C23918B1F925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C20D848F-8442-71D6-3E88-C14C7051E50B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D59DB291-B1C8-4C39-0734-D5B18D0258FB}"/>
              </a:ext>
            </a:extLst>
          </p:cNvPr>
          <p:cNvSpPr txBox="1"/>
          <p:nvPr/>
        </p:nvSpPr>
        <p:spPr>
          <a:xfrm>
            <a:off x="3406722" y="3155802"/>
            <a:ext cx="569112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3.2 Elaboración del centinela.</a:t>
            </a:r>
          </a:p>
        </p:txBody>
      </p:sp>
    </p:spTree>
    <p:extLst>
      <p:ext uri="{BB962C8B-B14F-4D97-AF65-F5344CB8AC3E}">
        <p14:creationId xmlns:p14="http://schemas.microsoft.com/office/powerpoint/2010/main" val="27541367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Armado de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Diagrama del centinela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504ABA-5B86-4BB4-8F8E-6BCBD1D2A7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016" t="12254" r="21966" b="15594"/>
          <a:stretch/>
        </p:blipFill>
        <p:spPr>
          <a:xfrm>
            <a:off x="2463532" y="1934760"/>
            <a:ext cx="7164965" cy="468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282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Funcionamiento del Centinela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D065CA-9424-4DC8-ACA1-23D9F2128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236" y="2402072"/>
            <a:ext cx="9084816" cy="408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001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Programa de reproducción de medios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A152D4-1D65-4AF3-B053-A64149C6D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200" y="1588877"/>
            <a:ext cx="8988621" cy="490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743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Programa de reproducción de medios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439C73-2B5E-4D92-BB84-2E881948E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136" y="2298231"/>
            <a:ext cx="4599546" cy="373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728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Programa de reproducción de medios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F33B74-9C46-4918-A968-7D7A21BBF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419" y="2202707"/>
            <a:ext cx="5386748" cy="440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212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Códigos y Programas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72D7B7-FC45-4F50-91D7-A1837B63C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332" y="2295333"/>
            <a:ext cx="4180450" cy="418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792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089D2-70BF-F166-B7E9-3A5FF127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E3E866-F762-6B20-4B34-6D4D524E4960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3A4BC2-A55B-A28F-53E5-0BC0D66FFE50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85984CB-AC17-0C04-F079-5B85AA8CD380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531BC72-DAEB-6C8D-06E4-C23918B1F925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C20D848F-8442-71D6-3E88-C14C7051E50B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D59DB291-B1C8-4C39-0734-D5B18D0258FB}"/>
              </a:ext>
            </a:extLst>
          </p:cNvPr>
          <p:cNvSpPr txBox="1"/>
          <p:nvPr/>
        </p:nvSpPr>
        <p:spPr>
          <a:xfrm>
            <a:off x="3406722" y="3155802"/>
            <a:ext cx="569112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3.3 Conexión y prueba operativa.</a:t>
            </a:r>
          </a:p>
        </p:txBody>
      </p:sp>
    </p:spTree>
    <p:extLst>
      <p:ext uri="{BB962C8B-B14F-4D97-AF65-F5344CB8AC3E}">
        <p14:creationId xmlns:p14="http://schemas.microsoft.com/office/powerpoint/2010/main" val="13548402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3.3</a:t>
            </a:r>
            <a:r>
              <a:rPr lang="es-ES" sz="20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 </a:t>
            </a: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Conexión y prueba operativa.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pic>
        <p:nvPicPr>
          <p:cNvPr id="2" name="VID_20260506_132530">
            <a:hlinkClick r:id="" action="ppaction://media"/>
            <a:extLst>
              <a:ext uri="{FF2B5EF4-FFF2-40B4-BE49-F238E27FC236}">
                <a16:creationId xmlns:a16="http://schemas.microsoft.com/office/drawing/2014/main" id="{A40468FA-540D-486C-A2E0-8BCF01F96F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517237" y="1795644"/>
            <a:ext cx="7377344" cy="414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2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1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2437F-4B31-10CD-C034-CDE6F3D8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CBDD46-45B9-5666-9DF5-3B054F85A791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5DE8F40-8B2B-7AD8-F433-ACDBCE75461B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30E0A16-11AF-413D-F811-CD03BCF96FA8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4E50EAB-2F6B-9A54-EEC4-499EBE14ACCB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197DE0A8-ED61-E33C-2BD4-39F149C924C8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607B3995-8ECE-E618-58C7-841DB1DF4972}"/>
              </a:ext>
            </a:extLst>
          </p:cNvPr>
          <p:cNvSpPr txBox="1"/>
          <p:nvPr/>
        </p:nvSpPr>
        <p:spPr>
          <a:xfrm>
            <a:off x="4152446" y="3044137"/>
            <a:ext cx="569112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Otras aplicaciones</a:t>
            </a:r>
          </a:p>
        </p:txBody>
      </p:sp>
    </p:spTree>
    <p:extLst>
      <p:ext uri="{BB962C8B-B14F-4D97-AF65-F5344CB8AC3E}">
        <p14:creationId xmlns:p14="http://schemas.microsoft.com/office/powerpoint/2010/main" val="25436448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AFF957F8-EE24-86AB-192C-79956DC7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2CB61E36-9DB1-C026-A21E-CD23817F58B3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569181-7A3F-75F5-B09E-F17E94EB78F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21246C-BB8E-FA51-A214-3EE77E180C42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70124F34-1B50-83DE-BAEA-8914AB14A858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936F0EF-94C6-3C1B-19A0-12D9406E147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8E9B8334-67B5-2178-A9C8-17F0922EC121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051B17E-F5AC-0C2B-27F4-B582BC9A5BED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F1709551-AFC4-29D7-9895-2EBE83DC76C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C9969317-8444-B7C2-7819-4C55FC01FAE1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8940A6C-6C38-B783-D5E1-0EF7BF21DB5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261C5F4-DD99-5C82-57D7-B2FA174319B0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B668BBB4-12A0-BFA7-35ED-8C9301AFDDC4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Otras aplicaciones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BCFBC253-A8B3-C7A8-DFC8-79E69D339EFE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0C20D9F-FA1A-4AEA-39BA-08D8EA62978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0390721A-2920-F79C-4223-4E0F81157C3E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DE30B3A-4866-A174-6E5D-6C3E2AF8F7A5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1C33B98-2475-0B9F-2024-8FBAC48FAFA1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Interruptor con </a:t>
            </a:r>
            <a:r>
              <a:rPr lang="es-MX" sz="2800" b="1" dirty="0" err="1">
                <a:solidFill>
                  <a:srgbClr val="CC965B"/>
                </a:solidFill>
                <a:latin typeface="Gilroy Bold" panose="00000800000000000000" charset="0"/>
              </a:rPr>
              <a:t>rele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E78485-976D-F839-1953-BCE3668C6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926" y="2141628"/>
            <a:ext cx="9109172" cy="442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263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92CE8FB-A641-71BB-AAF0-8B6F08F2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44D2FD9-90D5-F5C4-F3C6-2D224488F826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DBF13B-D40B-6E53-F958-5AD6868DBBE9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C1763CB-6175-A788-3266-8D6DFD0575A3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44C3493-94C7-B210-9E20-74EB33D08A3D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F7701638-8FCE-5F08-486A-15199FDDD2F5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0994861E-0D22-E5F2-CB00-5009D9C339BB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55570C2-3568-A61B-9A05-6BCE8C9A26E1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C252EAA-1FAB-D76C-8D18-5A0241D8AE2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31C00588-B475-229E-AE5A-1F86589CCDA8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39997F7-5400-C688-1D09-39314794CD7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04F38D3A-91A0-28AA-3958-446D5E19E90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5428712F-212B-9B84-FADA-6BA276088EF3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Otras aplicaciones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E7E09CCD-1FF7-BD3B-8324-D30F193F98E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7A7F19F-CDCF-0F71-41E0-A9A48CED2216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C9FA496C-D561-44DB-FEE1-E574C1CA4F48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4BBCB27-93AB-01E9-DC40-A46831F3C677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5973503-033D-C420-8ED1-2884FC2F6C1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Armado físico interno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E6882F-A48C-C9AA-6BF3-FD3F80D1A4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726" b="17726"/>
          <a:stretch>
            <a:fillRect/>
          </a:stretch>
        </p:blipFill>
        <p:spPr>
          <a:xfrm>
            <a:off x="3412873" y="2174125"/>
            <a:ext cx="5142065" cy="44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515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92CE8FB-A641-71BB-AAF0-8B6F08F2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44D2FD9-90D5-F5C4-F3C6-2D224488F826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DBF13B-D40B-6E53-F958-5AD6868DBBE9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C1763CB-6175-A788-3266-8D6DFD0575A3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44C3493-94C7-B210-9E20-74EB33D08A3D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F7701638-8FCE-5F08-486A-15199FDDD2F5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0994861E-0D22-E5F2-CB00-5009D9C339BB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55570C2-3568-A61B-9A05-6BCE8C9A26E1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C252EAA-1FAB-D76C-8D18-5A0241D8AE2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31C00588-B475-229E-AE5A-1F86589CCDA8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39997F7-5400-C688-1D09-39314794CD7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04F38D3A-91A0-28AA-3958-446D5E19E90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5428712F-212B-9B84-FADA-6BA276088EF3}"/>
              </a:ext>
            </a:extLst>
          </p:cNvPr>
          <p:cNvSpPr txBox="1"/>
          <p:nvPr/>
        </p:nvSpPr>
        <p:spPr>
          <a:xfrm>
            <a:off x="777283" y="1239218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Otras aplicaciones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E7E09CCD-1FF7-BD3B-8324-D30F193F98E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7A7F19F-CDCF-0F71-41E0-A9A48CED2216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C9FA496C-D561-44DB-FEE1-E574C1CA4F48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4BBCB27-93AB-01E9-DC40-A46831F3C677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5973503-033D-C420-8ED1-2884FC2F6C1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Armado final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E6882F-A48C-C9AA-6BF3-FD3F80D1A4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726" b="17726"/>
          <a:stretch>
            <a:fillRect/>
          </a:stretch>
        </p:blipFill>
        <p:spPr>
          <a:xfrm>
            <a:off x="3412873" y="2174125"/>
            <a:ext cx="5142065" cy="44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750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09C2-D79E-F581-A371-B5FC70343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B4C395-37F4-0C86-B14A-B91FC36014AE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9B2EC0-A0A9-9107-F8CE-34DCA58FDE98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D0224C-946C-B0B7-303B-CD60EDAD3E73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82705EA-2E95-5920-9C83-A9B64E9E1E75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88671FF-26FD-D9A4-5A8B-D7815F1D8850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FEE265B-4F6A-2A5D-E7D2-A67F942828AF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76A67-BB26-3943-0A54-C71CFA2DDD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36DEF-1D31-B1CC-1632-320C8BB72DA3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6C93BAC7-6A4A-E3AC-6B9D-1E7EFCDEF63D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Resumen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64B69C33-DC3A-FDC1-1424-3064DF8E9920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863C7F-0830-C820-3A45-5CD5D69E02C9}"/>
              </a:ext>
            </a:extLst>
          </p:cNvPr>
          <p:cNvSpPr txBox="1"/>
          <p:nvPr/>
        </p:nvSpPr>
        <p:spPr>
          <a:xfrm>
            <a:off x="1638333" y="1657767"/>
            <a:ext cx="623797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Comprendimos cómo la energía térmica (calor corporal) se emite como radiación infrarroja y cómo estos cambios de temperatura se traducen en detección a través del principio del Infrarrojo Pasivo (PIR)</a:t>
            </a:r>
            <a:endParaRPr lang="es-MX" sz="1600" dirty="0">
              <a:solidFill>
                <a:srgbClr val="334155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6197415-8120-04A5-1A55-73B693B3EC0E}"/>
              </a:ext>
            </a:extLst>
          </p:cNvPr>
          <p:cNvSpPr txBox="1"/>
          <p:nvPr/>
        </p:nvSpPr>
        <p:spPr>
          <a:xfrm>
            <a:off x="1606875" y="1460520"/>
            <a:ext cx="51615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1:  El Lenguaje del Calor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69BD459-7EA1-AD75-C7BE-CA7094165185}"/>
              </a:ext>
            </a:extLst>
          </p:cNvPr>
          <p:cNvSpPr txBox="1"/>
          <p:nvPr/>
        </p:nvSpPr>
        <p:spPr>
          <a:xfrm>
            <a:off x="1638331" y="3106170"/>
            <a:ext cx="62379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2: Decodificando el sexto sentido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323581-52D6-7886-919D-27C572C2CC2F}"/>
              </a:ext>
            </a:extLst>
          </p:cNvPr>
          <p:cNvSpPr txBox="1"/>
          <p:nvPr/>
        </p:nvSpPr>
        <p:spPr>
          <a:xfrm>
            <a:off x="1638332" y="3286683"/>
            <a:ext cx="623797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Analizamos la arquitectura interna del sensor infrarrojo (HC-SR501) y el módulo relevador, y cómo los ajustes de calibración (sensibilidad y tiempo), la señal digital y la conmutación de energía trabajan en conjunto en nuestro ecosistema de automatización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AF9645D-A798-E02A-0717-BFE4EA30AA4A}"/>
              </a:ext>
            </a:extLst>
          </p:cNvPr>
          <p:cNvSpPr txBox="1"/>
          <p:nvPr/>
        </p:nvSpPr>
        <p:spPr>
          <a:xfrm>
            <a:off x="1606873" y="4904561"/>
            <a:ext cx="4767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3:  Ensamblaje </a:t>
            </a:r>
            <a:r>
              <a:rPr lang="es-MX" sz="2200" b="1" dirty="0">
                <a:solidFill>
                  <a:srgbClr val="334155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del centinela</a:t>
            </a:r>
            <a:endParaRPr lang="es-MX" sz="2200" b="1" dirty="0">
              <a:solidFill>
                <a:srgbClr val="334155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AE15626-94BF-556E-536D-2B4B69D82FAA}"/>
              </a:ext>
            </a:extLst>
          </p:cNvPr>
          <p:cNvSpPr txBox="1"/>
          <p:nvPr/>
        </p:nvSpPr>
        <p:spPr>
          <a:xfrm>
            <a:off x="1606873" y="5311363"/>
            <a:ext cx="62694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Aplicamos la teoría construyendo paso a paso nuestro propio sistema autónomo ('El Centinela'), dominando las técnicas de conexión electrónica, calibración manual de potenciómetros, configuración del puente de disparo y realizando la prueba operativa de detección y encendido.</a:t>
            </a:r>
            <a:endParaRPr lang="es-MX" sz="1600" dirty="0">
              <a:solidFill>
                <a:srgbClr val="334155"/>
              </a:solidFill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7D480EB-3AF4-8432-2681-684A5A45C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1728" y="-47016"/>
            <a:ext cx="1051482" cy="704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28348"/>
      </p:ext>
    </p:extLst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9FF9-8FA9-076A-E641-90B77A0D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782548-9676-7BF4-E93D-F6E55E652CB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CBF336-9CCD-B09D-2D09-55C519BF0D74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2733F2-5710-0229-5378-44F8BEF2110B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21BA36C-94CA-488D-960B-364BFC91395F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0B57E6-3CDC-EC6C-950F-0636C01F8AAD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716450B-AA71-AD80-CA69-9235A6DB1EE0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F0CC9B-DC80-A787-BE33-C96A2F5EEDCB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CE451-0AE2-4131-7202-F98395ACF082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9F27020F-CDB5-E9B7-A1C2-A4F7AFA0FDBE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y Expectativas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F36C17EB-151E-085B-4AB9-FA2EED6C0D74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CE6257B-DA6C-138F-3034-408FC9D6FD17}"/>
              </a:ext>
            </a:extLst>
          </p:cNvPr>
          <p:cNvSpPr txBox="1"/>
          <p:nvPr/>
        </p:nvSpPr>
        <p:spPr>
          <a:xfrm>
            <a:off x="2773188" y="2160663"/>
            <a:ext cx="7724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4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Volviendo a las ideas que compartimos al inicio: ¿El taller logró brindarles las herramientas, la práctica y los conocimientos que buscaban al inscribirse?</a:t>
            </a:r>
            <a:endParaRPr lang="es-MX" sz="2800" dirty="0">
              <a:solidFill>
                <a:srgbClr val="14393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D0AD0E-30E3-2985-5844-DED5334441D2}"/>
              </a:ext>
            </a:extLst>
          </p:cNvPr>
          <p:cNvSpPr txBox="1"/>
          <p:nvPr/>
        </p:nvSpPr>
        <p:spPr>
          <a:xfrm>
            <a:off x="2773188" y="3906760"/>
            <a:ext cx="7724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400" dirty="0">
                <a:solidFill>
                  <a:srgbClr val="334155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 partir de los ensambles realizados hoy: ¿Cuáles son las reflexiones finales o descubrimientos clave que nos llevamos sobre el uso de sensores infrarrojos (PIR) y módulos relevadores?</a:t>
            </a:r>
            <a:endParaRPr lang="es-MX" sz="2800" dirty="0">
              <a:solidFill>
                <a:srgbClr val="334155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576550"/>
      </p:ext>
    </p:extLst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C7BD640-4975-6C7C-4707-B0924B8F244C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D344DBF-4D4C-D7EB-4FD6-5F25DBA0887C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8ADA9B3-9729-77D0-2F16-1A5BEF31D298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E00B7A1C-790C-E03E-F01B-3D6D441310F7}"/>
              </a:ext>
            </a:extLst>
          </p:cNvPr>
          <p:cNvSpPr/>
          <p:nvPr/>
        </p:nvSpPr>
        <p:spPr>
          <a:xfrm>
            <a:off x="-133102" y="3959423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872FB28-9BA4-586C-6439-55430D25447C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FE8EBB4-80A5-DE14-28EA-8C1F3BBF84A4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0CD6FC5-B451-4186-B145-8FE8F0605F6A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E9281277-164D-85EF-75C3-73AC91A1F36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49EB7ED-A4C3-DC24-3905-5B7EA6A8FC8B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A9B0FA9-CE1C-5A36-7044-F48BE650A52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FBB862A2-19B7-29DA-D97B-46D5B36A6A6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A2E9931E-BCC6-F28A-010F-FF020D737DCA}"/>
              </a:ext>
            </a:extLst>
          </p:cNvPr>
          <p:cNvSpPr txBox="1"/>
          <p:nvPr/>
        </p:nvSpPr>
        <p:spPr>
          <a:xfrm>
            <a:off x="1704729" y="3046489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Síntesis Final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BB23-E915-AC22-C19C-7F72B6F3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5AB9DA4-A335-9B7C-5165-5A07ACE691B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061581-7568-9545-1917-C680F99BC172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99F357-3FBE-49A9-438B-6BEF0162573E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012249A-1C9C-B841-C983-DC5C0BC2200F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7EB311-8A17-3ADA-1F1D-AC2A9E3E69A9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5F0952-109F-7860-D4B4-211CD109B30C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BC21DD-8331-B3CC-301E-D6A0286D85E4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D83ED-6133-5B10-276E-DE06966003E3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DB394735-8696-86FC-B5F1-CF7885D9B3A6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/>
              <a:t>Compromisos y Continuidad</a:t>
            </a:r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E8FD68CD-AC65-B5D6-5FB1-C93BB58934F6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ACAABB-0E9C-D9F3-92D3-F72F2A3E0AA5}"/>
              </a:ext>
            </a:extLst>
          </p:cNvPr>
          <p:cNvSpPr txBox="1"/>
          <p:nvPr/>
        </p:nvSpPr>
        <p:spPr>
          <a:xfrm>
            <a:off x="2645658" y="1628823"/>
            <a:ext cx="807236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18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2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Qué sigue ahora? Los invito a seguir investigando sobre sistemas de automatización y probar diferentes módulos de sensores o relevadores de mayor capacidad para proyectos más grandes</a:t>
            </a:r>
            <a:endParaRPr lang="es-MX" sz="2200" dirty="0">
              <a:solidFill>
                <a:srgbClr val="14393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C7050E-8D89-3E42-290C-B5DB9F71FB0E}"/>
              </a:ext>
            </a:extLst>
          </p:cNvPr>
          <p:cNvSpPr txBox="1"/>
          <p:nvPr/>
        </p:nvSpPr>
        <p:spPr>
          <a:xfrm>
            <a:off x="2603321" y="3501812"/>
            <a:ext cx="81147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200" dirty="0">
                <a:solidFill>
                  <a:srgbClr val="334155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¿Cómo aplicaremos el sistema autónomo ('Centinela') que analizamos hoy? (Ej. automatizar la luz de un pasillo o patio, crear una alarma vecinal de seguridad, o encender automáticamente un ventilador/extractor)</a:t>
            </a:r>
            <a:endParaRPr lang="es-MX" sz="2200" dirty="0">
              <a:solidFill>
                <a:srgbClr val="334155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54EC77-C769-6AB7-1B85-CAE862050FE0}"/>
              </a:ext>
            </a:extLst>
          </p:cNvPr>
          <p:cNvSpPr txBox="1"/>
          <p:nvPr/>
        </p:nvSpPr>
        <p:spPr>
          <a:xfrm>
            <a:off x="2645658" y="5191703"/>
            <a:ext cx="81147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200" dirty="0">
                <a:solidFill>
                  <a:srgbClr val="46464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Acción "</a:t>
            </a:r>
            <a:r>
              <a:rPr lang="es-ES" sz="2200" dirty="0" err="1">
                <a:solidFill>
                  <a:srgbClr val="464644"/>
                </a:solidFill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Tekitl</a:t>
            </a:r>
            <a:r>
              <a:rPr lang="es-ES" sz="2200" dirty="0">
                <a:solidFill>
                  <a:srgbClr val="46464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": El conocimiento crece cuando se comparte. Nuestro último compromiso es transmitir lo aprendido hoy a un familiar o miembro de la comunidad.</a:t>
            </a:r>
            <a:endParaRPr lang="es-MX" sz="2200" dirty="0">
              <a:solidFill>
                <a:srgbClr val="46464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413255"/>
      </p:ext>
    </p:extLst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CDCD9A02-A2F9-24ED-D945-64D69BD6A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6FFF666A-AE91-1612-FC2D-60C122DF7326}"/>
              </a:ext>
            </a:extLst>
          </p:cNvPr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Final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828524E3-66BA-1391-AABD-89DD73DD151E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8268E27-D89E-9E47-6F20-C14C95077A7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B6DA418-6A94-BC15-2957-3D4BF139BB8C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4110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Encuesta de Satisfacción 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97736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4" y="0"/>
                </a:lnTo>
                <a:lnTo>
                  <a:pt x="10194794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 rot="-5400000">
            <a:off x="-1281896" y="3850123"/>
            <a:ext cx="5150005" cy="86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164"/>
              </a:lnSpc>
              <a:buClrTx/>
            </a:pPr>
            <a:r>
              <a:rPr lang="en-US" sz="5118" b="1" kern="1200">
                <a:solidFill>
                  <a:srgbClr val="F2F2F2"/>
                </a:solidFill>
                <a:latin typeface="Raleway Heavy"/>
                <a:ea typeface="Raleway Heavy"/>
                <a:cs typeface="Raleway Heavy"/>
                <a:sym typeface="Raleway Heavy"/>
              </a:rPr>
              <a:t>INDÍGENAS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-6231" y="835580"/>
            <a:ext cx="1924242" cy="1322814"/>
          </a:xfrm>
          <a:custGeom>
            <a:avLst/>
            <a:gdLst/>
            <a:ahLst/>
            <a:cxnLst/>
            <a:rect l="l" t="t" r="r" b="b"/>
            <a:pathLst>
              <a:path w="2886363" h="1984221">
                <a:moveTo>
                  <a:pt x="0" y="0"/>
                </a:moveTo>
                <a:lnTo>
                  <a:pt x="2886363" y="0"/>
                </a:lnTo>
                <a:lnTo>
                  <a:pt x="2886363" y="1984221"/>
                </a:lnTo>
                <a:lnTo>
                  <a:pt x="0" y="1984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 rot="-5400000">
            <a:off x="-2057931" y="3850123"/>
            <a:ext cx="5150005" cy="86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164"/>
              </a:lnSpc>
              <a:buClrTx/>
            </a:pPr>
            <a:r>
              <a:rPr lang="en-US" sz="5118" b="1" kern="120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PUEBLOS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85378" y="3194094"/>
            <a:ext cx="5513597" cy="820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911"/>
              </a:lnSpc>
              <a:buClrTx/>
            </a:pPr>
            <a:r>
              <a:rPr lang="en-US" sz="4936" b="1" kern="1200" dirty="0">
                <a:solidFill>
                  <a:srgbClr val="F2F2F2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Gracias</a:t>
            </a:r>
          </a:p>
        </p:txBody>
      </p:sp>
      <p:sp>
        <p:nvSpPr>
          <p:cNvPr id="8" name="TextBox 8"/>
          <p:cNvSpPr txBox="1"/>
          <p:nvPr/>
        </p:nvSpPr>
        <p:spPr>
          <a:xfrm rot="5400000">
            <a:off x="8281539" y="2185518"/>
            <a:ext cx="5249737" cy="87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303"/>
              </a:lnSpc>
              <a:buClrTx/>
            </a:pPr>
            <a:r>
              <a:rPr lang="en-US" sz="5216" b="1" kern="1200">
                <a:solidFill>
                  <a:srgbClr val="F2F2F2"/>
                </a:solidFill>
                <a:latin typeface="Raleway Heavy"/>
                <a:ea typeface="Raleway Heavy"/>
                <a:cs typeface="Raleway Heavy"/>
                <a:sym typeface="Raleway Heavy"/>
              </a:rPr>
              <a:t>INDÍGENAS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9072602" y="2185518"/>
            <a:ext cx="5249737" cy="87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303"/>
              </a:lnSpc>
              <a:buClrTx/>
            </a:pPr>
            <a:r>
              <a:rPr lang="en-US" sz="5216" b="1" kern="120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PUEBLOS</a:t>
            </a:r>
          </a:p>
        </p:txBody>
      </p:sp>
      <p:sp>
        <p:nvSpPr>
          <p:cNvPr id="10" name="Freeform 10"/>
          <p:cNvSpPr/>
          <p:nvPr/>
        </p:nvSpPr>
        <p:spPr>
          <a:xfrm rot="5400000">
            <a:off x="10289018" y="4741962"/>
            <a:ext cx="1924242" cy="1322814"/>
          </a:xfrm>
          <a:custGeom>
            <a:avLst/>
            <a:gdLst/>
            <a:ahLst/>
            <a:cxnLst/>
            <a:rect l="l" t="t" r="r" b="b"/>
            <a:pathLst>
              <a:path w="2886363" h="1984221">
                <a:moveTo>
                  <a:pt x="0" y="0"/>
                </a:moveTo>
                <a:lnTo>
                  <a:pt x="2886363" y="0"/>
                </a:lnTo>
                <a:lnTo>
                  <a:pt x="2886363" y="1984221"/>
                </a:lnTo>
                <a:lnTo>
                  <a:pt x="0" y="1984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7738</TotalTime>
  <Words>3578</Words>
  <Application>Microsoft Office PowerPoint</Application>
  <PresentationFormat>Panorámica</PresentationFormat>
  <Paragraphs>424</Paragraphs>
  <Slides>79</Slides>
  <Notes>75</Notes>
  <HiddenSlides>0</HiddenSlides>
  <MMClips>1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79</vt:i4>
      </vt:variant>
    </vt:vector>
  </HeadingPairs>
  <TitlesOfParts>
    <vt:vector size="93" baseType="lpstr">
      <vt:lpstr>Poppins</vt:lpstr>
      <vt:lpstr>Calibri</vt:lpstr>
      <vt:lpstr>Gilroy SemiBold</vt:lpstr>
      <vt:lpstr>Montserrat Heavy</vt:lpstr>
      <vt:lpstr>Raleway Heavy</vt:lpstr>
      <vt:lpstr>Gilroy</vt:lpstr>
      <vt:lpstr>Arial</vt:lpstr>
      <vt:lpstr>Gilroy Bold</vt:lpstr>
      <vt:lpstr>Gilroy-Bold</vt:lpstr>
      <vt:lpstr>Montserrat</vt:lpstr>
      <vt:lpstr>Gilroy SemiBold Italic</vt:lpstr>
      <vt:lpstr>Gilroy-Medium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STAFF-UDTI</dc:creator>
  <cp:lastModifiedBy>STAFFTI</cp:lastModifiedBy>
  <cp:revision>108</cp:revision>
  <cp:lastPrinted>2026-01-28T20:03:15Z</cp:lastPrinted>
  <dcterms:modified xsi:type="dcterms:W3CDTF">2026-05-06T19:31:11Z</dcterms:modified>
</cp:coreProperties>
</file>